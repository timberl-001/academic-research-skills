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早期方案一：三项科学问题对比矩阵</a:t>
            </a:r>
          </a:p>
          <a:p/>
          <a:p>
            <a:r>
              <a:t>【历史方案归档，不作为已验证的体系机理】</a:t>
            </a:r>
          </a:p>
          <a:p>
            <a:r>
              <a:t>图件是此前按讨论过程绘制的概念版本，未复制任何参考文献图像。</a:t>
            </a:r>
          </a:p>
          <a:p>
            <a:r>
              <a:t>旧图部分措辞较强，保存仅便于回看布局与设计演变，不构成实验结果。</a:t>
            </a:r>
          </a:p>
          <a:p>
            <a:r>
              <a:t>仅凭1.0 M LiPF6 + 0.2 M LiDFOB和DMTFA:TTE=1:1不能认定LHCE、CIP/AGG占优，</a:t>
            </a:r>
          </a:p>
          <a:p>
            <a:r>
              <a:t>不能证明阴离子进入第一溶剂化鞘、降低脱溶剂化能垒、锚定阴离子、提高迁移数或清除HF。</a:t>
            </a:r>
          </a:p>
          <a:p>
            <a:r>
              <a:t>右侧配位、传输与LiF/B–O成膜均应理解为待验证的设计假设，不能作为已测得的结论汇报。</a:t>
            </a:r>
          </a:p>
          <a:p>
            <a:r>
              <a:t>正式体系设计汇报优先使用MBA_GPE_Design_Concept_Slide.pptx，并参照其中的备注。</a:t>
            </a:r>
          </a:p>
          <a:p>
            <a:r>
              <a:t>这套早期合集的图为嵌入PNG，不能在PPT内逐个编辑图中元素；原生标题/提示可编辑。</a:t>
            </a:r>
          </a:p>
          <a:p>
            <a:r>
              <a:t>压缩包的SVG_sources目录附原始矢量源，可在支持SVG编辑的软件中修改旧图。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早期方案二：全电池与分子机制示意</a:t>
            </a:r>
          </a:p>
          <a:p/>
          <a:p>
            <a:r>
              <a:t>【历史方案归档，不作为已验证的体系机理】</a:t>
            </a:r>
          </a:p>
          <a:p>
            <a:r>
              <a:t>图件是此前按讨论过程绘制的概念版本，未复制任何参考文献图像。</a:t>
            </a:r>
          </a:p>
          <a:p>
            <a:r>
              <a:t>旧图部分措辞较强，保存仅便于回看布局与设计演变，不构成实验结果。</a:t>
            </a:r>
          </a:p>
          <a:p>
            <a:r>
              <a:t>仅凭1.0 M LiPF6 + 0.2 M LiDFOB和DMTFA:TTE=1:1不能认定LHCE、CIP/AGG占优，</a:t>
            </a:r>
          </a:p>
          <a:p>
            <a:r>
              <a:t>不能证明阴离子进入第一溶剂化鞘、降低脱溶剂化能垒、锚定阴离子、提高迁移数或清除HF。</a:t>
            </a:r>
          </a:p>
          <a:p>
            <a:r>
              <a:t>右侧配位、传输与LiF/B–O成膜均应理解为待验证的设计假设，不能作为已测得的结论汇报。</a:t>
            </a:r>
          </a:p>
          <a:p>
            <a:r>
              <a:t>正式体系设计汇报优先使用MBA_GPE_Design_Concept_Slide.pptx，并参照其中的备注。</a:t>
            </a:r>
          </a:p>
          <a:p>
            <a:r>
              <a:t>这套早期合集的图为嵌入PNG，不能在PPT内逐个编辑图中元素；原生标题/提示可编辑。</a:t>
            </a:r>
          </a:p>
          <a:p>
            <a:r>
              <a:t>压缩包的SVG_sources目录附原始矢量源，可在支持SVG编辑的软件中修改旧图。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早期方案三（左图）：凝胶化与离子传输</a:t>
            </a:r>
          </a:p>
          <a:p/>
          <a:p>
            <a:r>
              <a:t>【历史方案归档，不作为已验证的体系机理】</a:t>
            </a:r>
          </a:p>
          <a:p>
            <a:r>
              <a:t>图件是此前按讨论过程绘制的概念版本，未复制任何参考文献图像。</a:t>
            </a:r>
          </a:p>
          <a:p>
            <a:r>
              <a:t>旧图部分措辞较强，保存仅便于回看布局与设计演变，不构成实验结果。</a:t>
            </a:r>
          </a:p>
          <a:p>
            <a:r>
              <a:t>仅凭1.0 M LiPF6 + 0.2 M LiDFOB和DMTFA:TTE=1:1不能认定LHCE、CIP/AGG占优，</a:t>
            </a:r>
          </a:p>
          <a:p>
            <a:r>
              <a:t>不能证明阴离子进入第一溶剂化鞘、降低脱溶剂化能垒、锚定阴离子、提高迁移数或清除HF。</a:t>
            </a:r>
          </a:p>
          <a:p>
            <a:r>
              <a:t>右侧配位、传输与LiF/B–O成膜均应理解为待验证的设计假设，不能作为已测得的结论汇报。</a:t>
            </a:r>
          </a:p>
          <a:p>
            <a:r>
              <a:t>正式体系设计汇报优先使用MBA_GPE_Design_Concept_Slide.pptx，并参照其中的备注。</a:t>
            </a:r>
          </a:p>
          <a:p>
            <a:r>
              <a:t>这套早期合集的图为嵌入PNG，不能在PPT内逐个编辑图中元素；原生标题/提示可编辑。</a:t>
            </a:r>
          </a:p>
          <a:p>
            <a:r>
              <a:t>压缩包的SVG_sources目录附原始矢量源，可在支持SVG编辑的软件中修改旧图。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早期方案三（右图）：脱溶剂化与电极界面</a:t>
            </a:r>
          </a:p>
          <a:p/>
          <a:p>
            <a:r>
              <a:t>【历史方案归档，不作为已验证的体系机理】</a:t>
            </a:r>
          </a:p>
          <a:p>
            <a:r>
              <a:t>图件是此前按讨论过程绘制的概念版本，未复制任何参考文献图像。</a:t>
            </a:r>
          </a:p>
          <a:p>
            <a:r>
              <a:t>旧图部分措辞较强，保存仅便于回看布局与设计演变，不构成实验结果。</a:t>
            </a:r>
          </a:p>
          <a:p>
            <a:r>
              <a:t>仅凭1.0 M LiPF6 + 0.2 M LiDFOB和DMTFA:TTE=1:1不能认定LHCE、CIP/AGG占优，</a:t>
            </a:r>
          </a:p>
          <a:p>
            <a:r>
              <a:t>不能证明阴离子进入第一溶剂化鞘、降低脱溶剂化能垒、锚定阴离子、提高迁移数或清除HF。</a:t>
            </a:r>
          </a:p>
          <a:p>
            <a:r>
              <a:t>右侧配位、传输与LiF/B–O成膜均应理解为待验证的设计假设，不能作为已测得的结论汇报。</a:t>
            </a:r>
          </a:p>
          <a:p>
            <a:r>
              <a:t>正式体系设计汇报优先使用MBA_GPE_Design_Concept_Slide.pptx，并参照其中的备注。</a:t>
            </a:r>
          </a:p>
          <a:p>
            <a:r>
              <a:t>这套早期合集的图为嵌入PNG，不能在PPT内逐个编辑图中元素；原生标题/提示可编辑。</a:t>
            </a:r>
          </a:p>
          <a:p>
            <a:r>
              <a:t>压缩包的SVG_sources目录附原始矢量源，可在支持SVG编辑的软件中修改旧图。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早期方案四：双图布局（包含本体系）</a:t>
            </a:r>
          </a:p>
          <a:p/>
          <a:p>
            <a:r>
              <a:t>【历史方案归档，不作为已验证的体系机理】</a:t>
            </a:r>
          </a:p>
          <a:p>
            <a:r>
              <a:t>图件是此前按讨论过程绘制的概念版本，未复制任何参考文献图像。</a:t>
            </a:r>
          </a:p>
          <a:p>
            <a:r>
              <a:t>旧图部分措辞较强，保存仅便于回看布局与设计演变，不构成实验结果。</a:t>
            </a:r>
          </a:p>
          <a:p>
            <a:r>
              <a:t>仅凭1.0 M LiPF6 + 0.2 M LiDFOB和DMTFA:TTE=1:1不能认定LHCE、CIP/AGG占优，</a:t>
            </a:r>
          </a:p>
          <a:p>
            <a:r>
              <a:t>不能证明阴离子进入第一溶剂化鞘、降低脱溶剂化能垒、锚定阴离子、提高迁移数或清除HF。</a:t>
            </a:r>
          </a:p>
          <a:p>
            <a:r>
              <a:t>右侧配位、传输与LiF/B–O成膜均应理解为待验证的设计假设，不能作为已测得的结论汇报。</a:t>
            </a:r>
          </a:p>
          <a:p>
            <a:r>
              <a:t>正式体系设计汇报优先使用MBA_GPE_Design_Concept_Slide.pptx，并参照其中的备注。</a:t>
            </a:r>
          </a:p>
          <a:p>
            <a:r>
              <a:t>这套早期合集的图为嵌入PNG，不能在PPT内逐个编辑图中元素；原生标题/提示可编辑。</a:t>
            </a:r>
          </a:p>
          <a:p>
            <a:r>
              <a:t>压缩包的SVG_sources目录附原始矢量源，可在支持SVG编辑的软件中修改旧图。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页眉底色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可编辑标题"/>
          <p:cNvSpPr txBox="1"/>
          <p:nvPr/>
        </p:nvSpPr>
        <p:spPr>
          <a:xfrm>
            <a:off x="256032" y="100584"/>
            <a:ext cx="116128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01  早期方案一：三项科学问题对比矩阵</a:t>
            </a:r>
          </a:p>
        </p:txBody>
      </p:sp>
      <p:pic>
        <p:nvPicPr>
          <p:cNvPr id="4" name="历史图件PNG（矢量源见SVG_sources/MBA_GPE_Scientific_Questions_Comparison.svg）" descr="MBA_GPE_Scientific_Questi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43" y="722376"/>
            <a:ext cx="9786112" cy="5504688"/>
          </a:xfrm>
          <a:prstGeom prst="rect">
            <a:avLst/>
          </a:prstGeom>
        </p:spPr>
      </p:pic>
      <p:sp>
        <p:nvSpPr>
          <p:cNvPr id="5" name="可编辑历史草稿说明"/>
          <p:cNvSpPr txBox="1"/>
          <p:nvPr/>
        </p:nvSpPr>
        <p:spPr>
          <a:xfrm>
            <a:off x="274320" y="6409944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D5A48"/>
                </a:solidFill>
                <a:latin typeface="Microsoft YaHei"/>
              </a:rPr>
              <a:t>早期概念草稿，仅供回看；配位、动力学与成膜机理均需验证，请以最新设计页的“设计预期”表述为准。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页眉底色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可编辑标题"/>
          <p:cNvSpPr txBox="1"/>
          <p:nvPr/>
        </p:nvSpPr>
        <p:spPr>
          <a:xfrm>
            <a:off x="256032" y="100584"/>
            <a:ext cx="116128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02  早期方案二：全电池与分子机制示意</a:t>
            </a:r>
          </a:p>
        </p:txBody>
      </p:sp>
      <p:pic>
        <p:nvPicPr>
          <p:cNvPr id="4" name="历史图件PNG（矢量源见SVG_sources/MBA_GPE_FullCell_Molecular_Mechanism.svg）" descr="MBA_GPE_FullCell_Molecular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43" y="722376"/>
            <a:ext cx="9786112" cy="5504688"/>
          </a:xfrm>
          <a:prstGeom prst="rect">
            <a:avLst/>
          </a:prstGeom>
        </p:spPr>
      </p:pic>
      <p:sp>
        <p:nvSpPr>
          <p:cNvPr id="5" name="可编辑历史草稿说明"/>
          <p:cNvSpPr txBox="1"/>
          <p:nvPr/>
        </p:nvSpPr>
        <p:spPr>
          <a:xfrm>
            <a:off x="274320" y="6409944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D5A48"/>
                </a:solidFill>
                <a:latin typeface="Microsoft YaHei"/>
              </a:rPr>
              <a:t>早期概念草稿，仅供回看；配位、动力学与成膜机理均需验证，请以最新设计页的“设计预期”表述为准。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页眉底色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可编辑标题"/>
          <p:cNvSpPr txBox="1"/>
          <p:nvPr/>
        </p:nvSpPr>
        <p:spPr>
          <a:xfrm>
            <a:off x="256032" y="100584"/>
            <a:ext cx="116128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03  早期方案三（左图）：凝胶化与离子传输</a:t>
            </a:r>
          </a:p>
        </p:txBody>
      </p:sp>
      <p:pic>
        <p:nvPicPr>
          <p:cNvPr id="4" name="历史图件PNG（矢量源见SVG_sources/Fig1_Why_Conductivity_Drops_After_Gelation.svg）" descr="Fig1_Why_Conductivity_Drops_After_G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79" y="722376"/>
            <a:ext cx="7863840" cy="5504688"/>
          </a:xfrm>
          <a:prstGeom prst="rect">
            <a:avLst/>
          </a:prstGeom>
        </p:spPr>
      </p:pic>
      <p:sp>
        <p:nvSpPr>
          <p:cNvPr id="5" name="可编辑历史草稿说明"/>
          <p:cNvSpPr txBox="1"/>
          <p:nvPr/>
        </p:nvSpPr>
        <p:spPr>
          <a:xfrm>
            <a:off x="274320" y="6409944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D5A48"/>
                </a:solidFill>
                <a:latin typeface="Microsoft YaHei"/>
              </a:rPr>
              <a:t>早期概念草稿，仅供回看；配位、动力学与成膜机理均需验证，请以最新设计页的“设计预期”表述为准。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页眉底色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可编辑标题"/>
          <p:cNvSpPr txBox="1"/>
          <p:nvPr/>
        </p:nvSpPr>
        <p:spPr>
          <a:xfrm>
            <a:off x="256032" y="100584"/>
            <a:ext cx="116128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04  早期方案三（右图）：脱溶剂化与电极界面</a:t>
            </a:r>
          </a:p>
        </p:txBody>
      </p:sp>
      <p:pic>
        <p:nvPicPr>
          <p:cNvPr id="4" name="历史图件PNG（矢量源见SVG_sources/Fig2_Interface_Desolvation_and_SEI_Issue.svg）" descr="Fig2_Interface_Desolvation_and_SEI_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79" y="722376"/>
            <a:ext cx="7863840" cy="5504688"/>
          </a:xfrm>
          <a:prstGeom prst="rect">
            <a:avLst/>
          </a:prstGeom>
        </p:spPr>
      </p:pic>
      <p:sp>
        <p:nvSpPr>
          <p:cNvPr id="5" name="可编辑历史草稿说明"/>
          <p:cNvSpPr txBox="1"/>
          <p:nvPr/>
        </p:nvSpPr>
        <p:spPr>
          <a:xfrm>
            <a:off x="274320" y="6409944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D5A48"/>
                </a:solidFill>
                <a:latin typeface="Microsoft YaHei"/>
              </a:rPr>
              <a:t>早期概念草稿，仅供回看；配位、动力学与成膜机理均需验证，请以最新设计页的“设计预期”表述为准。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页眉底色"/>
          <p:cNvSpPr/>
          <p:nvPr/>
        </p:nvSpPr>
        <p:spPr>
          <a:xfrm>
            <a:off x="0" y="0"/>
            <a:ext cx="12191999" cy="56692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可编辑标题"/>
          <p:cNvSpPr txBox="1"/>
          <p:nvPr/>
        </p:nvSpPr>
        <p:spPr>
          <a:xfrm>
            <a:off x="256032" y="100584"/>
            <a:ext cx="116128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05  早期方案四：双图布局（包含本体系）</a:t>
            </a:r>
          </a:p>
        </p:txBody>
      </p:sp>
      <p:pic>
        <p:nvPicPr>
          <p:cNvPr id="4" name="历史图件PNG（矢量源见SVG_sources/MBA_GPE_Two_Pictures_PPT_Slide.svg）" descr="MBA_GPE_Two_Pictures_PP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43" y="722376"/>
            <a:ext cx="9786112" cy="5504688"/>
          </a:xfrm>
          <a:prstGeom prst="rect">
            <a:avLst/>
          </a:prstGeom>
        </p:spPr>
      </p:pic>
      <p:sp>
        <p:nvSpPr>
          <p:cNvPr id="5" name="可编辑历史草稿说明"/>
          <p:cNvSpPr txBox="1"/>
          <p:nvPr/>
        </p:nvSpPr>
        <p:spPr>
          <a:xfrm>
            <a:off x="274320" y="6409944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D5A48"/>
                </a:solidFill>
                <a:latin typeface="Microsoft YaHei"/>
              </a:rPr>
              <a:t>早期概念草稿，仅供回看；配位、动力学与成膜机理均需验证，请以最新设计页的“设计预期”表述为准。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MBA凝胶课题：早期示意图方案归档</dc:title>
  <dc:subject>Historical conceptual drafts, not experimentally verified mechanisms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