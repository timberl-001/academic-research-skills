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【单页：传统凝胶电解质的两大共性挑战】</a:t>
            </a:r>
          </a:p>
          <a:p>
            <a:r>
              <a:t>本页只介绍传统体系的常见宏观问题，不展示本工作配方或具体设计方案。</a:t>
            </a:r>
          </a:p>
          <a:p/>
          <a:p>
            <a:r>
              <a:t>【约一分钟汇报讲稿】</a:t>
            </a:r>
          </a:p>
          <a:p>
            <a:r>
              <a:t>这一页先总结凝胶电解质可能面临的两类挑战。</a:t>
            </a:r>
          </a:p>
          <a:p>
            <a:r>
              <a:t>第一是体相离子传输。液态电解液具有连续液相；引入聚合物网络后，网络限域、局部配位和链段松弛可能改变离子的有效迁移路径。若骨架团聚或网络与溶剂相容不足，还可能出现局部通道不连续。因此需要关注保液、网络稳定性与高效传输之间的平衡，而不是只追求更高的交联度。</a:t>
            </a:r>
          </a:p>
          <a:p>
            <a:r>
              <a:t>第二是电极界面。局部接触不充分、界面膜不均以及反复破裂和重构，可能引起局部离子通量不均、持续副反应、极化及阻抗增长。</a:t>
            </a:r>
          </a:p>
          <a:p>
            <a:r>
              <a:t>由此提出下一页的设计目标：怎样在形成稳定骨架的同时，维持高效离子传输和长期稳定的电极界面？</a:t>
            </a:r>
          </a:p>
          <a:p/>
          <a:p>
            <a:r>
              <a:t>【科学表述边界】</a:t>
            </a:r>
          </a:p>
          <a:p>
            <a:r>
              <a:t>1. 共性挑战是常见问题类别，不表示每一种传统凝胶都存在图中所有机制。离子电导率不必然下降；锂离子迁移数也不必然下降，两者不能混为同一结论。</a:t>
            </a:r>
          </a:p>
          <a:p>
            <a:r>
              <a:t>2. 网络图、液相路径和溶剂符号均为定性示意，不代表实际孔径、曲折度、配位数或溶剂化结构。</a:t>
            </a:r>
          </a:p>
          <a:p>
            <a:r>
              <a:t>3. 极性位点表示候选局部相互作用，不指定所有聚合物都含同一官能团，也不意味着一切聚合物配位都阻碍迁移。</a:t>
            </a:r>
          </a:p>
          <a:p>
            <a:r>
              <a:t>4. 界面图使用通用正极/负极；没有指定锂金属或某种正极材料，因此不把枝晶当作所有电极必然发生的现象。</a:t>
            </a:r>
          </a:p>
          <a:p>
            <a:r>
              <a:t>5. 凝胶含有液相，界面不能简单一概称为固–固接触。原位成胶或合适的配方也可能改善接触与润湿。</a:t>
            </a:r>
          </a:p>
          <a:p>
            <a:r>
              <a:t>6. 界面膜色块没有指定具体有机/无机组分、组成比例、膜厚或能垒，不是显微照片、计算结果或化学组分证据。</a:t>
            </a:r>
          </a:p>
          <a:p/>
          <a:p>
            <a:r>
              <a:t>【逐个编辑方法】</a:t>
            </a:r>
          </a:p>
          <a:p>
            <a:r>
              <a:t>该文件仅一页16:9；标题、文字、骨架、节点、溶剂符号、离子、虚线、箭头、电极和膜块都是PowerPoint原生对象，没有嵌入图片。</a:t>
            </a:r>
          </a:p>
          <a:p>
            <a:r>
              <a:t>在“开始 → 选择 → 选择窗格”中按“问题一-”“问题二-”“页面-”“过渡-”等唯一对象名定位。文字可双击编辑；骨架等自由曲线可右键“编辑顶点”；颜色、线宽和位置均可修改。</a:t>
            </a:r>
          </a:p>
          <a:p>
            <a:r>
              <a:t>PNG仅作高清预览；SVG是额外的矢量源，并未作为图片嵌入PPT。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页面-背景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页面-标题强调线"/>
          <p:cNvSpPr/>
          <p:nvPr/>
        </p:nvSpPr>
        <p:spPr>
          <a:xfrm>
            <a:off x="304800" y="260350"/>
            <a:ext cx="44450" cy="622300"/>
          </a:xfrm>
          <a:prstGeom prst="roundRect">
            <a:avLst>
              <a:gd name="adj" fmla="val 42857"/>
            </a:avLst>
          </a:prstGeom>
          <a:solidFill>
            <a:srgbClr val="2B6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页面-英文页眉"/>
          <p:cNvSpPr txBox="1"/>
          <p:nvPr/>
        </p:nvSpPr>
        <p:spPr>
          <a:xfrm>
            <a:off x="476250" y="257175"/>
            <a:ext cx="1704975" cy="173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2B6FA9"/>
                </a:solidFill>
                <a:latin typeface="Arial"/>
              </a:rPr>
              <a:t>SCIENTIFIC QUESTIONS</a:t>
            </a:r>
          </a:p>
        </p:txBody>
      </p:sp>
      <p:sp>
        <p:nvSpPr>
          <p:cNvPr id="5" name="页面-主标题"/>
          <p:cNvSpPr txBox="1"/>
          <p:nvPr/>
        </p:nvSpPr>
        <p:spPr>
          <a:xfrm>
            <a:off x="476250" y="462756"/>
            <a:ext cx="6038850" cy="3914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>
                <a:solidFill>
                  <a:srgbClr val="172B46"/>
                </a:solidFill>
                <a:latin typeface="Microsoft YaHei"/>
                <a:ea typeface="Microsoft YaHei"/>
              </a:rPr>
              <a:t>关键科学问题：传统凝胶电解质的两大共性挑战</a:t>
            </a:r>
          </a:p>
        </p:txBody>
      </p:sp>
      <p:sp>
        <p:nvSpPr>
          <p:cNvPr id="6" name="页面-副标题"/>
          <p:cNvSpPr txBox="1"/>
          <p:nvPr/>
        </p:nvSpPr>
        <p:spPr>
          <a:xfrm>
            <a:off x="476250" y="859472"/>
            <a:ext cx="3670300" cy="2261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300">
                <a:solidFill>
                  <a:srgbClr val="64768A"/>
                </a:solidFill>
                <a:latin typeface="Microsoft YaHei"/>
                <a:ea typeface="Microsoft YaHei"/>
              </a:rPr>
              <a:t>仅讨论传统凝胶的常见瓶颈：体相传输与电极界面</a:t>
            </a:r>
          </a:p>
        </p:txBody>
      </p:sp>
      <p:sp>
        <p:nvSpPr>
          <p:cNvPr id="7" name="问题一-面板外框"/>
          <p:cNvSpPr/>
          <p:nvPr/>
        </p:nvSpPr>
        <p:spPr>
          <a:xfrm>
            <a:off x="304800" y="1219200"/>
            <a:ext cx="5638800" cy="45974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1430" cap="rnd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问题一-标题底色"/>
          <p:cNvSpPr/>
          <p:nvPr/>
        </p:nvSpPr>
        <p:spPr>
          <a:xfrm>
            <a:off x="304800" y="1219200"/>
            <a:ext cx="5638800" cy="508000"/>
          </a:xfrm>
          <a:prstGeom prst="roundRect">
            <a:avLst>
              <a:gd name="adj" fmla="val 27500"/>
            </a:avLst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问题一-标题底色平底"/>
          <p:cNvSpPr/>
          <p:nvPr/>
        </p:nvSpPr>
        <p:spPr>
          <a:xfrm>
            <a:off x="304800" y="1498600"/>
            <a:ext cx="5638800" cy="228600"/>
          </a:xfrm>
          <a:prstGeom prst="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问题一-编号圆"/>
          <p:cNvSpPr/>
          <p:nvPr/>
        </p:nvSpPr>
        <p:spPr>
          <a:xfrm>
            <a:off x="431800" y="1327150"/>
            <a:ext cx="292100" cy="292100"/>
          </a:xfrm>
          <a:prstGeom prst="ellipse">
            <a:avLst/>
          </a:prstGeom>
          <a:solidFill>
            <a:srgbClr val="2B6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问题一-编号文字"/>
          <p:cNvSpPr txBox="1"/>
          <p:nvPr/>
        </p:nvSpPr>
        <p:spPr>
          <a:xfrm>
            <a:off x="479425" y="1387316"/>
            <a:ext cx="222250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问题一-问题标题"/>
          <p:cNvSpPr txBox="1"/>
          <p:nvPr/>
        </p:nvSpPr>
        <p:spPr>
          <a:xfrm>
            <a:off x="819150" y="1334452"/>
            <a:ext cx="1981200" cy="2957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2B6FA9"/>
                </a:solidFill>
                <a:latin typeface="Microsoft YaHei"/>
                <a:ea typeface="Microsoft YaHei"/>
              </a:rPr>
              <a:t>体相：离子传输受限</a:t>
            </a:r>
          </a:p>
        </p:txBody>
      </p:sp>
      <p:sp>
        <p:nvSpPr>
          <p:cNvPr id="13" name="问题一-核心问句"/>
          <p:cNvSpPr txBox="1"/>
          <p:nvPr/>
        </p:nvSpPr>
        <p:spPr>
          <a:xfrm>
            <a:off x="488950" y="1811655"/>
            <a:ext cx="3594100" cy="2435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172B46"/>
                </a:solidFill>
                <a:latin typeface="Microsoft YaHei"/>
                <a:ea typeface="Microsoft YaHei"/>
              </a:rPr>
              <a:t>为什么引入聚合物网络后，电导率可能下降？</a:t>
            </a:r>
          </a:p>
        </p:txBody>
      </p:sp>
      <p:sp>
        <p:nvSpPr>
          <p:cNvPr id="14" name="问题二-面板外框"/>
          <p:cNvSpPr/>
          <p:nvPr/>
        </p:nvSpPr>
        <p:spPr>
          <a:xfrm>
            <a:off x="6248399" y="1219200"/>
            <a:ext cx="5638800" cy="45974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1430" cap="rnd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问题二-标题底色"/>
          <p:cNvSpPr/>
          <p:nvPr/>
        </p:nvSpPr>
        <p:spPr>
          <a:xfrm>
            <a:off x="6248399" y="1219200"/>
            <a:ext cx="5638800" cy="508000"/>
          </a:xfrm>
          <a:prstGeom prst="roundRect">
            <a:avLst>
              <a:gd name="adj" fmla="val 27500"/>
            </a:avLst>
          </a:prstGeom>
          <a:solidFill>
            <a:srgbClr val="FC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问题二-标题底色平底"/>
          <p:cNvSpPr/>
          <p:nvPr/>
        </p:nvSpPr>
        <p:spPr>
          <a:xfrm>
            <a:off x="6248399" y="1498600"/>
            <a:ext cx="5638800" cy="228600"/>
          </a:xfrm>
          <a:prstGeom prst="rect">
            <a:avLst/>
          </a:prstGeom>
          <a:solidFill>
            <a:srgbClr val="FC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问题二-编号圆"/>
          <p:cNvSpPr/>
          <p:nvPr/>
        </p:nvSpPr>
        <p:spPr>
          <a:xfrm>
            <a:off x="6375399" y="1327150"/>
            <a:ext cx="292100" cy="292100"/>
          </a:xfrm>
          <a:prstGeom prst="ellipse">
            <a:avLst/>
          </a:prstGeom>
          <a:solidFill>
            <a:srgbClr val="BE5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问题二-编号文字"/>
          <p:cNvSpPr txBox="1"/>
          <p:nvPr/>
        </p:nvSpPr>
        <p:spPr>
          <a:xfrm>
            <a:off x="6423024" y="1387316"/>
            <a:ext cx="222250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9" name="问题二-问题标题"/>
          <p:cNvSpPr txBox="1"/>
          <p:nvPr/>
        </p:nvSpPr>
        <p:spPr>
          <a:xfrm>
            <a:off x="6762749" y="1334452"/>
            <a:ext cx="2197100" cy="2957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BE5D50"/>
                </a:solidFill>
                <a:latin typeface="Microsoft YaHei"/>
                <a:ea typeface="Microsoft YaHei"/>
              </a:rPr>
              <a:t>界面：接触与成膜失稳</a:t>
            </a:r>
          </a:p>
        </p:txBody>
      </p:sp>
      <p:sp>
        <p:nvSpPr>
          <p:cNvPr id="20" name="问题二-核心问句"/>
          <p:cNvSpPr txBox="1"/>
          <p:nvPr/>
        </p:nvSpPr>
        <p:spPr>
          <a:xfrm>
            <a:off x="6432549" y="1811655"/>
            <a:ext cx="3594100" cy="2435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172B46"/>
                </a:solidFill>
                <a:latin typeface="Microsoft YaHei"/>
                <a:ea typeface="Microsoft YaHei"/>
              </a:rPr>
              <a:t>为什么接触与成膜不均会导致界面阻抗增长？</a:t>
            </a:r>
          </a:p>
        </p:txBody>
      </p:sp>
      <p:sp>
        <p:nvSpPr>
          <p:cNvPr id="21" name="问题一-液态参照外框"/>
          <p:cNvSpPr/>
          <p:nvPr/>
        </p:nvSpPr>
        <p:spPr>
          <a:xfrm>
            <a:off x="495300" y="2235200"/>
            <a:ext cx="1193800" cy="2317750"/>
          </a:xfrm>
          <a:prstGeom prst="roundRect">
            <a:avLst>
              <a:gd name="adj" fmla="val 6382"/>
            </a:avLst>
          </a:prstGeom>
          <a:solidFill>
            <a:srgbClr val="F0F9FD"/>
          </a:solidFill>
          <a:ln w="9525" cap="rnd">
            <a:solidFill>
              <a:srgbClr val="AA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问题一-液态标题底色"/>
          <p:cNvSpPr/>
          <p:nvPr/>
        </p:nvSpPr>
        <p:spPr>
          <a:xfrm>
            <a:off x="495300" y="2235200"/>
            <a:ext cx="1193800" cy="336550"/>
          </a:xfrm>
          <a:prstGeom prst="roundRect">
            <a:avLst>
              <a:gd name="adj" fmla="val 22641"/>
            </a:avLst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问题一-液态标题底色平底"/>
          <p:cNvSpPr/>
          <p:nvPr/>
        </p:nvSpPr>
        <p:spPr>
          <a:xfrm>
            <a:off x="495300" y="2406650"/>
            <a:ext cx="1193800" cy="165100"/>
          </a:xfrm>
          <a:prstGeom prst="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问题一-液态标题"/>
          <p:cNvSpPr txBox="1"/>
          <p:nvPr/>
        </p:nvSpPr>
        <p:spPr>
          <a:xfrm>
            <a:off x="688975" y="2307431"/>
            <a:ext cx="831850" cy="217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250">
                <a:solidFill>
                  <a:srgbClr val="225A8C"/>
                </a:solidFill>
                <a:latin typeface="Microsoft YaHei"/>
                <a:ea typeface="Microsoft YaHei"/>
              </a:rPr>
              <a:t>液态电解液</a:t>
            </a:r>
          </a:p>
        </p:txBody>
      </p:sp>
      <p:sp>
        <p:nvSpPr>
          <p:cNvPr id="25" name="问题一-液态-连续液相通道1"/>
          <p:cNvSpPr/>
          <p:nvPr/>
        </p:nvSpPr>
        <p:spPr>
          <a:xfrm>
            <a:off x="736600" y="2667000"/>
            <a:ext cx="165100" cy="1536700"/>
          </a:xfrm>
          <a:prstGeom prst="roundRect">
            <a:avLst>
              <a:gd name="adj" fmla="val 50000"/>
            </a:avLst>
          </a:prstGeom>
          <a:solidFill>
            <a:srgbClr val="D9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问题一-液态-迁移箭头1"/>
          <p:cNvSpPr/>
          <p:nvPr/>
        </p:nvSpPr>
        <p:spPr>
          <a:xfrm>
            <a:off x="819150" y="2743200"/>
            <a:ext cx="0" cy="1384300"/>
          </a:xfrm>
          <a:custGeom>
            <a:avLst/>
            <a:gdLst/>
            <a:ahLst/>
            <a:cxnLst/>
            <a:rect l="l" t="t" r="r" b="b"/>
            <a:pathLst>
              <a:path w="0" h="218">
                <a:moveTo>
                  <a:pt x="0" y="218"/>
                </a:moveTo>
                <a:lnTo>
                  <a:pt x="0" y="0"/>
                </a:lnTo>
              </a:path>
            </a:pathLst>
          </a:custGeom>
          <a:noFill/>
          <a:ln w="27305" cap="rnd">
            <a:solidFill>
              <a:srgbClr val="2B6FA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问题一-液态-迁移箭头1-箭头"/>
          <p:cNvSpPr/>
          <p:nvPr/>
        </p:nvSpPr>
        <p:spPr>
          <a:xfrm>
            <a:off x="781050" y="2743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0"/>
                </a:moveTo>
                <a:lnTo>
                  <a:pt x="12" y="12"/>
                </a:lnTo>
                <a:lnTo>
                  <a:pt x="0" y="12"/>
                </a:lnTo>
                <a:close/>
              </a:path>
            </a:pathLst>
          </a:custGeom>
          <a:solidFill>
            <a:srgbClr val="2B6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问题一-液态-连续液相通道2"/>
          <p:cNvSpPr/>
          <p:nvPr/>
        </p:nvSpPr>
        <p:spPr>
          <a:xfrm>
            <a:off x="1257300" y="2667000"/>
            <a:ext cx="165100" cy="1536700"/>
          </a:xfrm>
          <a:prstGeom prst="roundRect">
            <a:avLst>
              <a:gd name="adj" fmla="val 50000"/>
            </a:avLst>
          </a:prstGeom>
          <a:solidFill>
            <a:srgbClr val="D9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问题一-液态-迁移箭头2"/>
          <p:cNvSpPr/>
          <p:nvPr/>
        </p:nvSpPr>
        <p:spPr>
          <a:xfrm>
            <a:off x="1339850" y="2743200"/>
            <a:ext cx="0" cy="1384300"/>
          </a:xfrm>
          <a:custGeom>
            <a:avLst/>
            <a:gdLst/>
            <a:ahLst/>
            <a:cxnLst/>
            <a:rect l="l" t="t" r="r" b="b"/>
            <a:pathLst>
              <a:path w="0" h="218">
                <a:moveTo>
                  <a:pt x="0" y="218"/>
                </a:moveTo>
                <a:lnTo>
                  <a:pt x="0" y="0"/>
                </a:lnTo>
              </a:path>
            </a:pathLst>
          </a:custGeom>
          <a:noFill/>
          <a:ln w="27305" cap="rnd">
            <a:solidFill>
              <a:srgbClr val="2B6FA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问题一-液态-迁移箭头2-箭头"/>
          <p:cNvSpPr/>
          <p:nvPr/>
        </p:nvSpPr>
        <p:spPr>
          <a:xfrm>
            <a:off x="1301750" y="2743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0"/>
                </a:moveTo>
                <a:lnTo>
                  <a:pt x="12" y="12"/>
                </a:lnTo>
                <a:lnTo>
                  <a:pt x="0" y="12"/>
                </a:lnTo>
                <a:close/>
              </a:path>
            </a:pathLst>
          </a:custGeom>
          <a:solidFill>
            <a:srgbClr val="2B6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问题一-液态-离子环境1"/>
          <p:cNvSpPr/>
          <p:nvPr/>
        </p:nvSpPr>
        <p:spPr>
          <a:xfrm>
            <a:off x="635000" y="3251200"/>
            <a:ext cx="368300" cy="368300"/>
          </a:xfrm>
          <a:prstGeom prst="ellipse">
            <a:avLst/>
          </a:prstGeom>
          <a:solidFill>
            <a:srgbClr val="F6FCFF"/>
          </a:solidFill>
          <a:ln w="7620" cap="rnd">
            <a:solidFill>
              <a:srgbClr val="76BA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问题一-液态-溶剂1-1"/>
          <p:cNvSpPr/>
          <p:nvPr/>
        </p:nvSpPr>
        <p:spPr>
          <a:xfrm>
            <a:off x="654050" y="3282950"/>
            <a:ext cx="76200" cy="76200"/>
          </a:xfrm>
          <a:prstGeom prst="ellipse">
            <a:avLst/>
          </a:prstGeom>
          <a:solidFill>
            <a:srgbClr val="C4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问题一-液态-溶剂1-2"/>
          <p:cNvSpPr/>
          <p:nvPr/>
        </p:nvSpPr>
        <p:spPr>
          <a:xfrm>
            <a:off x="914400" y="3302000"/>
            <a:ext cx="76200" cy="76200"/>
          </a:xfrm>
          <a:prstGeom prst="ellipse">
            <a:avLst/>
          </a:prstGeom>
          <a:solidFill>
            <a:srgbClr val="C4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问题一-液态-溶剂1-3"/>
          <p:cNvSpPr/>
          <p:nvPr/>
        </p:nvSpPr>
        <p:spPr>
          <a:xfrm>
            <a:off x="787400" y="3543300"/>
            <a:ext cx="76200" cy="76200"/>
          </a:xfrm>
          <a:prstGeom prst="ellipse">
            <a:avLst/>
          </a:prstGeom>
          <a:solidFill>
            <a:srgbClr val="C4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问题一-液态-锂离子1"/>
          <p:cNvSpPr/>
          <p:nvPr/>
        </p:nvSpPr>
        <p:spPr>
          <a:xfrm>
            <a:off x="711200" y="3327400"/>
            <a:ext cx="215900" cy="215900"/>
          </a:xfrm>
          <a:prstGeom prst="ellipse">
            <a:avLst/>
          </a:prstGeom>
          <a:solidFill>
            <a:srgbClr val="EBAE3E"/>
          </a:solidFill>
          <a:ln w="9525" cap="rnd">
            <a:solidFill>
              <a:srgbClr val="C2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问题一-液态-锂离子1-高光"/>
          <p:cNvSpPr/>
          <p:nvPr/>
        </p:nvSpPr>
        <p:spPr>
          <a:xfrm>
            <a:off x="758698" y="3378136"/>
            <a:ext cx="66929" cy="49657"/>
          </a:xfrm>
          <a:prstGeom prst="ellipse">
            <a:avLst/>
          </a:prstGeom>
          <a:solidFill>
            <a:srgbClr val="FFE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问题一-液态-锂离子1-文字"/>
          <p:cNvSpPr txBox="1"/>
          <p:nvPr/>
        </p:nvSpPr>
        <p:spPr>
          <a:xfrm>
            <a:off x="749300" y="3385747"/>
            <a:ext cx="165100" cy="1153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63">
                <a:solidFill>
                  <a:srgbClr val="FFFFFF"/>
                </a:solidFill>
                <a:latin typeface="Arial"/>
              </a:rPr>
              <a:t>Li⁺</a:t>
            </a:r>
          </a:p>
        </p:txBody>
      </p:sp>
      <p:sp>
        <p:nvSpPr>
          <p:cNvPr id="38" name="问题一-液态-离子环境2"/>
          <p:cNvSpPr/>
          <p:nvPr/>
        </p:nvSpPr>
        <p:spPr>
          <a:xfrm>
            <a:off x="1155700" y="3562350"/>
            <a:ext cx="368300" cy="368300"/>
          </a:xfrm>
          <a:prstGeom prst="ellipse">
            <a:avLst/>
          </a:prstGeom>
          <a:solidFill>
            <a:srgbClr val="F6FCFF"/>
          </a:solidFill>
          <a:ln w="7620" cap="rnd">
            <a:solidFill>
              <a:srgbClr val="76BA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问题一-液态-溶剂2-1"/>
          <p:cNvSpPr/>
          <p:nvPr/>
        </p:nvSpPr>
        <p:spPr>
          <a:xfrm>
            <a:off x="1174750" y="3594100"/>
            <a:ext cx="76200" cy="76200"/>
          </a:xfrm>
          <a:prstGeom prst="ellipse">
            <a:avLst/>
          </a:prstGeom>
          <a:solidFill>
            <a:srgbClr val="C4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问题一-液态-溶剂2-2"/>
          <p:cNvSpPr/>
          <p:nvPr/>
        </p:nvSpPr>
        <p:spPr>
          <a:xfrm>
            <a:off x="1435100" y="3613150"/>
            <a:ext cx="76200" cy="76200"/>
          </a:xfrm>
          <a:prstGeom prst="ellipse">
            <a:avLst/>
          </a:prstGeom>
          <a:solidFill>
            <a:srgbClr val="C4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问题一-液态-溶剂2-3"/>
          <p:cNvSpPr/>
          <p:nvPr/>
        </p:nvSpPr>
        <p:spPr>
          <a:xfrm>
            <a:off x="1308100" y="3854450"/>
            <a:ext cx="76200" cy="76200"/>
          </a:xfrm>
          <a:prstGeom prst="ellipse">
            <a:avLst/>
          </a:prstGeom>
          <a:solidFill>
            <a:srgbClr val="C4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问题一-液态-锂离子2"/>
          <p:cNvSpPr/>
          <p:nvPr/>
        </p:nvSpPr>
        <p:spPr>
          <a:xfrm>
            <a:off x="1231900" y="3638550"/>
            <a:ext cx="215900" cy="215900"/>
          </a:xfrm>
          <a:prstGeom prst="ellipse">
            <a:avLst/>
          </a:prstGeom>
          <a:solidFill>
            <a:srgbClr val="EBAE3E"/>
          </a:solidFill>
          <a:ln w="9525" cap="rnd">
            <a:solidFill>
              <a:srgbClr val="C2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问题一-液态-锂离子2-高光"/>
          <p:cNvSpPr/>
          <p:nvPr/>
        </p:nvSpPr>
        <p:spPr>
          <a:xfrm>
            <a:off x="1279398" y="3689286"/>
            <a:ext cx="66929" cy="49657"/>
          </a:xfrm>
          <a:prstGeom prst="ellipse">
            <a:avLst/>
          </a:prstGeom>
          <a:solidFill>
            <a:srgbClr val="FFE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问题一-液态-锂离子2-文字"/>
          <p:cNvSpPr txBox="1"/>
          <p:nvPr/>
        </p:nvSpPr>
        <p:spPr>
          <a:xfrm>
            <a:off x="1270000" y="3696897"/>
            <a:ext cx="165100" cy="1153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63">
                <a:solidFill>
                  <a:srgbClr val="FFFFFF"/>
                </a:solidFill>
                <a:latin typeface="Arial"/>
              </a:rPr>
              <a:t>Li⁺</a:t>
            </a:r>
          </a:p>
        </p:txBody>
      </p:sp>
      <p:cxnSp>
        <p:nvCxnSpPr>
          <p:cNvPr id="45" name="问题一-液态-图注分隔线"/>
          <p:cNvCxnSpPr/>
          <p:nvPr/>
        </p:nvCxnSpPr>
        <p:spPr>
          <a:xfrm>
            <a:off x="577850" y="4279900"/>
            <a:ext cx="1028700" cy="0"/>
          </a:xfrm>
          <a:prstGeom prst="line">
            <a:avLst/>
          </a:prstGeom>
          <a:ln w="7620" cap="rnd">
            <a:solidFill>
              <a:srgbClr val="B9D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问题一-液态-图注"/>
          <p:cNvSpPr txBox="1"/>
          <p:nvPr/>
        </p:nvSpPr>
        <p:spPr>
          <a:xfrm>
            <a:off x="685800" y="4314666"/>
            <a:ext cx="838200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225A8C"/>
                </a:solidFill>
                <a:latin typeface="Microsoft YaHei"/>
                <a:ea typeface="Microsoft YaHei"/>
              </a:rPr>
              <a:t>连续液相通道</a:t>
            </a:r>
          </a:p>
        </p:txBody>
      </p:sp>
      <p:sp>
        <p:nvSpPr>
          <p:cNvPr id="47" name="问题一-凝胶示意外框"/>
          <p:cNvSpPr/>
          <p:nvPr/>
        </p:nvSpPr>
        <p:spPr>
          <a:xfrm>
            <a:off x="1854200" y="2235200"/>
            <a:ext cx="3898900" cy="2317750"/>
          </a:xfrm>
          <a:prstGeom prst="roundRect">
            <a:avLst>
              <a:gd name="adj" fmla="val 3287"/>
            </a:avLst>
          </a:prstGeom>
          <a:solidFill>
            <a:srgbClr val="FBFCFE"/>
          </a:solidFill>
          <a:ln w="9525" cap="rnd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问题一-凝胶标题底色"/>
          <p:cNvSpPr/>
          <p:nvPr/>
        </p:nvSpPr>
        <p:spPr>
          <a:xfrm>
            <a:off x="1854200" y="2235200"/>
            <a:ext cx="3898900" cy="336550"/>
          </a:xfrm>
          <a:prstGeom prst="roundRect">
            <a:avLst>
              <a:gd name="adj" fmla="val 22641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问题一-凝胶标题底色平底"/>
          <p:cNvSpPr/>
          <p:nvPr/>
        </p:nvSpPr>
        <p:spPr>
          <a:xfrm>
            <a:off x="1854200" y="2406650"/>
            <a:ext cx="3898900" cy="1651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问题一-凝胶标题"/>
          <p:cNvSpPr txBox="1"/>
          <p:nvPr/>
        </p:nvSpPr>
        <p:spPr>
          <a:xfrm>
            <a:off x="2722562" y="2307431"/>
            <a:ext cx="2187575" cy="217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250">
                <a:solidFill>
                  <a:srgbClr val="172B46"/>
                </a:solidFill>
                <a:latin typeface="Microsoft YaHei"/>
                <a:ea typeface="Microsoft YaHei"/>
              </a:rPr>
              <a:t>传统凝胶：聚合物骨架</a:t>
            </a:r>
            <a:r>
              <a:rPr b="1" sz="1250">
                <a:solidFill>
                  <a:srgbClr val="172B46"/>
                </a:solidFill>
                <a:latin typeface="Arial"/>
              </a:rPr>
              <a:t> + </a:t>
            </a:r>
            <a:r>
              <a:rPr b="1" sz="1250">
                <a:solidFill>
                  <a:srgbClr val="172B46"/>
                </a:solidFill>
                <a:latin typeface="Microsoft YaHei"/>
                <a:ea typeface="Microsoft YaHei"/>
              </a:rPr>
              <a:t>溶剂</a:t>
            </a:r>
          </a:p>
        </p:txBody>
      </p:sp>
      <p:sp>
        <p:nvSpPr>
          <p:cNvPr id="51" name="问题一-凝胶-局部配位滞留区域"/>
          <p:cNvSpPr/>
          <p:nvPr/>
        </p:nvSpPr>
        <p:spPr>
          <a:xfrm>
            <a:off x="3124200" y="2882900"/>
            <a:ext cx="685800" cy="685800"/>
          </a:xfrm>
          <a:prstGeom prst="ellipse">
            <a:avLst/>
          </a:prstGeom>
          <a:solidFill>
            <a:srgbClr val="FEF0EE"/>
          </a:solidFill>
          <a:ln w="8255" cap="rnd">
            <a:solidFill>
              <a:srgbClr val="DDB2A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问题一-凝胶-聚合物链1"/>
          <p:cNvSpPr/>
          <p:nvPr/>
        </p:nvSpPr>
        <p:spPr>
          <a:xfrm>
            <a:off x="2000250" y="2762250"/>
            <a:ext cx="3625850" cy="76200"/>
          </a:xfrm>
          <a:custGeom>
            <a:avLst/>
            <a:gdLst/>
            <a:ahLst/>
            <a:cxnLst/>
            <a:rect l="l" t="t" r="r" b="b"/>
            <a:pathLst>
              <a:path w="571" h="12">
                <a:moveTo>
                  <a:pt x="0" y="8"/>
                </a:moveTo>
                <a:lnTo>
                  <a:pt x="6" y="6"/>
                </a:lnTo>
                <a:lnTo>
                  <a:pt x="12" y="5"/>
                </a:lnTo>
                <a:lnTo>
                  <a:pt x="18" y="4"/>
                </a:lnTo>
                <a:lnTo>
                  <a:pt x="23" y="3"/>
                </a:lnTo>
                <a:lnTo>
                  <a:pt x="29" y="3"/>
                </a:lnTo>
                <a:lnTo>
                  <a:pt x="34" y="3"/>
                </a:lnTo>
                <a:lnTo>
                  <a:pt x="40" y="3"/>
                </a:lnTo>
                <a:lnTo>
                  <a:pt x="45" y="3"/>
                </a:lnTo>
                <a:lnTo>
                  <a:pt x="51" y="3"/>
                </a:lnTo>
                <a:lnTo>
                  <a:pt x="56" y="4"/>
                </a:lnTo>
                <a:lnTo>
                  <a:pt x="62" y="4"/>
                </a:lnTo>
                <a:lnTo>
                  <a:pt x="67" y="5"/>
                </a:lnTo>
                <a:lnTo>
                  <a:pt x="72" y="6"/>
                </a:lnTo>
                <a:lnTo>
                  <a:pt x="78" y="7"/>
                </a:lnTo>
                <a:lnTo>
                  <a:pt x="83" y="7"/>
                </a:lnTo>
                <a:lnTo>
                  <a:pt x="89" y="8"/>
                </a:lnTo>
                <a:lnTo>
                  <a:pt x="94" y="9"/>
                </a:lnTo>
                <a:lnTo>
                  <a:pt x="100" y="9"/>
                </a:lnTo>
                <a:lnTo>
                  <a:pt x="105" y="10"/>
                </a:lnTo>
                <a:lnTo>
                  <a:pt x="111" y="10"/>
                </a:lnTo>
                <a:lnTo>
                  <a:pt x="117" y="11"/>
                </a:lnTo>
                <a:lnTo>
                  <a:pt x="123" y="11"/>
                </a:lnTo>
                <a:lnTo>
                  <a:pt x="129" y="11"/>
                </a:lnTo>
                <a:lnTo>
                  <a:pt x="135" y="10"/>
                </a:lnTo>
                <a:lnTo>
                  <a:pt x="141" y="10"/>
                </a:lnTo>
                <a:lnTo>
                  <a:pt x="147" y="9"/>
                </a:lnTo>
                <a:lnTo>
                  <a:pt x="153" y="8"/>
                </a:lnTo>
                <a:lnTo>
                  <a:pt x="160" y="6"/>
                </a:lnTo>
                <a:lnTo>
                  <a:pt x="166" y="4"/>
                </a:lnTo>
                <a:lnTo>
                  <a:pt x="172" y="3"/>
                </a:lnTo>
                <a:lnTo>
                  <a:pt x="179" y="2"/>
                </a:lnTo>
                <a:lnTo>
                  <a:pt x="185" y="2"/>
                </a:lnTo>
                <a:lnTo>
                  <a:pt x="191" y="1"/>
                </a:lnTo>
                <a:lnTo>
                  <a:pt x="197" y="1"/>
                </a:lnTo>
                <a:lnTo>
                  <a:pt x="202" y="1"/>
                </a:lnTo>
                <a:lnTo>
                  <a:pt x="208" y="1"/>
                </a:lnTo>
                <a:lnTo>
                  <a:pt x="214" y="1"/>
                </a:lnTo>
                <a:lnTo>
                  <a:pt x="220" y="1"/>
                </a:lnTo>
                <a:lnTo>
                  <a:pt x="226" y="2"/>
                </a:lnTo>
                <a:lnTo>
                  <a:pt x="231" y="3"/>
                </a:lnTo>
                <a:lnTo>
                  <a:pt x="237" y="3"/>
                </a:lnTo>
                <a:lnTo>
                  <a:pt x="243" y="4"/>
                </a:lnTo>
                <a:lnTo>
                  <a:pt x="248" y="4"/>
                </a:lnTo>
                <a:lnTo>
                  <a:pt x="254" y="5"/>
                </a:lnTo>
                <a:lnTo>
                  <a:pt x="259" y="6"/>
                </a:lnTo>
                <a:lnTo>
                  <a:pt x="265" y="6"/>
                </a:lnTo>
                <a:lnTo>
                  <a:pt x="271" y="7"/>
                </a:lnTo>
                <a:lnTo>
                  <a:pt x="276" y="7"/>
                </a:lnTo>
                <a:lnTo>
                  <a:pt x="282" y="7"/>
                </a:lnTo>
                <a:lnTo>
                  <a:pt x="287" y="7"/>
                </a:lnTo>
                <a:lnTo>
                  <a:pt x="293" y="7"/>
                </a:lnTo>
                <a:lnTo>
                  <a:pt x="299" y="7"/>
                </a:lnTo>
                <a:lnTo>
                  <a:pt x="305" y="6"/>
                </a:lnTo>
                <a:lnTo>
                  <a:pt x="310" y="5"/>
                </a:lnTo>
                <a:lnTo>
                  <a:pt x="316" y="4"/>
                </a:lnTo>
                <a:lnTo>
                  <a:pt x="322" y="3"/>
                </a:lnTo>
                <a:lnTo>
                  <a:pt x="330" y="2"/>
                </a:lnTo>
                <a:lnTo>
                  <a:pt x="337" y="1"/>
                </a:lnTo>
                <a:lnTo>
                  <a:pt x="345" y="0"/>
                </a:lnTo>
                <a:lnTo>
                  <a:pt x="353" y="0"/>
                </a:lnTo>
                <a:lnTo>
                  <a:pt x="361" y="0"/>
                </a:lnTo>
                <a:lnTo>
                  <a:pt x="368" y="0"/>
                </a:lnTo>
                <a:lnTo>
                  <a:pt x="376" y="1"/>
                </a:lnTo>
                <a:lnTo>
                  <a:pt x="384" y="1"/>
                </a:lnTo>
                <a:lnTo>
                  <a:pt x="393" y="2"/>
                </a:lnTo>
                <a:lnTo>
                  <a:pt x="401" y="3"/>
                </a:lnTo>
                <a:lnTo>
                  <a:pt x="409" y="4"/>
                </a:lnTo>
                <a:lnTo>
                  <a:pt x="417" y="5"/>
                </a:lnTo>
                <a:lnTo>
                  <a:pt x="426" y="6"/>
                </a:lnTo>
                <a:lnTo>
                  <a:pt x="435" y="7"/>
                </a:lnTo>
                <a:lnTo>
                  <a:pt x="443" y="9"/>
                </a:lnTo>
                <a:lnTo>
                  <a:pt x="452" y="10"/>
                </a:lnTo>
                <a:lnTo>
                  <a:pt x="461" y="10"/>
                </a:lnTo>
                <a:lnTo>
                  <a:pt x="470" y="11"/>
                </a:lnTo>
                <a:lnTo>
                  <a:pt x="480" y="12"/>
                </a:lnTo>
                <a:lnTo>
                  <a:pt x="489" y="12"/>
                </a:lnTo>
                <a:lnTo>
                  <a:pt x="499" y="12"/>
                </a:lnTo>
                <a:lnTo>
                  <a:pt x="508" y="12"/>
                </a:lnTo>
                <a:lnTo>
                  <a:pt x="518" y="11"/>
                </a:lnTo>
                <a:lnTo>
                  <a:pt x="529" y="10"/>
                </a:lnTo>
                <a:lnTo>
                  <a:pt x="539" y="9"/>
                </a:lnTo>
                <a:lnTo>
                  <a:pt x="549" y="8"/>
                </a:lnTo>
                <a:lnTo>
                  <a:pt x="560" y="6"/>
                </a:lnTo>
                <a:lnTo>
                  <a:pt x="571" y="3"/>
                </a:lnTo>
              </a:path>
            </a:pathLst>
          </a:custGeom>
          <a:noFill/>
          <a:ln w="39370" cap="rnd"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问题一-凝胶-聚合物链2"/>
          <p:cNvSpPr/>
          <p:nvPr/>
        </p:nvSpPr>
        <p:spPr>
          <a:xfrm>
            <a:off x="1981200" y="3429000"/>
            <a:ext cx="3632200" cy="95250"/>
          </a:xfrm>
          <a:custGeom>
            <a:avLst/>
            <a:gdLst/>
            <a:ahLst/>
            <a:cxnLst/>
            <a:rect l="l" t="t" r="r" b="b"/>
            <a:pathLst>
              <a:path w="572" h="15">
                <a:moveTo>
                  <a:pt x="0" y="14"/>
                </a:moveTo>
                <a:lnTo>
                  <a:pt x="7" y="12"/>
                </a:lnTo>
                <a:lnTo>
                  <a:pt x="13" y="10"/>
                </a:lnTo>
                <a:lnTo>
                  <a:pt x="19" y="9"/>
                </a:lnTo>
                <a:lnTo>
                  <a:pt x="25" y="8"/>
                </a:lnTo>
                <a:lnTo>
                  <a:pt x="31" y="7"/>
                </a:lnTo>
                <a:lnTo>
                  <a:pt x="37" y="7"/>
                </a:lnTo>
                <a:lnTo>
                  <a:pt x="43" y="6"/>
                </a:lnTo>
                <a:lnTo>
                  <a:pt x="49" y="7"/>
                </a:lnTo>
                <a:lnTo>
                  <a:pt x="55" y="7"/>
                </a:lnTo>
                <a:lnTo>
                  <a:pt x="61" y="7"/>
                </a:lnTo>
                <a:lnTo>
                  <a:pt x="66" y="8"/>
                </a:lnTo>
                <a:lnTo>
                  <a:pt x="72" y="9"/>
                </a:lnTo>
                <a:lnTo>
                  <a:pt x="78" y="10"/>
                </a:lnTo>
                <a:lnTo>
                  <a:pt x="84" y="10"/>
                </a:lnTo>
                <a:lnTo>
                  <a:pt x="89" y="11"/>
                </a:lnTo>
                <a:lnTo>
                  <a:pt x="95" y="12"/>
                </a:lnTo>
                <a:lnTo>
                  <a:pt x="101" y="13"/>
                </a:lnTo>
                <a:lnTo>
                  <a:pt x="107" y="14"/>
                </a:lnTo>
                <a:lnTo>
                  <a:pt x="113" y="14"/>
                </a:lnTo>
                <a:lnTo>
                  <a:pt x="119" y="14"/>
                </a:lnTo>
                <a:lnTo>
                  <a:pt x="125" y="15"/>
                </a:lnTo>
                <a:lnTo>
                  <a:pt x="132" y="14"/>
                </a:lnTo>
                <a:lnTo>
                  <a:pt x="138" y="14"/>
                </a:lnTo>
                <a:lnTo>
                  <a:pt x="145" y="13"/>
                </a:lnTo>
                <a:lnTo>
                  <a:pt x="151" y="12"/>
                </a:lnTo>
                <a:lnTo>
                  <a:pt x="158" y="11"/>
                </a:lnTo>
                <a:lnTo>
                  <a:pt x="166" y="9"/>
                </a:lnTo>
                <a:lnTo>
                  <a:pt x="173" y="7"/>
                </a:lnTo>
                <a:lnTo>
                  <a:pt x="180" y="5"/>
                </a:lnTo>
                <a:lnTo>
                  <a:pt x="186" y="3"/>
                </a:lnTo>
                <a:lnTo>
                  <a:pt x="193" y="2"/>
                </a:lnTo>
                <a:lnTo>
                  <a:pt x="199" y="1"/>
                </a:lnTo>
                <a:lnTo>
                  <a:pt x="205" y="1"/>
                </a:lnTo>
                <a:lnTo>
                  <a:pt x="212" y="0"/>
                </a:lnTo>
                <a:lnTo>
                  <a:pt x="218" y="1"/>
                </a:lnTo>
                <a:lnTo>
                  <a:pt x="224" y="1"/>
                </a:lnTo>
                <a:lnTo>
                  <a:pt x="231" y="1"/>
                </a:lnTo>
                <a:lnTo>
                  <a:pt x="237" y="2"/>
                </a:lnTo>
                <a:lnTo>
                  <a:pt x="243" y="3"/>
                </a:lnTo>
                <a:lnTo>
                  <a:pt x="249" y="3"/>
                </a:lnTo>
                <a:lnTo>
                  <a:pt x="255" y="4"/>
                </a:lnTo>
                <a:lnTo>
                  <a:pt x="262" y="5"/>
                </a:lnTo>
                <a:lnTo>
                  <a:pt x="268" y="6"/>
                </a:lnTo>
                <a:lnTo>
                  <a:pt x="274" y="7"/>
                </a:lnTo>
                <a:lnTo>
                  <a:pt x="280" y="8"/>
                </a:lnTo>
                <a:lnTo>
                  <a:pt x="287" y="9"/>
                </a:lnTo>
                <a:lnTo>
                  <a:pt x="293" y="10"/>
                </a:lnTo>
                <a:lnTo>
                  <a:pt x="300" y="10"/>
                </a:lnTo>
                <a:lnTo>
                  <a:pt x="306" y="11"/>
                </a:lnTo>
                <a:lnTo>
                  <a:pt x="313" y="11"/>
                </a:lnTo>
                <a:lnTo>
                  <a:pt x="319" y="11"/>
                </a:lnTo>
                <a:lnTo>
                  <a:pt x="326" y="11"/>
                </a:lnTo>
                <a:lnTo>
                  <a:pt x="333" y="10"/>
                </a:lnTo>
                <a:lnTo>
                  <a:pt x="340" y="9"/>
                </a:lnTo>
                <a:lnTo>
                  <a:pt x="347" y="8"/>
                </a:lnTo>
                <a:lnTo>
                  <a:pt x="354" y="6"/>
                </a:lnTo>
                <a:lnTo>
                  <a:pt x="362" y="4"/>
                </a:lnTo>
                <a:lnTo>
                  <a:pt x="370" y="3"/>
                </a:lnTo>
                <a:lnTo>
                  <a:pt x="378" y="2"/>
                </a:lnTo>
                <a:lnTo>
                  <a:pt x="385" y="1"/>
                </a:lnTo>
                <a:lnTo>
                  <a:pt x="393" y="0"/>
                </a:lnTo>
                <a:lnTo>
                  <a:pt x="400" y="0"/>
                </a:lnTo>
                <a:lnTo>
                  <a:pt x="408" y="0"/>
                </a:lnTo>
                <a:lnTo>
                  <a:pt x="415" y="0"/>
                </a:lnTo>
                <a:lnTo>
                  <a:pt x="423" y="1"/>
                </a:lnTo>
                <a:lnTo>
                  <a:pt x="430" y="1"/>
                </a:lnTo>
                <a:lnTo>
                  <a:pt x="437" y="2"/>
                </a:lnTo>
                <a:lnTo>
                  <a:pt x="445" y="3"/>
                </a:lnTo>
                <a:lnTo>
                  <a:pt x="452" y="4"/>
                </a:lnTo>
                <a:lnTo>
                  <a:pt x="460" y="4"/>
                </a:lnTo>
                <a:lnTo>
                  <a:pt x="467" y="5"/>
                </a:lnTo>
                <a:lnTo>
                  <a:pt x="475" y="6"/>
                </a:lnTo>
                <a:lnTo>
                  <a:pt x="482" y="7"/>
                </a:lnTo>
                <a:lnTo>
                  <a:pt x="490" y="8"/>
                </a:lnTo>
                <a:lnTo>
                  <a:pt x="497" y="8"/>
                </a:lnTo>
                <a:lnTo>
                  <a:pt x="505" y="9"/>
                </a:lnTo>
                <a:lnTo>
                  <a:pt x="513" y="9"/>
                </a:lnTo>
                <a:lnTo>
                  <a:pt x="521" y="9"/>
                </a:lnTo>
                <a:lnTo>
                  <a:pt x="529" y="9"/>
                </a:lnTo>
                <a:lnTo>
                  <a:pt x="537" y="8"/>
                </a:lnTo>
                <a:lnTo>
                  <a:pt x="546" y="7"/>
                </a:lnTo>
                <a:lnTo>
                  <a:pt x="554" y="6"/>
                </a:lnTo>
                <a:lnTo>
                  <a:pt x="563" y="5"/>
                </a:lnTo>
                <a:lnTo>
                  <a:pt x="572" y="3"/>
                </a:lnTo>
              </a:path>
            </a:pathLst>
          </a:custGeom>
          <a:noFill/>
          <a:ln w="39370" cap="rnd"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问题一-凝胶-聚合物链3"/>
          <p:cNvSpPr/>
          <p:nvPr/>
        </p:nvSpPr>
        <p:spPr>
          <a:xfrm>
            <a:off x="1981200" y="3987800"/>
            <a:ext cx="3632200" cy="88900"/>
          </a:xfrm>
          <a:custGeom>
            <a:avLst/>
            <a:gdLst/>
            <a:ahLst/>
            <a:cxnLst/>
            <a:rect l="l" t="t" r="r" b="b"/>
            <a:pathLst>
              <a:path w="572" h="14">
                <a:moveTo>
                  <a:pt x="0" y="14"/>
                </a:moveTo>
                <a:lnTo>
                  <a:pt x="7" y="12"/>
                </a:lnTo>
                <a:lnTo>
                  <a:pt x="14" y="11"/>
                </a:lnTo>
                <a:lnTo>
                  <a:pt x="21" y="10"/>
                </a:lnTo>
                <a:lnTo>
                  <a:pt x="27" y="9"/>
                </a:lnTo>
                <a:lnTo>
                  <a:pt x="34" y="8"/>
                </a:lnTo>
                <a:lnTo>
                  <a:pt x="40" y="8"/>
                </a:lnTo>
                <a:lnTo>
                  <a:pt x="46" y="8"/>
                </a:lnTo>
                <a:lnTo>
                  <a:pt x="52" y="8"/>
                </a:lnTo>
                <a:lnTo>
                  <a:pt x="58" y="8"/>
                </a:lnTo>
                <a:lnTo>
                  <a:pt x="65" y="8"/>
                </a:lnTo>
                <a:lnTo>
                  <a:pt x="71" y="8"/>
                </a:lnTo>
                <a:lnTo>
                  <a:pt x="77" y="9"/>
                </a:lnTo>
                <a:lnTo>
                  <a:pt x="82" y="9"/>
                </a:lnTo>
                <a:lnTo>
                  <a:pt x="88" y="10"/>
                </a:lnTo>
                <a:lnTo>
                  <a:pt x="94" y="10"/>
                </a:lnTo>
                <a:lnTo>
                  <a:pt x="100" y="11"/>
                </a:lnTo>
                <a:lnTo>
                  <a:pt x="106" y="11"/>
                </a:lnTo>
                <a:lnTo>
                  <a:pt x="112" y="11"/>
                </a:lnTo>
                <a:lnTo>
                  <a:pt x="118" y="12"/>
                </a:lnTo>
                <a:lnTo>
                  <a:pt x="124" y="12"/>
                </a:lnTo>
                <a:lnTo>
                  <a:pt x="130" y="12"/>
                </a:lnTo>
                <a:lnTo>
                  <a:pt x="137" y="12"/>
                </a:lnTo>
                <a:lnTo>
                  <a:pt x="143" y="11"/>
                </a:lnTo>
                <a:lnTo>
                  <a:pt x="149" y="11"/>
                </a:lnTo>
                <a:lnTo>
                  <a:pt x="156" y="10"/>
                </a:lnTo>
                <a:lnTo>
                  <a:pt x="162" y="9"/>
                </a:lnTo>
                <a:lnTo>
                  <a:pt x="169" y="8"/>
                </a:lnTo>
                <a:lnTo>
                  <a:pt x="176" y="6"/>
                </a:lnTo>
                <a:lnTo>
                  <a:pt x="183" y="4"/>
                </a:lnTo>
                <a:lnTo>
                  <a:pt x="190" y="3"/>
                </a:lnTo>
                <a:lnTo>
                  <a:pt x="197" y="2"/>
                </a:lnTo>
                <a:lnTo>
                  <a:pt x="204" y="1"/>
                </a:lnTo>
                <a:lnTo>
                  <a:pt x="210" y="1"/>
                </a:lnTo>
                <a:lnTo>
                  <a:pt x="217" y="1"/>
                </a:lnTo>
                <a:lnTo>
                  <a:pt x="224" y="1"/>
                </a:lnTo>
                <a:lnTo>
                  <a:pt x="230" y="1"/>
                </a:lnTo>
                <a:lnTo>
                  <a:pt x="237" y="1"/>
                </a:lnTo>
                <a:lnTo>
                  <a:pt x="244" y="2"/>
                </a:lnTo>
                <a:lnTo>
                  <a:pt x="250" y="2"/>
                </a:lnTo>
                <a:lnTo>
                  <a:pt x="257" y="3"/>
                </a:lnTo>
                <a:lnTo>
                  <a:pt x="263" y="4"/>
                </a:lnTo>
                <a:lnTo>
                  <a:pt x="270" y="5"/>
                </a:lnTo>
                <a:lnTo>
                  <a:pt x="276" y="5"/>
                </a:lnTo>
                <a:lnTo>
                  <a:pt x="282" y="6"/>
                </a:lnTo>
                <a:lnTo>
                  <a:pt x="289" y="7"/>
                </a:lnTo>
                <a:lnTo>
                  <a:pt x="295" y="7"/>
                </a:lnTo>
                <a:lnTo>
                  <a:pt x="302" y="8"/>
                </a:lnTo>
                <a:lnTo>
                  <a:pt x="309" y="8"/>
                </a:lnTo>
                <a:lnTo>
                  <a:pt x="315" y="9"/>
                </a:lnTo>
                <a:lnTo>
                  <a:pt x="322" y="9"/>
                </a:lnTo>
                <a:lnTo>
                  <a:pt x="329" y="9"/>
                </a:lnTo>
                <a:lnTo>
                  <a:pt x="335" y="8"/>
                </a:lnTo>
                <a:lnTo>
                  <a:pt x="342" y="8"/>
                </a:lnTo>
                <a:lnTo>
                  <a:pt x="349" y="7"/>
                </a:lnTo>
                <a:lnTo>
                  <a:pt x="356" y="6"/>
                </a:lnTo>
                <a:lnTo>
                  <a:pt x="363" y="4"/>
                </a:lnTo>
                <a:lnTo>
                  <a:pt x="370" y="2"/>
                </a:lnTo>
                <a:lnTo>
                  <a:pt x="377" y="1"/>
                </a:lnTo>
                <a:lnTo>
                  <a:pt x="384" y="0"/>
                </a:lnTo>
                <a:lnTo>
                  <a:pt x="391" y="0"/>
                </a:lnTo>
                <a:lnTo>
                  <a:pt x="398" y="0"/>
                </a:lnTo>
                <a:lnTo>
                  <a:pt x="406" y="0"/>
                </a:lnTo>
                <a:lnTo>
                  <a:pt x="413" y="0"/>
                </a:lnTo>
                <a:lnTo>
                  <a:pt x="420" y="0"/>
                </a:lnTo>
                <a:lnTo>
                  <a:pt x="427" y="1"/>
                </a:lnTo>
                <a:lnTo>
                  <a:pt x="434" y="1"/>
                </a:lnTo>
                <a:lnTo>
                  <a:pt x="442" y="2"/>
                </a:lnTo>
                <a:lnTo>
                  <a:pt x="449" y="3"/>
                </a:lnTo>
                <a:lnTo>
                  <a:pt x="456" y="4"/>
                </a:lnTo>
                <a:lnTo>
                  <a:pt x="464" y="5"/>
                </a:lnTo>
                <a:lnTo>
                  <a:pt x="471" y="6"/>
                </a:lnTo>
                <a:lnTo>
                  <a:pt x="479" y="7"/>
                </a:lnTo>
                <a:lnTo>
                  <a:pt x="486" y="8"/>
                </a:lnTo>
                <a:lnTo>
                  <a:pt x="494" y="8"/>
                </a:lnTo>
                <a:lnTo>
                  <a:pt x="501" y="9"/>
                </a:lnTo>
                <a:lnTo>
                  <a:pt x="509" y="9"/>
                </a:lnTo>
                <a:lnTo>
                  <a:pt x="517" y="10"/>
                </a:lnTo>
                <a:lnTo>
                  <a:pt x="524" y="10"/>
                </a:lnTo>
                <a:lnTo>
                  <a:pt x="532" y="10"/>
                </a:lnTo>
                <a:lnTo>
                  <a:pt x="540" y="9"/>
                </a:lnTo>
                <a:lnTo>
                  <a:pt x="548" y="9"/>
                </a:lnTo>
                <a:lnTo>
                  <a:pt x="556" y="8"/>
                </a:lnTo>
                <a:lnTo>
                  <a:pt x="564" y="7"/>
                </a:lnTo>
                <a:lnTo>
                  <a:pt x="572" y="5"/>
                </a:lnTo>
              </a:path>
            </a:pathLst>
          </a:custGeom>
          <a:noFill/>
          <a:ln w="39370" cap="rnd"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问题一-凝胶-聚合物链4"/>
          <p:cNvSpPr/>
          <p:nvPr/>
        </p:nvSpPr>
        <p:spPr>
          <a:xfrm>
            <a:off x="2368550" y="2667000"/>
            <a:ext cx="82550" cy="1511300"/>
          </a:xfrm>
          <a:custGeom>
            <a:avLst/>
            <a:gdLst/>
            <a:ahLst/>
            <a:cxnLst/>
            <a:rect l="l" t="t" r="r" b="b"/>
            <a:pathLst>
              <a:path w="13" h="238">
                <a:moveTo>
                  <a:pt x="9" y="0"/>
                </a:moveTo>
                <a:lnTo>
                  <a:pt x="7" y="4"/>
                </a:lnTo>
                <a:lnTo>
                  <a:pt x="6" y="9"/>
                </a:lnTo>
                <a:lnTo>
                  <a:pt x="5" y="13"/>
                </a:lnTo>
                <a:lnTo>
                  <a:pt x="4" y="17"/>
                </a:lnTo>
                <a:lnTo>
                  <a:pt x="4" y="21"/>
                </a:lnTo>
                <a:lnTo>
                  <a:pt x="4" y="25"/>
                </a:lnTo>
                <a:lnTo>
                  <a:pt x="4" y="28"/>
                </a:lnTo>
                <a:lnTo>
                  <a:pt x="4" y="32"/>
                </a:lnTo>
                <a:lnTo>
                  <a:pt x="5" y="36"/>
                </a:lnTo>
                <a:lnTo>
                  <a:pt x="5" y="40"/>
                </a:lnTo>
                <a:lnTo>
                  <a:pt x="6" y="43"/>
                </a:lnTo>
                <a:lnTo>
                  <a:pt x="7" y="47"/>
                </a:lnTo>
                <a:lnTo>
                  <a:pt x="7" y="51"/>
                </a:lnTo>
                <a:lnTo>
                  <a:pt x="8" y="54"/>
                </a:lnTo>
                <a:lnTo>
                  <a:pt x="9" y="58"/>
                </a:lnTo>
                <a:lnTo>
                  <a:pt x="10" y="62"/>
                </a:lnTo>
                <a:lnTo>
                  <a:pt x="11" y="65"/>
                </a:lnTo>
                <a:lnTo>
                  <a:pt x="12" y="69"/>
                </a:lnTo>
                <a:lnTo>
                  <a:pt x="12" y="73"/>
                </a:lnTo>
                <a:lnTo>
                  <a:pt x="13" y="77"/>
                </a:lnTo>
                <a:lnTo>
                  <a:pt x="13" y="80"/>
                </a:lnTo>
                <a:lnTo>
                  <a:pt x="13" y="84"/>
                </a:lnTo>
                <a:lnTo>
                  <a:pt x="13" y="88"/>
                </a:lnTo>
                <a:lnTo>
                  <a:pt x="12" y="93"/>
                </a:lnTo>
                <a:lnTo>
                  <a:pt x="11" y="97"/>
                </a:lnTo>
                <a:lnTo>
                  <a:pt x="10" y="101"/>
                </a:lnTo>
                <a:lnTo>
                  <a:pt x="9" y="105"/>
                </a:lnTo>
                <a:lnTo>
                  <a:pt x="7" y="110"/>
                </a:lnTo>
                <a:lnTo>
                  <a:pt x="5" y="115"/>
                </a:lnTo>
                <a:lnTo>
                  <a:pt x="3" y="120"/>
                </a:lnTo>
                <a:lnTo>
                  <a:pt x="2" y="125"/>
                </a:lnTo>
                <a:lnTo>
                  <a:pt x="1" y="130"/>
                </a:lnTo>
                <a:lnTo>
                  <a:pt x="1" y="135"/>
                </a:lnTo>
                <a:lnTo>
                  <a:pt x="0" y="139"/>
                </a:lnTo>
                <a:lnTo>
                  <a:pt x="0" y="144"/>
                </a:lnTo>
                <a:lnTo>
                  <a:pt x="0" y="149"/>
                </a:lnTo>
                <a:lnTo>
                  <a:pt x="1" y="153"/>
                </a:lnTo>
                <a:lnTo>
                  <a:pt x="1" y="157"/>
                </a:lnTo>
                <a:lnTo>
                  <a:pt x="2" y="162"/>
                </a:lnTo>
                <a:lnTo>
                  <a:pt x="3" y="166"/>
                </a:lnTo>
                <a:lnTo>
                  <a:pt x="4" y="170"/>
                </a:lnTo>
                <a:lnTo>
                  <a:pt x="5" y="175"/>
                </a:lnTo>
                <a:lnTo>
                  <a:pt x="6" y="179"/>
                </a:lnTo>
                <a:lnTo>
                  <a:pt x="7" y="183"/>
                </a:lnTo>
                <a:lnTo>
                  <a:pt x="8" y="188"/>
                </a:lnTo>
                <a:lnTo>
                  <a:pt x="9" y="192"/>
                </a:lnTo>
                <a:lnTo>
                  <a:pt x="9" y="196"/>
                </a:lnTo>
                <a:lnTo>
                  <a:pt x="10" y="201"/>
                </a:lnTo>
                <a:lnTo>
                  <a:pt x="11" y="205"/>
                </a:lnTo>
                <a:lnTo>
                  <a:pt x="11" y="210"/>
                </a:lnTo>
                <a:lnTo>
                  <a:pt x="12" y="214"/>
                </a:lnTo>
                <a:lnTo>
                  <a:pt x="12" y="219"/>
                </a:lnTo>
                <a:lnTo>
                  <a:pt x="11" y="223"/>
                </a:lnTo>
                <a:lnTo>
                  <a:pt x="11" y="228"/>
                </a:lnTo>
                <a:lnTo>
                  <a:pt x="10" y="233"/>
                </a:lnTo>
                <a:lnTo>
                  <a:pt x="9" y="238"/>
                </a:lnTo>
              </a:path>
            </a:pathLst>
          </a:custGeom>
          <a:noFill/>
          <a:ln w="39370" cap="rnd"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问题一-凝胶-聚合物链5"/>
          <p:cNvSpPr/>
          <p:nvPr/>
        </p:nvSpPr>
        <p:spPr>
          <a:xfrm>
            <a:off x="3702050" y="2660650"/>
            <a:ext cx="69850" cy="1524000"/>
          </a:xfrm>
          <a:custGeom>
            <a:avLst/>
            <a:gdLst/>
            <a:ahLst/>
            <a:cxnLst/>
            <a:rect l="l" t="t" r="r" b="b"/>
            <a:pathLst>
              <a:path w="11" h="240">
                <a:moveTo>
                  <a:pt x="11" y="0"/>
                </a:moveTo>
                <a:lnTo>
                  <a:pt x="8" y="5"/>
                </a:lnTo>
                <a:lnTo>
                  <a:pt x="6" y="10"/>
                </a:lnTo>
                <a:lnTo>
                  <a:pt x="5" y="15"/>
                </a:lnTo>
                <a:lnTo>
                  <a:pt x="3" y="20"/>
                </a:lnTo>
                <a:lnTo>
                  <a:pt x="2" y="24"/>
                </a:lnTo>
                <a:lnTo>
                  <a:pt x="2" y="29"/>
                </a:lnTo>
                <a:lnTo>
                  <a:pt x="1" y="33"/>
                </a:lnTo>
                <a:lnTo>
                  <a:pt x="2" y="37"/>
                </a:lnTo>
                <a:lnTo>
                  <a:pt x="2" y="41"/>
                </a:lnTo>
                <a:lnTo>
                  <a:pt x="2" y="45"/>
                </a:lnTo>
                <a:lnTo>
                  <a:pt x="3" y="48"/>
                </a:lnTo>
                <a:lnTo>
                  <a:pt x="4" y="52"/>
                </a:lnTo>
                <a:lnTo>
                  <a:pt x="5" y="56"/>
                </a:lnTo>
                <a:lnTo>
                  <a:pt x="5" y="59"/>
                </a:lnTo>
                <a:lnTo>
                  <a:pt x="6" y="63"/>
                </a:lnTo>
                <a:lnTo>
                  <a:pt x="7" y="67"/>
                </a:lnTo>
                <a:lnTo>
                  <a:pt x="8" y="70"/>
                </a:lnTo>
                <a:lnTo>
                  <a:pt x="9" y="74"/>
                </a:lnTo>
                <a:lnTo>
                  <a:pt x="10" y="78"/>
                </a:lnTo>
                <a:lnTo>
                  <a:pt x="11" y="82"/>
                </a:lnTo>
                <a:lnTo>
                  <a:pt x="11" y="85"/>
                </a:lnTo>
                <a:lnTo>
                  <a:pt x="11" y="89"/>
                </a:lnTo>
                <a:lnTo>
                  <a:pt x="11" y="94"/>
                </a:lnTo>
                <a:lnTo>
                  <a:pt x="11" y="98"/>
                </a:lnTo>
                <a:lnTo>
                  <a:pt x="10" y="102"/>
                </a:lnTo>
                <a:lnTo>
                  <a:pt x="9" y="107"/>
                </a:lnTo>
                <a:lnTo>
                  <a:pt x="8" y="111"/>
                </a:lnTo>
                <a:lnTo>
                  <a:pt x="6" y="116"/>
                </a:lnTo>
                <a:lnTo>
                  <a:pt x="4" y="121"/>
                </a:lnTo>
                <a:lnTo>
                  <a:pt x="3" y="126"/>
                </a:lnTo>
                <a:lnTo>
                  <a:pt x="1" y="131"/>
                </a:lnTo>
                <a:lnTo>
                  <a:pt x="0" y="135"/>
                </a:lnTo>
                <a:lnTo>
                  <a:pt x="0" y="140"/>
                </a:lnTo>
                <a:lnTo>
                  <a:pt x="0" y="144"/>
                </a:lnTo>
                <a:lnTo>
                  <a:pt x="0" y="149"/>
                </a:lnTo>
                <a:lnTo>
                  <a:pt x="0" y="153"/>
                </a:lnTo>
                <a:lnTo>
                  <a:pt x="0" y="157"/>
                </a:lnTo>
                <a:lnTo>
                  <a:pt x="1" y="162"/>
                </a:lnTo>
                <a:lnTo>
                  <a:pt x="2" y="166"/>
                </a:lnTo>
                <a:lnTo>
                  <a:pt x="2" y="170"/>
                </a:lnTo>
                <a:lnTo>
                  <a:pt x="3" y="174"/>
                </a:lnTo>
                <a:lnTo>
                  <a:pt x="4" y="178"/>
                </a:lnTo>
                <a:lnTo>
                  <a:pt x="5" y="182"/>
                </a:lnTo>
                <a:lnTo>
                  <a:pt x="6" y="186"/>
                </a:lnTo>
                <a:lnTo>
                  <a:pt x="7" y="190"/>
                </a:lnTo>
                <a:lnTo>
                  <a:pt x="8" y="194"/>
                </a:lnTo>
                <a:lnTo>
                  <a:pt x="9" y="199"/>
                </a:lnTo>
                <a:lnTo>
                  <a:pt x="10" y="203"/>
                </a:lnTo>
                <a:lnTo>
                  <a:pt x="10" y="207"/>
                </a:lnTo>
                <a:lnTo>
                  <a:pt x="11" y="212"/>
                </a:lnTo>
                <a:lnTo>
                  <a:pt x="11" y="216"/>
                </a:lnTo>
                <a:lnTo>
                  <a:pt x="11" y="221"/>
                </a:lnTo>
                <a:lnTo>
                  <a:pt x="11" y="225"/>
                </a:lnTo>
                <a:lnTo>
                  <a:pt x="10" y="230"/>
                </a:lnTo>
                <a:lnTo>
                  <a:pt x="9" y="235"/>
                </a:lnTo>
                <a:lnTo>
                  <a:pt x="8" y="240"/>
                </a:lnTo>
              </a:path>
            </a:pathLst>
          </a:custGeom>
          <a:noFill/>
          <a:ln w="39370" cap="rnd"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问题一-凝胶-聚合物链6"/>
          <p:cNvSpPr/>
          <p:nvPr/>
        </p:nvSpPr>
        <p:spPr>
          <a:xfrm>
            <a:off x="4940300" y="2660650"/>
            <a:ext cx="82550" cy="1524000"/>
          </a:xfrm>
          <a:custGeom>
            <a:avLst/>
            <a:gdLst/>
            <a:ahLst/>
            <a:cxnLst/>
            <a:rect l="l" t="t" r="r" b="b"/>
            <a:pathLst>
              <a:path w="13" h="240">
                <a:moveTo>
                  <a:pt x="13" y="0"/>
                </a:moveTo>
                <a:lnTo>
                  <a:pt x="10" y="4"/>
                </a:lnTo>
                <a:lnTo>
                  <a:pt x="8" y="9"/>
                </a:lnTo>
                <a:lnTo>
                  <a:pt x="7" y="13"/>
                </a:lnTo>
                <a:lnTo>
                  <a:pt x="5" y="17"/>
                </a:lnTo>
                <a:lnTo>
                  <a:pt x="4" y="22"/>
                </a:lnTo>
                <a:lnTo>
                  <a:pt x="4" y="26"/>
                </a:lnTo>
                <a:lnTo>
                  <a:pt x="3" y="30"/>
                </a:lnTo>
                <a:lnTo>
                  <a:pt x="4" y="34"/>
                </a:lnTo>
                <a:lnTo>
                  <a:pt x="4" y="38"/>
                </a:lnTo>
                <a:lnTo>
                  <a:pt x="4" y="42"/>
                </a:lnTo>
                <a:lnTo>
                  <a:pt x="5" y="46"/>
                </a:lnTo>
                <a:lnTo>
                  <a:pt x="6" y="50"/>
                </a:lnTo>
                <a:lnTo>
                  <a:pt x="6" y="54"/>
                </a:lnTo>
                <a:lnTo>
                  <a:pt x="7" y="58"/>
                </a:lnTo>
                <a:lnTo>
                  <a:pt x="8" y="62"/>
                </a:lnTo>
                <a:lnTo>
                  <a:pt x="9" y="66"/>
                </a:lnTo>
                <a:lnTo>
                  <a:pt x="10" y="70"/>
                </a:lnTo>
                <a:lnTo>
                  <a:pt x="11" y="74"/>
                </a:lnTo>
                <a:lnTo>
                  <a:pt x="12" y="78"/>
                </a:lnTo>
                <a:lnTo>
                  <a:pt x="12" y="82"/>
                </a:lnTo>
                <a:lnTo>
                  <a:pt x="13" y="86"/>
                </a:lnTo>
                <a:lnTo>
                  <a:pt x="13" y="90"/>
                </a:lnTo>
                <a:lnTo>
                  <a:pt x="13" y="95"/>
                </a:lnTo>
                <a:lnTo>
                  <a:pt x="12" y="99"/>
                </a:lnTo>
                <a:lnTo>
                  <a:pt x="11" y="103"/>
                </a:lnTo>
                <a:lnTo>
                  <a:pt x="10" y="108"/>
                </a:lnTo>
                <a:lnTo>
                  <a:pt x="9" y="112"/>
                </a:lnTo>
                <a:lnTo>
                  <a:pt x="7" y="117"/>
                </a:lnTo>
                <a:lnTo>
                  <a:pt x="5" y="122"/>
                </a:lnTo>
                <a:lnTo>
                  <a:pt x="3" y="126"/>
                </a:lnTo>
                <a:lnTo>
                  <a:pt x="2" y="131"/>
                </a:lnTo>
                <a:lnTo>
                  <a:pt x="1" y="135"/>
                </a:lnTo>
                <a:lnTo>
                  <a:pt x="1" y="139"/>
                </a:lnTo>
                <a:lnTo>
                  <a:pt x="0" y="144"/>
                </a:lnTo>
                <a:lnTo>
                  <a:pt x="0" y="148"/>
                </a:lnTo>
                <a:lnTo>
                  <a:pt x="0" y="152"/>
                </a:lnTo>
                <a:lnTo>
                  <a:pt x="1" y="156"/>
                </a:lnTo>
                <a:lnTo>
                  <a:pt x="1" y="160"/>
                </a:lnTo>
                <a:lnTo>
                  <a:pt x="2" y="165"/>
                </a:lnTo>
                <a:lnTo>
                  <a:pt x="3" y="169"/>
                </a:lnTo>
                <a:lnTo>
                  <a:pt x="3" y="173"/>
                </a:lnTo>
                <a:lnTo>
                  <a:pt x="4" y="177"/>
                </a:lnTo>
                <a:lnTo>
                  <a:pt x="5" y="181"/>
                </a:lnTo>
                <a:lnTo>
                  <a:pt x="6" y="185"/>
                </a:lnTo>
                <a:lnTo>
                  <a:pt x="7" y="190"/>
                </a:lnTo>
                <a:lnTo>
                  <a:pt x="8" y="194"/>
                </a:lnTo>
                <a:lnTo>
                  <a:pt x="8" y="198"/>
                </a:lnTo>
                <a:lnTo>
                  <a:pt x="9" y="203"/>
                </a:lnTo>
                <a:lnTo>
                  <a:pt x="10" y="207"/>
                </a:lnTo>
                <a:lnTo>
                  <a:pt x="10" y="211"/>
                </a:lnTo>
                <a:lnTo>
                  <a:pt x="10" y="216"/>
                </a:lnTo>
                <a:lnTo>
                  <a:pt x="10" y="221"/>
                </a:lnTo>
                <a:lnTo>
                  <a:pt x="9" y="225"/>
                </a:lnTo>
                <a:lnTo>
                  <a:pt x="8" y="230"/>
                </a:lnTo>
                <a:lnTo>
                  <a:pt x="7" y="235"/>
                </a:lnTo>
                <a:lnTo>
                  <a:pt x="6" y="240"/>
                </a:lnTo>
              </a:path>
            </a:pathLst>
          </a:custGeom>
          <a:noFill/>
          <a:ln w="39370" cap="rnd"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问题一-凝胶-节点1-交联节点"/>
          <p:cNvSpPr/>
          <p:nvPr/>
        </p:nvSpPr>
        <p:spPr>
          <a:xfrm>
            <a:off x="2381250" y="2755900"/>
            <a:ext cx="88900" cy="889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问题一-凝胶-节点1-节点高光"/>
          <p:cNvSpPr/>
          <p:nvPr/>
        </p:nvSpPr>
        <p:spPr>
          <a:xfrm>
            <a:off x="2397442" y="2775648"/>
            <a:ext cx="31115" cy="24003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问题一-凝胶-节点2-交联节点"/>
          <p:cNvSpPr/>
          <p:nvPr/>
        </p:nvSpPr>
        <p:spPr>
          <a:xfrm>
            <a:off x="3702050" y="2749550"/>
            <a:ext cx="88900" cy="889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问题一-凝胶-节点2-节点高光"/>
          <p:cNvSpPr/>
          <p:nvPr/>
        </p:nvSpPr>
        <p:spPr>
          <a:xfrm>
            <a:off x="3718242" y="2769298"/>
            <a:ext cx="31115" cy="24003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问题一-凝胶-节点3-交联节点"/>
          <p:cNvSpPr/>
          <p:nvPr/>
        </p:nvSpPr>
        <p:spPr>
          <a:xfrm>
            <a:off x="4953000" y="2762250"/>
            <a:ext cx="88900" cy="889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问题一-凝胶-节点3-节点高光"/>
          <p:cNvSpPr/>
          <p:nvPr/>
        </p:nvSpPr>
        <p:spPr>
          <a:xfrm>
            <a:off x="4969192" y="2781998"/>
            <a:ext cx="31115" cy="24003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问题一-凝胶-节点4-交联节点"/>
          <p:cNvSpPr/>
          <p:nvPr/>
        </p:nvSpPr>
        <p:spPr>
          <a:xfrm>
            <a:off x="2368550" y="3429000"/>
            <a:ext cx="88900" cy="889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问题一-凝胶-节点4-节点高光"/>
          <p:cNvSpPr/>
          <p:nvPr/>
        </p:nvSpPr>
        <p:spPr>
          <a:xfrm>
            <a:off x="2384742" y="3448748"/>
            <a:ext cx="31115" cy="24003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问题一-凝胶-节点5-交联节点"/>
          <p:cNvSpPr/>
          <p:nvPr/>
        </p:nvSpPr>
        <p:spPr>
          <a:xfrm>
            <a:off x="3689350" y="3435350"/>
            <a:ext cx="88900" cy="889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问题一-凝胶-节点5-节点高光"/>
          <p:cNvSpPr/>
          <p:nvPr/>
        </p:nvSpPr>
        <p:spPr>
          <a:xfrm>
            <a:off x="3705542" y="3455098"/>
            <a:ext cx="31115" cy="24003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问题一-凝胶-节点6-交联节点"/>
          <p:cNvSpPr/>
          <p:nvPr/>
        </p:nvSpPr>
        <p:spPr>
          <a:xfrm>
            <a:off x="4946650" y="3435350"/>
            <a:ext cx="88900" cy="889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问题一-凝胶-节点6-节点高光"/>
          <p:cNvSpPr/>
          <p:nvPr/>
        </p:nvSpPr>
        <p:spPr>
          <a:xfrm>
            <a:off x="4962842" y="3455098"/>
            <a:ext cx="31115" cy="24003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问题一-凝胶-节点7-交联节点"/>
          <p:cNvSpPr/>
          <p:nvPr/>
        </p:nvSpPr>
        <p:spPr>
          <a:xfrm>
            <a:off x="2393950" y="3981450"/>
            <a:ext cx="88900" cy="889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问题一-凝胶-节点7-节点高光"/>
          <p:cNvSpPr/>
          <p:nvPr/>
        </p:nvSpPr>
        <p:spPr>
          <a:xfrm>
            <a:off x="2410142" y="4001198"/>
            <a:ext cx="31115" cy="24003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问题一-凝胶-节点8-交联节点"/>
          <p:cNvSpPr/>
          <p:nvPr/>
        </p:nvSpPr>
        <p:spPr>
          <a:xfrm>
            <a:off x="3714750" y="3981450"/>
            <a:ext cx="88900" cy="889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问题一-凝胶-节点8-节点高光"/>
          <p:cNvSpPr/>
          <p:nvPr/>
        </p:nvSpPr>
        <p:spPr>
          <a:xfrm>
            <a:off x="3730942" y="4001198"/>
            <a:ext cx="31115" cy="24003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问题一-凝胶-节点9-交联节点"/>
          <p:cNvSpPr/>
          <p:nvPr/>
        </p:nvSpPr>
        <p:spPr>
          <a:xfrm>
            <a:off x="4933950" y="3981450"/>
            <a:ext cx="88900" cy="889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问题一-凝胶-节点9-节点高光"/>
          <p:cNvSpPr/>
          <p:nvPr/>
        </p:nvSpPr>
        <p:spPr>
          <a:xfrm>
            <a:off x="4950142" y="4001198"/>
            <a:ext cx="31115" cy="24003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问题一-凝胶-自由溶剂1-溶剂符号"/>
          <p:cNvSpPr/>
          <p:nvPr/>
        </p:nvSpPr>
        <p:spPr>
          <a:xfrm>
            <a:off x="2025650" y="2986786"/>
            <a:ext cx="152400" cy="109728"/>
          </a:xfrm>
          <a:prstGeom prst="ellipse">
            <a:avLst/>
          </a:prstGeom>
          <a:solidFill>
            <a:srgbClr val="C4E6F5"/>
          </a:solidFill>
          <a:ln w="6350" cap="rnd">
            <a:solidFill>
              <a:srgbClr val="8B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问题一-凝胶-自由溶剂1-溶剂文字"/>
          <p:cNvSpPr txBox="1"/>
          <p:nvPr/>
        </p:nvSpPr>
        <p:spPr>
          <a:xfrm>
            <a:off x="2066131" y="2982436"/>
            <a:ext cx="96837" cy="1130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50">
                <a:solidFill>
                  <a:srgbClr val="2B6FA9"/>
                </a:solidFill>
                <a:latin typeface="Arial"/>
              </a:rPr>
              <a:t>S</a:t>
            </a:r>
          </a:p>
        </p:txBody>
      </p:sp>
      <p:sp>
        <p:nvSpPr>
          <p:cNvPr id="78" name="问题一-凝胶-自由溶剂2-溶剂符号"/>
          <p:cNvSpPr/>
          <p:nvPr/>
        </p:nvSpPr>
        <p:spPr>
          <a:xfrm>
            <a:off x="2660650" y="3786886"/>
            <a:ext cx="152400" cy="109728"/>
          </a:xfrm>
          <a:prstGeom prst="ellipse">
            <a:avLst/>
          </a:prstGeom>
          <a:solidFill>
            <a:srgbClr val="C4E6F5"/>
          </a:solidFill>
          <a:ln w="6350" cap="rnd">
            <a:solidFill>
              <a:srgbClr val="8B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问题一-凝胶-自由溶剂2-溶剂文字"/>
          <p:cNvSpPr txBox="1"/>
          <p:nvPr/>
        </p:nvSpPr>
        <p:spPr>
          <a:xfrm>
            <a:off x="2701131" y="3782536"/>
            <a:ext cx="96837" cy="1130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50">
                <a:solidFill>
                  <a:srgbClr val="2B6FA9"/>
                </a:solidFill>
                <a:latin typeface="Arial"/>
              </a:rPr>
              <a:t>S</a:t>
            </a:r>
          </a:p>
        </p:txBody>
      </p:sp>
      <p:sp>
        <p:nvSpPr>
          <p:cNvPr id="80" name="问题一-凝胶-自由溶剂3-溶剂符号"/>
          <p:cNvSpPr/>
          <p:nvPr/>
        </p:nvSpPr>
        <p:spPr>
          <a:xfrm>
            <a:off x="4013200" y="3767836"/>
            <a:ext cx="152400" cy="109728"/>
          </a:xfrm>
          <a:prstGeom prst="ellipse">
            <a:avLst/>
          </a:prstGeom>
          <a:solidFill>
            <a:srgbClr val="C4E6F5"/>
          </a:solidFill>
          <a:ln w="6350" cap="rnd">
            <a:solidFill>
              <a:srgbClr val="8B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问题一-凝胶-自由溶剂3-溶剂文字"/>
          <p:cNvSpPr txBox="1"/>
          <p:nvPr/>
        </p:nvSpPr>
        <p:spPr>
          <a:xfrm>
            <a:off x="4053681" y="3763486"/>
            <a:ext cx="96837" cy="1130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50">
                <a:solidFill>
                  <a:srgbClr val="2B6FA9"/>
                </a:solidFill>
                <a:latin typeface="Arial"/>
              </a:rPr>
              <a:t>S</a:t>
            </a:r>
          </a:p>
        </p:txBody>
      </p:sp>
      <p:sp>
        <p:nvSpPr>
          <p:cNvPr id="82" name="问题一-凝胶-自由溶剂4-溶剂符号"/>
          <p:cNvSpPr/>
          <p:nvPr/>
        </p:nvSpPr>
        <p:spPr>
          <a:xfrm>
            <a:off x="5251450" y="3691636"/>
            <a:ext cx="152400" cy="109728"/>
          </a:xfrm>
          <a:prstGeom prst="ellipse">
            <a:avLst/>
          </a:prstGeom>
          <a:solidFill>
            <a:srgbClr val="C4E6F5"/>
          </a:solidFill>
          <a:ln w="6350" cap="rnd">
            <a:solidFill>
              <a:srgbClr val="8B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问题一-凝胶-自由溶剂4-溶剂文字"/>
          <p:cNvSpPr txBox="1"/>
          <p:nvPr/>
        </p:nvSpPr>
        <p:spPr>
          <a:xfrm>
            <a:off x="5291931" y="3687286"/>
            <a:ext cx="96837" cy="1130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50">
                <a:solidFill>
                  <a:srgbClr val="2B6FA9"/>
                </a:solidFill>
                <a:latin typeface="Arial"/>
              </a:rPr>
              <a:t>S</a:t>
            </a:r>
          </a:p>
        </p:txBody>
      </p:sp>
      <p:sp>
        <p:nvSpPr>
          <p:cNvPr id="84" name="问题一-凝胶-自由溶剂5-溶剂符号"/>
          <p:cNvSpPr/>
          <p:nvPr/>
        </p:nvSpPr>
        <p:spPr>
          <a:xfrm>
            <a:off x="4286250" y="3050286"/>
            <a:ext cx="152400" cy="109728"/>
          </a:xfrm>
          <a:prstGeom prst="ellipse">
            <a:avLst/>
          </a:prstGeom>
          <a:solidFill>
            <a:srgbClr val="C4E6F5"/>
          </a:solidFill>
          <a:ln w="6350" cap="rnd">
            <a:solidFill>
              <a:srgbClr val="8B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问题一-凝胶-自由溶剂5-溶剂文字"/>
          <p:cNvSpPr txBox="1"/>
          <p:nvPr/>
        </p:nvSpPr>
        <p:spPr>
          <a:xfrm>
            <a:off x="4326731" y="3045936"/>
            <a:ext cx="96837" cy="1130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50">
                <a:solidFill>
                  <a:srgbClr val="2B6FA9"/>
                </a:solidFill>
                <a:latin typeface="Arial"/>
              </a:rPr>
              <a:t>S</a:t>
            </a:r>
          </a:p>
        </p:txBody>
      </p:sp>
      <p:sp>
        <p:nvSpPr>
          <p:cNvPr id="86" name="问题一-凝胶-自由溶剂6-溶剂符号"/>
          <p:cNvSpPr/>
          <p:nvPr/>
        </p:nvSpPr>
        <p:spPr>
          <a:xfrm>
            <a:off x="5448300" y="3031236"/>
            <a:ext cx="152400" cy="109728"/>
          </a:xfrm>
          <a:prstGeom prst="ellipse">
            <a:avLst/>
          </a:prstGeom>
          <a:solidFill>
            <a:srgbClr val="C4E6F5"/>
          </a:solidFill>
          <a:ln w="6350" cap="rnd">
            <a:solidFill>
              <a:srgbClr val="8B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问题一-凝胶-自由溶剂6-溶剂文字"/>
          <p:cNvSpPr txBox="1"/>
          <p:nvPr/>
        </p:nvSpPr>
        <p:spPr>
          <a:xfrm>
            <a:off x="5488781" y="3026886"/>
            <a:ext cx="96837" cy="1130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50">
                <a:solidFill>
                  <a:srgbClr val="2B6FA9"/>
                </a:solidFill>
                <a:latin typeface="Arial"/>
              </a:rPr>
              <a:t>S</a:t>
            </a:r>
          </a:p>
        </p:txBody>
      </p:sp>
      <p:sp>
        <p:nvSpPr>
          <p:cNvPr id="88" name="问题一-凝胶-局部团聚区域"/>
          <p:cNvSpPr/>
          <p:nvPr/>
        </p:nvSpPr>
        <p:spPr>
          <a:xfrm>
            <a:off x="4425950" y="3035300"/>
            <a:ext cx="952500" cy="571500"/>
          </a:xfrm>
          <a:prstGeom prst="ellipse">
            <a:avLst/>
          </a:prstGeom>
          <a:solidFill>
            <a:srgbClr val="EEF1F5"/>
          </a:solidFill>
          <a:ln w="10795" cap="rnd">
            <a:solidFill>
              <a:srgbClr val="9AA9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问题一-凝胶-团聚文字"/>
          <p:cNvSpPr txBox="1"/>
          <p:nvPr/>
        </p:nvSpPr>
        <p:spPr>
          <a:xfrm>
            <a:off x="4616450" y="3158807"/>
            <a:ext cx="596900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64768A"/>
                </a:solidFill>
                <a:latin typeface="Microsoft YaHei"/>
                <a:ea typeface="Microsoft YaHei"/>
              </a:rPr>
              <a:t>局部团聚</a:t>
            </a:r>
          </a:p>
        </p:txBody>
      </p:sp>
      <p:sp>
        <p:nvSpPr>
          <p:cNvPr id="90" name="问题一-凝胶-通道文字"/>
          <p:cNvSpPr txBox="1"/>
          <p:nvPr/>
        </p:nvSpPr>
        <p:spPr>
          <a:xfrm>
            <a:off x="4610100" y="3349942"/>
            <a:ext cx="609600" cy="1565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4768A"/>
                </a:solidFill>
                <a:latin typeface="Microsoft YaHei"/>
                <a:ea typeface="Microsoft YaHei"/>
              </a:rPr>
              <a:t>通道不连续</a:t>
            </a:r>
          </a:p>
        </p:txBody>
      </p:sp>
      <p:sp>
        <p:nvSpPr>
          <p:cNvPr id="91" name="问题一-凝胶-曲折迁移路径"/>
          <p:cNvSpPr/>
          <p:nvPr/>
        </p:nvSpPr>
        <p:spPr>
          <a:xfrm>
            <a:off x="2101850" y="2641600"/>
            <a:ext cx="3441700" cy="1492250"/>
          </a:xfrm>
          <a:custGeom>
            <a:avLst/>
            <a:gdLst/>
            <a:ahLst/>
            <a:cxnLst/>
            <a:rect l="l" t="t" r="r" b="b"/>
            <a:pathLst>
              <a:path w="542" h="235">
                <a:moveTo>
                  <a:pt x="0" y="235"/>
                </a:moveTo>
                <a:lnTo>
                  <a:pt x="3" y="232"/>
                </a:lnTo>
                <a:lnTo>
                  <a:pt x="5" y="229"/>
                </a:lnTo>
                <a:lnTo>
                  <a:pt x="7" y="227"/>
                </a:lnTo>
                <a:lnTo>
                  <a:pt x="9" y="224"/>
                </a:lnTo>
                <a:lnTo>
                  <a:pt x="12" y="221"/>
                </a:lnTo>
                <a:lnTo>
                  <a:pt x="14" y="218"/>
                </a:lnTo>
                <a:lnTo>
                  <a:pt x="15" y="215"/>
                </a:lnTo>
                <a:lnTo>
                  <a:pt x="17" y="212"/>
                </a:lnTo>
                <a:lnTo>
                  <a:pt x="19" y="208"/>
                </a:lnTo>
                <a:lnTo>
                  <a:pt x="20" y="205"/>
                </a:lnTo>
                <a:lnTo>
                  <a:pt x="22" y="202"/>
                </a:lnTo>
                <a:lnTo>
                  <a:pt x="23" y="199"/>
                </a:lnTo>
                <a:lnTo>
                  <a:pt x="24" y="196"/>
                </a:lnTo>
                <a:lnTo>
                  <a:pt x="25" y="192"/>
                </a:lnTo>
                <a:lnTo>
                  <a:pt x="25" y="189"/>
                </a:lnTo>
                <a:lnTo>
                  <a:pt x="26" y="186"/>
                </a:lnTo>
                <a:lnTo>
                  <a:pt x="26" y="183"/>
                </a:lnTo>
                <a:lnTo>
                  <a:pt x="27" y="179"/>
                </a:lnTo>
                <a:lnTo>
                  <a:pt x="27" y="176"/>
                </a:lnTo>
                <a:lnTo>
                  <a:pt x="27" y="173"/>
                </a:lnTo>
                <a:lnTo>
                  <a:pt x="26" y="170"/>
                </a:lnTo>
                <a:lnTo>
                  <a:pt x="26" y="167"/>
                </a:lnTo>
                <a:lnTo>
                  <a:pt x="25" y="164"/>
                </a:lnTo>
                <a:lnTo>
                  <a:pt x="24" y="161"/>
                </a:lnTo>
                <a:lnTo>
                  <a:pt x="23" y="158"/>
                </a:lnTo>
                <a:lnTo>
                  <a:pt x="21" y="155"/>
                </a:lnTo>
                <a:lnTo>
                  <a:pt x="20" y="152"/>
                </a:lnTo>
                <a:lnTo>
                  <a:pt x="18" y="149"/>
                </a:lnTo>
                <a:lnTo>
                  <a:pt x="16" y="146"/>
                </a:lnTo>
                <a:lnTo>
                  <a:pt x="14" y="142"/>
                </a:lnTo>
                <a:lnTo>
                  <a:pt x="13" y="139"/>
                </a:lnTo>
                <a:lnTo>
                  <a:pt x="12" y="135"/>
                </a:lnTo>
                <a:lnTo>
                  <a:pt x="12" y="132"/>
                </a:lnTo>
                <a:lnTo>
                  <a:pt x="12" y="129"/>
                </a:lnTo>
                <a:lnTo>
                  <a:pt x="12" y="126"/>
                </a:lnTo>
                <a:lnTo>
                  <a:pt x="13" y="123"/>
                </a:lnTo>
                <a:lnTo>
                  <a:pt x="13" y="121"/>
                </a:lnTo>
                <a:lnTo>
                  <a:pt x="15" y="118"/>
                </a:lnTo>
                <a:lnTo>
                  <a:pt x="16" y="115"/>
                </a:lnTo>
                <a:lnTo>
                  <a:pt x="18" y="113"/>
                </a:lnTo>
                <a:lnTo>
                  <a:pt x="20" y="110"/>
                </a:lnTo>
                <a:lnTo>
                  <a:pt x="22" y="108"/>
                </a:lnTo>
                <a:lnTo>
                  <a:pt x="25" y="106"/>
                </a:lnTo>
                <a:lnTo>
                  <a:pt x="28" y="104"/>
                </a:lnTo>
                <a:lnTo>
                  <a:pt x="31" y="102"/>
                </a:lnTo>
                <a:lnTo>
                  <a:pt x="34" y="100"/>
                </a:lnTo>
                <a:lnTo>
                  <a:pt x="37" y="98"/>
                </a:lnTo>
                <a:lnTo>
                  <a:pt x="41" y="96"/>
                </a:lnTo>
                <a:lnTo>
                  <a:pt x="45" y="95"/>
                </a:lnTo>
                <a:lnTo>
                  <a:pt x="48" y="93"/>
                </a:lnTo>
                <a:lnTo>
                  <a:pt x="52" y="92"/>
                </a:lnTo>
                <a:lnTo>
                  <a:pt x="57" y="91"/>
                </a:lnTo>
                <a:lnTo>
                  <a:pt x="61" y="90"/>
                </a:lnTo>
                <a:lnTo>
                  <a:pt x="65" y="89"/>
                </a:lnTo>
                <a:lnTo>
                  <a:pt x="70" y="88"/>
                </a:lnTo>
                <a:lnTo>
                  <a:pt x="74" y="87"/>
                </a:lnTo>
                <a:lnTo>
                  <a:pt x="79" y="86"/>
                </a:lnTo>
                <a:lnTo>
                  <a:pt x="84" y="85"/>
                </a:lnTo>
                <a:lnTo>
                  <a:pt x="88" y="83"/>
                </a:lnTo>
                <a:lnTo>
                  <a:pt x="92" y="80"/>
                </a:lnTo>
                <a:lnTo>
                  <a:pt x="95" y="78"/>
                </a:lnTo>
                <a:lnTo>
                  <a:pt x="99" y="75"/>
                </a:lnTo>
                <a:lnTo>
                  <a:pt x="102" y="72"/>
                </a:lnTo>
                <a:lnTo>
                  <a:pt x="105" y="68"/>
                </a:lnTo>
                <a:lnTo>
                  <a:pt x="107" y="65"/>
                </a:lnTo>
                <a:lnTo>
                  <a:pt x="110" y="61"/>
                </a:lnTo>
                <a:lnTo>
                  <a:pt x="112" y="57"/>
                </a:lnTo>
                <a:lnTo>
                  <a:pt x="114" y="53"/>
                </a:lnTo>
                <a:lnTo>
                  <a:pt x="117" y="49"/>
                </a:lnTo>
                <a:lnTo>
                  <a:pt x="119" y="44"/>
                </a:lnTo>
                <a:lnTo>
                  <a:pt x="121" y="40"/>
                </a:lnTo>
                <a:lnTo>
                  <a:pt x="123" y="36"/>
                </a:lnTo>
                <a:lnTo>
                  <a:pt x="125" y="32"/>
                </a:lnTo>
                <a:lnTo>
                  <a:pt x="127" y="28"/>
                </a:lnTo>
                <a:lnTo>
                  <a:pt x="129" y="24"/>
                </a:lnTo>
                <a:lnTo>
                  <a:pt x="132" y="21"/>
                </a:lnTo>
                <a:lnTo>
                  <a:pt x="134" y="17"/>
                </a:lnTo>
                <a:lnTo>
                  <a:pt x="137" y="14"/>
                </a:lnTo>
                <a:lnTo>
                  <a:pt x="140" y="11"/>
                </a:lnTo>
                <a:lnTo>
                  <a:pt x="143" y="9"/>
                </a:lnTo>
                <a:lnTo>
                  <a:pt x="146" y="6"/>
                </a:lnTo>
                <a:lnTo>
                  <a:pt x="150" y="4"/>
                </a:lnTo>
                <a:lnTo>
                  <a:pt x="154" y="3"/>
                </a:lnTo>
                <a:lnTo>
                  <a:pt x="158" y="2"/>
                </a:lnTo>
                <a:lnTo>
                  <a:pt x="163" y="1"/>
                </a:lnTo>
                <a:lnTo>
                  <a:pt x="168" y="1"/>
                </a:lnTo>
                <a:lnTo>
                  <a:pt x="173" y="0"/>
                </a:lnTo>
                <a:lnTo>
                  <a:pt x="177" y="0"/>
                </a:lnTo>
                <a:lnTo>
                  <a:pt x="181" y="0"/>
                </a:lnTo>
                <a:lnTo>
                  <a:pt x="186" y="0"/>
                </a:lnTo>
                <a:lnTo>
                  <a:pt x="190" y="1"/>
                </a:lnTo>
                <a:lnTo>
                  <a:pt x="193" y="1"/>
                </a:lnTo>
                <a:lnTo>
                  <a:pt x="197" y="2"/>
                </a:lnTo>
                <a:lnTo>
                  <a:pt x="201" y="3"/>
                </a:lnTo>
                <a:lnTo>
                  <a:pt x="204" y="3"/>
                </a:lnTo>
                <a:lnTo>
                  <a:pt x="208" y="4"/>
                </a:lnTo>
                <a:lnTo>
                  <a:pt x="212" y="5"/>
                </a:lnTo>
                <a:lnTo>
                  <a:pt x="215" y="6"/>
                </a:lnTo>
                <a:lnTo>
                  <a:pt x="219" y="8"/>
                </a:lnTo>
                <a:lnTo>
                  <a:pt x="223" y="9"/>
                </a:lnTo>
                <a:lnTo>
                  <a:pt x="226" y="10"/>
                </a:lnTo>
                <a:lnTo>
                  <a:pt x="230" y="12"/>
                </a:lnTo>
                <a:lnTo>
                  <a:pt x="234" y="13"/>
                </a:lnTo>
                <a:lnTo>
                  <a:pt x="238" y="15"/>
                </a:lnTo>
                <a:lnTo>
                  <a:pt x="242" y="16"/>
                </a:lnTo>
                <a:lnTo>
                  <a:pt x="246" y="18"/>
                </a:lnTo>
                <a:lnTo>
                  <a:pt x="251" y="19"/>
                </a:lnTo>
                <a:lnTo>
                  <a:pt x="256" y="20"/>
                </a:lnTo>
                <a:lnTo>
                  <a:pt x="261" y="22"/>
                </a:lnTo>
                <a:lnTo>
                  <a:pt x="266" y="23"/>
                </a:lnTo>
                <a:lnTo>
                  <a:pt x="271" y="25"/>
                </a:lnTo>
                <a:lnTo>
                  <a:pt x="277" y="26"/>
                </a:lnTo>
                <a:lnTo>
                  <a:pt x="283" y="28"/>
                </a:lnTo>
                <a:lnTo>
                  <a:pt x="289" y="30"/>
                </a:lnTo>
                <a:lnTo>
                  <a:pt x="294" y="32"/>
                </a:lnTo>
                <a:lnTo>
                  <a:pt x="298" y="35"/>
                </a:lnTo>
                <a:lnTo>
                  <a:pt x="302" y="37"/>
                </a:lnTo>
                <a:lnTo>
                  <a:pt x="306" y="41"/>
                </a:lnTo>
                <a:lnTo>
                  <a:pt x="309" y="44"/>
                </a:lnTo>
                <a:lnTo>
                  <a:pt x="312" y="47"/>
                </a:lnTo>
                <a:lnTo>
                  <a:pt x="314" y="51"/>
                </a:lnTo>
                <a:lnTo>
                  <a:pt x="316" y="55"/>
                </a:lnTo>
                <a:lnTo>
                  <a:pt x="318" y="59"/>
                </a:lnTo>
                <a:lnTo>
                  <a:pt x="320" y="63"/>
                </a:lnTo>
                <a:lnTo>
                  <a:pt x="321" y="67"/>
                </a:lnTo>
                <a:lnTo>
                  <a:pt x="323" y="72"/>
                </a:lnTo>
                <a:lnTo>
                  <a:pt x="324" y="76"/>
                </a:lnTo>
                <a:lnTo>
                  <a:pt x="325" y="81"/>
                </a:lnTo>
                <a:lnTo>
                  <a:pt x="326" y="85"/>
                </a:lnTo>
                <a:lnTo>
                  <a:pt x="327" y="89"/>
                </a:lnTo>
                <a:lnTo>
                  <a:pt x="328" y="94"/>
                </a:lnTo>
                <a:lnTo>
                  <a:pt x="329" y="98"/>
                </a:lnTo>
                <a:lnTo>
                  <a:pt x="330" y="102"/>
                </a:lnTo>
                <a:lnTo>
                  <a:pt x="331" y="106"/>
                </a:lnTo>
                <a:lnTo>
                  <a:pt x="333" y="110"/>
                </a:lnTo>
                <a:lnTo>
                  <a:pt x="335" y="114"/>
                </a:lnTo>
                <a:lnTo>
                  <a:pt x="337" y="118"/>
                </a:lnTo>
                <a:lnTo>
                  <a:pt x="339" y="122"/>
                </a:lnTo>
                <a:lnTo>
                  <a:pt x="341" y="125"/>
                </a:lnTo>
                <a:lnTo>
                  <a:pt x="344" y="128"/>
                </a:lnTo>
                <a:lnTo>
                  <a:pt x="346" y="131"/>
                </a:lnTo>
                <a:lnTo>
                  <a:pt x="349" y="133"/>
                </a:lnTo>
                <a:lnTo>
                  <a:pt x="351" y="136"/>
                </a:lnTo>
                <a:lnTo>
                  <a:pt x="354" y="139"/>
                </a:lnTo>
                <a:lnTo>
                  <a:pt x="356" y="141"/>
                </a:lnTo>
                <a:lnTo>
                  <a:pt x="359" y="144"/>
                </a:lnTo>
                <a:lnTo>
                  <a:pt x="362" y="146"/>
                </a:lnTo>
                <a:lnTo>
                  <a:pt x="364" y="148"/>
                </a:lnTo>
                <a:lnTo>
                  <a:pt x="367" y="150"/>
                </a:lnTo>
                <a:lnTo>
                  <a:pt x="370" y="152"/>
                </a:lnTo>
                <a:lnTo>
                  <a:pt x="372" y="154"/>
                </a:lnTo>
                <a:lnTo>
                  <a:pt x="375" y="156"/>
                </a:lnTo>
                <a:lnTo>
                  <a:pt x="378" y="158"/>
                </a:lnTo>
                <a:lnTo>
                  <a:pt x="381" y="159"/>
                </a:lnTo>
                <a:lnTo>
                  <a:pt x="383" y="160"/>
                </a:lnTo>
                <a:lnTo>
                  <a:pt x="386" y="162"/>
                </a:lnTo>
                <a:lnTo>
                  <a:pt x="389" y="163"/>
                </a:lnTo>
                <a:lnTo>
                  <a:pt x="392" y="164"/>
                </a:lnTo>
                <a:lnTo>
                  <a:pt x="395" y="164"/>
                </a:lnTo>
                <a:lnTo>
                  <a:pt x="398" y="165"/>
                </a:lnTo>
                <a:lnTo>
                  <a:pt x="401" y="165"/>
                </a:lnTo>
                <a:lnTo>
                  <a:pt x="404" y="165"/>
                </a:lnTo>
                <a:lnTo>
                  <a:pt x="406" y="165"/>
                </a:lnTo>
                <a:lnTo>
                  <a:pt x="409" y="165"/>
                </a:lnTo>
                <a:lnTo>
                  <a:pt x="412" y="164"/>
                </a:lnTo>
                <a:lnTo>
                  <a:pt x="415" y="163"/>
                </a:lnTo>
                <a:lnTo>
                  <a:pt x="418" y="162"/>
                </a:lnTo>
                <a:lnTo>
                  <a:pt x="421" y="161"/>
                </a:lnTo>
                <a:lnTo>
                  <a:pt x="427" y="158"/>
                </a:lnTo>
                <a:lnTo>
                  <a:pt x="433" y="155"/>
                </a:lnTo>
                <a:lnTo>
                  <a:pt x="438" y="152"/>
                </a:lnTo>
                <a:lnTo>
                  <a:pt x="443" y="148"/>
                </a:lnTo>
                <a:lnTo>
                  <a:pt x="449" y="144"/>
                </a:lnTo>
                <a:lnTo>
                  <a:pt x="454" y="140"/>
                </a:lnTo>
                <a:lnTo>
                  <a:pt x="459" y="136"/>
                </a:lnTo>
                <a:lnTo>
                  <a:pt x="464" y="131"/>
                </a:lnTo>
                <a:lnTo>
                  <a:pt x="469" y="126"/>
                </a:lnTo>
                <a:lnTo>
                  <a:pt x="473" y="121"/>
                </a:lnTo>
                <a:lnTo>
                  <a:pt x="478" y="116"/>
                </a:lnTo>
                <a:lnTo>
                  <a:pt x="483" y="111"/>
                </a:lnTo>
                <a:lnTo>
                  <a:pt x="487" y="105"/>
                </a:lnTo>
                <a:lnTo>
                  <a:pt x="491" y="99"/>
                </a:lnTo>
                <a:lnTo>
                  <a:pt x="495" y="93"/>
                </a:lnTo>
                <a:lnTo>
                  <a:pt x="500" y="87"/>
                </a:lnTo>
                <a:lnTo>
                  <a:pt x="504" y="81"/>
                </a:lnTo>
                <a:lnTo>
                  <a:pt x="507" y="75"/>
                </a:lnTo>
                <a:lnTo>
                  <a:pt x="511" y="69"/>
                </a:lnTo>
                <a:lnTo>
                  <a:pt x="515" y="62"/>
                </a:lnTo>
                <a:lnTo>
                  <a:pt x="519" y="56"/>
                </a:lnTo>
                <a:lnTo>
                  <a:pt x="522" y="49"/>
                </a:lnTo>
                <a:lnTo>
                  <a:pt x="526" y="43"/>
                </a:lnTo>
                <a:lnTo>
                  <a:pt x="529" y="36"/>
                </a:lnTo>
                <a:lnTo>
                  <a:pt x="532" y="30"/>
                </a:lnTo>
                <a:lnTo>
                  <a:pt x="536" y="23"/>
                </a:lnTo>
                <a:lnTo>
                  <a:pt x="539" y="17"/>
                </a:lnTo>
                <a:lnTo>
                  <a:pt x="542" y="10"/>
                </a:lnTo>
              </a:path>
            </a:pathLst>
          </a:custGeom>
          <a:noFill/>
          <a:ln w="28575" cap="rnd">
            <a:solidFill>
              <a:srgbClr val="CC92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问题一-凝胶-曲折迁移路径-箭头"/>
          <p:cNvSpPr/>
          <p:nvPr/>
        </p:nvSpPr>
        <p:spPr>
          <a:xfrm>
            <a:off x="5480050" y="2705100"/>
            <a:ext cx="63500" cy="82550"/>
          </a:xfrm>
          <a:custGeom>
            <a:avLst/>
            <a:gdLst/>
            <a:ahLst/>
            <a:cxnLst/>
            <a:rect l="l" t="t" r="r" b="b"/>
            <a:pathLst>
              <a:path w="10" h="13">
                <a:moveTo>
                  <a:pt x="10" y="0"/>
                </a:moveTo>
                <a:lnTo>
                  <a:pt x="10" y="13"/>
                </a:lnTo>
                <a:lnTo>
                  <a:pt x="0" y="8"/>
                </a:lnTo>
                <a:close/>
              </a:path>
            </a:pathLst>
          </a:custGeom>
          <a:solidFill>
            <a:srgbClr val="CC9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问题一-凝胶-曲折路径标注"/>
          <p:cNvSpPr txBox="1"/>
          <p:nvPr/>
        </p:nvSpPr>
        <p:spPr>
          <a:xfrm>
            <a:off x="4235450" y="4073207"/>
            <a:ext cx="876300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CC9232"/>
                </a:solidFill>
                <a:latin typeface="Microsoft YaHei"/>
                <a:ea typeface="Microsoft YaHei"/>
              </a:rPr>
              <a:t>更曲折的路径</a:t>
            </a:r>
          </a:p>
        </p:txBody>
      </p:sp>
      <p:cxnSp>
        <p:nvCxnSpPr>
          <p:cNvPr id="94" name="问题一-凝胶-极性位点连接"/>
          <p:cNvCxnSpPr/>
          <p:nvPr/>
        </p:nvCxnSpPr>
        <p:spPr>
          <a:xfrm>
            <a:off x="3181350" y="2825750"/>
            <a:ext cx="88900" cy="133350"/>
          </a:xfrm>
          <a:prstGeom prst="line">
            <a:avLst/>
          </a:prstGeom>
          <a:ln w="19050" cap="rnd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问题一-凝胶-极性位点"/>
          <p:cNvSpPr/>
          <p:nvPr/>
        </p:nvSpPr>
        <p:spPr>
          <a:xfrm>
            <a:off x="3244850" y="2946400"/>
            <a:ext cx="114300" cy="114300"/>
          </a:xfrm>
          <a:prstGeom prst="ellipse">
            <a:avLst/>
          </a:prstGeom>
          <a:solidFill>
            <a:srgbClr val="BE5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问题一-凝胶-位点配位虚线"/>
          <p:cNvCxnSpPr/>
          <p:nvPr/>
        </p:nvCxnSpPr>
        <p:spPr>
          <a:xfrm>
            <a:off x="3333750" y="3060700"/>
            <a:ext cx="82550" cy="88900"/>
          </a:xfrm>
          <a:prstGeom prst="line">
            <a:avLst/>
          </a:prstGeom>
          <a:ln w="13970" cap="rnd">
            <a:solidFill>
              <a:srgbClr val="BE5D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问题一-凝胶-局部溶剂1-溶剂符号"/>
          <p:cNvSpPr/>
          <p:nvPr/>
        </p:nvSpPr>
        <p:spPr>
          <a:xfrm>
            <a:off x="3594100" y="3001264"/>
            <a:ext cx="165100" cy="118872"/>
          </a:xfrm>
          <a:prstGeom prst="ellipse">
            <a:avLst/>
          </a:prstGeom>
          <a:solidFill>
            <a:srgbClr val="C4E6F5"/>
          </a:solidFill>
          <a:ln w="6350" cap="rnd">
            <a:solidFill>
              <a:srgbClr val="8B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问题一-凝胶-局部溶剂1-溶剂文字"/>
          <p:cNvSpPr txBox="1"/>
          <p:nvPr/>
        </p:nvSpPr>
        <p:spPr>
          <a:xfrm>
            <a:off x="3640931" y="3001486"/>
            <a:ext cx="96837" cy="1130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50">
                <a:solidFill>
                  <a:srgbClr val="2B6FA9"/>
                </a:solidFill>
                <a:latin typeface="Arial"/>
              </a:rPr>
              <a:t>S</a:t>
            </a:r>
          </a:p>
        </p:txBody>
      </p:sp>
      <p:sp>
        <p:nvSpPr>
          <p:cNvPr id="99" name="问题一-凝胶-局部溶剂2-溶剂符号"/>
          <p:cNvSpPr/>
          <p:nvPr/>
        </p:nvSpPr>
        <p:spPr>
          <a:xfrm>
            <a:off x="3606800" y="3325114"/>
            <a:ext cx="165100" cy="118872"/>
          </a:xfrm>
          <a:prstGeom prst="ellipse">
            <a:avLst/>
          </a:prstGeom>
          <a:solidFill>
            <a:srgbClr val="C4E6F5"/>
          </a:solidFill>
          <a:ln w="6350" cap="rnd">
            <a:solidFill>
              <a:srgbClr val="8B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问题一-凝胶-局部溶剂2-溶剂文字"/>
          <p:cNvSpPr txBox="1"/>
          <p:nvPr/>
        </p:nvSpPr>
        <p:spPr>
          <a:xfrm>
            <a:off x="3653631" y="3325336"/>
            <a:ext cx="96837" cy="1130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50">
                <a:solidFill>
                  <a:srgbClr val="2B6FA9"/>
                </a:solidFill>
                <a:latin typeface="Arial"/>
              </a:rPr>
              <a:t>S</a:t>
            </a:r>
          </a:p>
        </p:txBody>
      </p:sp>
      <p:sp>
        <p:nvSpPr>
          <p:cNvPr id="101" name="问题一-凝胶-局部溶剂3-溶剂符号"/>
          <p:cNvSpPr/>
          <p:nvPr/>
        </p:nvSpPr>
        <p:spPr>
          <a:xfrm>
            <a:off x="3162300" y="3337814"/>
            <a:ext cx="165100" cy="118872"/>
          </a:xfrm>
          <a:prstGeom prst="ellipse">
            <a:avLst/>
          </a:prstGeom>
          <a:solidFill>
            <a:srgbClr val="C4E6F5"/>
          </a:solidFill>
          <a:ln w="6350" cap="rnd">
            <a:solidFill>
              <a:srgbClr val="8B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问题一-凝胶-局部溶剂3-溶剂文字"/>
          <p:cNvSpPr txBox="1"/>
          <p:nvPr/>
        </p:nvSpPr>
        <p:spPr>
          <a:xfrm>
            <a:off x="3209131" y="3338036"/>
            <a:ext cx="96837" cy="1130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50">
                <a:solidFill>
                  <a:srgbClr val="2B6FA9"/>
                </a:solidFill>
                <a:latin typeface="Arial"/>
              </a:rPr>
              <a:t>S</a:t>
            </a:r>
          </a:p>
        </p:txBody>
      </p:sp>
      <p:sp>
        <p:nvSpPr>
          <p:cNvPr id="103" name="问题一-凝胶-滞留锂离子"/>
          <p:cNvSpPr/>
          <p:nvPr/>
        </p:nvSpPr>
        <p:spPr>
          <a:xfrm>
            <a:off x="3333750" y="3092450"/>
            <a:ext cx="266700" cy="266700"/>
          </a:xfrm>
          <a:prstGeom prst="ellipse">
            <a:avLst/>
          </a:prstGeom>
          <a:solidFill>
            <a:srgbClr val="EBAE3E"/>
          </a:solidFill>
          <a:ln w="9525" cap="rnd">
            <a:solidFill>
              <a:srgbClr val="C2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问题一-凝胶-滞留锂离子-高光"/>
          <p:cNvSpPr/>
          <p:nvPr/>
        </p:nvSpPr>
        <p:spPr>
          <a:xfrm>
            <a:off x="3392424" y="3155124"/>
            <a:ext cx="82677" cy="61341"/>
          </a:xfrm>
          <a:prstGeom prst="ellipse">
            <a:avLst/>
          </a:prstGeom>
          <a:solidFill>
            <a:srgbClr val="FFE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问题一-凝胶-滞留锂离子-文字"/>
          <p:cNvSpPr txBox="1"/>
          <p:nvPr/>
        </p:nvSpPr>
        <p:spPr>
          <a:xfrm>
            <a:off x="3381375" y="3164525"/>
            <a:ext cx="196850" cy="1424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819">
                <a:solidFill>
                  <a:srgbClr val="FFFFFF"/>
                </a:solidFill>
                <a:latin typeface="Arial"/>
              </a:rPr>
              <a:t>Li⁺</a:t>
            </a:r>
          </a:p>
        </p:txBody>
      </p:sp>
      <p:sp>
        <p:nvSpPr>
          <p:cNvPr id="106" name="问题一-凝胶-迁移锂离子1"/>
          <p:cNvSpPr/>
          <p:nvPr/>
        </p:nvSpPr>
        <p:spPr>
          <a:xfrm>
            <a:off x="2393950" y="3130550"/>
            <a:ext cx="203200" cy="203200"/>
          </a:xfrm>
          <a:prstGeom prst="ellipse">
            <a:avLst/>
          </a:prstGeom>
          <a:solidFill>
            <a:srgbClr val="EBAE3E"/>
          </a:solidFill>
          <a:ln w="9525" cap="rnd">
            <a:solidFill>
              <a:srgbClr val="C2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问题一-凝胶-迁移锂离子1-高光"/>
          <p:cNvSpPr/>
          <p:nvPr/>
        </p:nvSpPr>
        <p:spPr>
          <a:xfrm>
            <a:off x="2438654" y="3178302"/>
            <a:ext cx="62992" cy="46736"/>
          </a:xfrm>
          <a:prstGeom prst="ellipse">
            <a:avLst/>
          </a:prstGeom>
          <a:solidFill>
            <a:srgbClr val="FFE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问题一-凝胶-迁移锂离子1-文字"/>
          <p:cNvSpPr txBox="1"/>
          <p:nvPr/>
        </p:nvSpPr>
        <p:spPr>
          <a:xfrm>
            <a:off x="2429669" y="3185465"/>
            <a:ext cx="157162" cy="1085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24">
                <a:solidFill>
                  <a:srgbClr val="FFFFFF"/>
                </a:solidFill>
                <a:latin typeface="Arial"/>
              </a:rPr>
              <a:t>Li⁺</a:t>
            </a:r>
          </a:p>
        </p:txBody>
      </p:sp>
      <p:sp>
        <p:nvSpPr>
          <p:cNvPr id="109" name="问题一-凝胶-迁移锂离子2"/>
          <p:cNvSpPr/>
          <p:nvPr/>
        </p:nvSpPr>
        <p:spPr>
          <a:xfrm>
            <a:off x="5213350" y="3028950"/>
            <a:ext cx="203200" cy="203200"/>
          </a:xfrm>
          <a:prstGeom prst="ellipse">
            <a:avLst/>
          </a:prstGeom>
          <a:solidFill>
            <a:srgbClr val="EBAE3E"/>
          </a:solidFill>
          <a:ln w="9525" cap="rnd">
            <a:solidFill>
              <a:srgbClr val="C2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问题一-凝胶-迁移锂离子2-高光"/>
          <p:cNvSpPr/>
          <p:nvPr/>
        </p:nvSpPr>
        <p:spPr>
          <a:xfrm>
            <a:off x="5258054" y="3076702"/>
            <a:ext cx="62992" cy="46736"/>
          </a:xfrm>
          <a:prstGeom prst="ellipse">
            <a:avLst/>
          </a:prstGeom>
          <a:solidFill>
            <a:srgbClr val="FFE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问题一-凝胶-迁移锂离子2-文字"/>
          <p:cNvSpPr txBox="1"/>
          <p:nvPr/>
        </p:nvSpPr>
        <p:spPr>
          <a:xfrm>
            <a:off x="5249068" y="3083865"/>
            <a:ext cx="157162" cy="1085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24">
                <a:solidFill>
                  <a:srgbClr val="FFFFFF"/>
                </a:solidFill>
                <a:latin typeface="Arial"/>
              </a:rPr>
              <a:t>Li⁺</a:t>
            </a:r>
          </a:p>
        </p:txBody>
      </p:sp>
      <p:sp>
        <p:nvSpPr>
          <p:cNvPr id="112" name="问题一-凝胶-配位滞留标注"/>
          <p:cNvSpPr/>
          <p:nvPr/>
        </p:nvSpPr>
        <p:spPr>
          <a:xfrm>
            <a:off x="2886075" y="3660775"/>
            <a:ext cx="1225550" cy="234950"/>
          </a:xfrm>
          <a:prstGeom prst="roundRect">
            <a:avLst>
              <a:gd name="adj" fmla="val 50000"/>
            </a:avLst>
          </a:prstGeom>
          <a:solidFill>
            <a:srgbClr val="FFF6F3"/>
          </a:solidFill>
          <a:ln w="9525" cap="rnd">
            <a:solidFill>
              <a:srgbClr val="DDA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问题一-凝胶-配位滞留标注-标签"/>
          <p:cNvSpPr txBox="1"/>
          <p:nvPr/>
        </p:nvSpPr>
        <p:spPr>
          <a:xfrm>
            <a:off x="3073400" y="3685349"/>
            <a:ext cx="876300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BE5D50"/>
                </a:solidFill>
                <a:latin typeface="Microsoft YaHei"/>
                <a:ea typeface="Microsoft YaHei"/>
              </a:rPr>
              <a:t>局部配位滞留</a:t>
            </a:r>
          </a:p>
        </p:txBody>
      </p:sp>
      <p:cxnSp>
        <p:nvCxnSpPr>
          <p:cNvPr id="114" name="问题一-凝胶-配位标注引线"/>
          <p:cNvCxnSpPr/>
          <p:nvPr/>
        </p:nvCxnSpPr>
        <p:spPr>
          <a:xfrm flipH="1" flipV="1">
            <a:off x="3479800" y="3505200"/>
            <a:ext cx="12700" cy="152400"/>
          </a:xfrm>
          <a:prstGeom prst="line">
            <a:avLst/>
          </a:prstGeom>
          <a:ln w="10795" cap="rnd">
            <a:solidFill>
              <a:srgbClr val="C47D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问题一-凝胶-图注分隔线"/>
          <p:cNvCxnSpPr/>
          <p:nvPr/>
        </p:nvCxnSpPr>
        <p:spPr>
          <a:xfrm>
            <a:off x="1949450" y="4279900"/>
            <a:ext cx="3708400" cy="0"/>
          </a:xfrm>
          <a:prstGeom prst="line">
            <a:avLst/>
          </a:prstGeom>
          <a:ln w="7620" cap="rnd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问题一-凝胶-图注"/>
          <p:cNvSpPr txBox="1"/>
          <p:nvPr/>
        </p:nvSpPr>
        <p:spPr>
          <a:xfrm>
            <a:off x="3071812" y="4295140"/>
            <a:ext cx="1489075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200">
                <a:solidFill>
                  <a:srgbClr val="225A8C"/>
                </a:solidFill>
                <a:latin typeface="Microsoft YaHei"/>
                <a:ea typeface="Microsoft YaHei"/>
              </a:rPr>
              <a:t>路径曲折</a:t>
            </a:r>
            <a:r>
              <a:rPr b="1" sz="1200">
                <a:solidFill>
                  <a:srgbClr val="225A8C"/>
                </a:solidFill>
                <a:latin typeface="Arial"/>
              </a:rPr>
              <a:t> + </a:t>
            </a:r>
            <a:r>
              <a:rPr b="1" sz="1200">
                <a:solidFill>
                  <a:srgbClr val="225A8C"/>
                </a:solidFill>
                <a:latin typeface="Microsoft YaHei"/>
                <a:ea typeface="Microsoft YaHei"/>
              </a:rPr>
              <a:t>局部滞留</a:t>
            </a:r>
          </a:p>
        </p:txBody>
      </p:sp>
      <p:sp>
        <p:nvSpPr>
          <p:cNvPr id="117" name="问题二-界面示意外框"/>
          <p:cNvSpPr/>
          <p:nvPr/>
        </p:nvSpPr>
        <p:spPr>
          <a:xfrm>
            <a:off x="6438899" y="2235200"/>
            <a:ext cx="5257800" cy="2317750"/>
          </a:xfrm>
          <a:prstGeom prst="roundRect">
            <a:avLst>
              <a:gd name="adj" fmla="val 3287"/>
            </a:avLst>
          </a:prstGeom>
          <a:solidFill>
            <a:srgbClr val="FBFCFE"/>
          </a:solidFill>
          <a:ln w="9525" cap="rnd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问题二-正极-膜标签"/>
          <p:cNvSpPr txBox="1"/>
          <p:nvPr/>
        </p:nvSpPr>
        <p:spPr>
          <a:xfrm>
            <a:off x="7006431" y="2346007"/>
            <a:ext cx="617537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225A8C"/>
                </a:solidFill>
                <a:latin typeface="Arial"/>
              </a:rPr>
              <a:t>CEI </a:t>
            </a:r>
            <a:r>
              <a:rPr b="1" sz="1100">
                <a:solidFill>
                  <a:srgbClr val="225A8C"/>
                </a:solidFill>
                <a:latin typeface="Microsoft YaHei"/>
                <a:ea typeface="Microsoft YaHei"/>
              </a:rPr>
              <a:t>不均</a:t>
            </a:r>
          </a:p>
        </p:txBody>
      </p:sp>
      <p:sp>
        <p:nvSpPr>
          <p:cNvPr id="119" name="问题二-凝胶标签"/>
          <p:cNvSpPr txBox="1"/>
          <p:nvPr/>
        </p:nvSpPr>
        <p:spPr>
          <a:xfrm>
            <a:off x="8743949" y="2326481"/>
            <a:ext cx="673100" cy="217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250">
                <a:solidFill>
                  <a:srgbClr val="172B46"/>
                </a:solidFill>
                <a:latin typeface="Microsoft YaHei"/>
                <a:ea typeface="Microsoft YaHei"/>
              </a:rPr>
              <a:t>传统凝胶</a:t>
            </a:r>
          </a:p>
        </p:txBody>
      </p:sp>
      <p:sp>
        <p:nvSpPr>
          <p:cNvPr id="120" name="问题二-负极-膜标签"/>
          <p:cNvSpPr txBox="1"/>
          <p:nvPr/>
        </p:nvSpPr>
        <p:spPr>
          <a:xfrm>
            <a:off x="10532268" y="2346007"/>
            <a:ext cx="614362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BE5D50"/>
                </a:solidFill>
                <a:latin typeface="Arial"/>
              </a:rPr>
              <a:t>SEI </a:t>
            </a:r>
            <a:r>
              <a:rPr b="1" sz="1100">
                <a:solidFill>
                  <a:srgbClr val="BE5D50"/>
                </a:solidFill>
                <a:latin typeface="Microsoft YaHei"/>
                <a:ea typeface="Microsoft YaHei"/>
              </a:rPr>
              <a:t>不均</a:t>
            </a:r>
          </a:p>
        </p:txBody>
      </p:sp>
      <p:sp>
        <p:nvSpPr>
          <p:cNvPr id="121" name="问题二-正极-电极主体"/>
          <p:cNvSpPr/>
          <p:nvPr/>
        </p:nvSpPr>
        <p:spPr>
          <a:xfrm>
            <a:off x="6718299" y="2673350"/>
            <a:ext cx="215900" cy="1562100"/>
          </a:xfrm>
          <a:prstGeom prst="roundRect">
            <a:avLst>
              <a:gd name="adj" fmla="val 11764"/>
            </a:avLst>
          </a:prstGeom>
          <a:solidFill>
            <a:srgbClr val="738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问题二-正极-电极高光"/>
          <p:cNvSpPr/>
          <p:nvPr/>
        </p:nvSpPr>
        <p:spPr>
          <a:xfrm>
            <a:off x="6737349" y="2692400"/>
            <a:ext cx="31750" cy="1524000"/>
          </a:xfrm>
          <a:prstGeom prst="roundRect">
            <a:avLst>
              <a:gd name="adj" fmla="val 40000"/>
            </a:avLst>
          </a:prstGeom>
          <a:solidFill>
            <a:srgbClr val="9CA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问题二-正极-电极文字"/>
          <p:cNvSpPr txBox="1"/>
          <p:nvPr/>
        </p:nvSpPr>
        <p:spPr>
          <a:xfrm>
            <a:off x="6680199" y="4308157"/>
            <a:ext cx="317500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64768A"/>
                </a:solidFill>
                <a:latin typeface="Microsoft YaHei"/>
                <a:ea typeface="Microsoft YaHei"/>
              </a:rPr>
              <a:t>正极</a:t>
            </a:r>
          </a:p>
        </p:txBody>
      </p:sp>
      <p:sp>
        <p:nvSpPr>
          <p:cNvPr id="124" name="问题二-负极-电极主体"/>
          <p:cNvSpPr/>
          <p:nvPr/>
        </p:nvSpPr>
        <p:spPr>
          <a:xfrm>
            <a:off x="11239499" y="2673350"/>
            <a:ext cx="215900" cy="1562100"/>
          </a:xfrm>
          <a:prstGeom prst="roundRect">
            <a:avLst>
              <a:gd name="adj" fmla="val 11764"/>
            </a:avLst>
          </a:prstGeom>
          <a:solidFill>
            <a:srgbClr val="B7A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问题二-负极-电极高光"/>
          <p:cNvSpPr/>
          <p:nvPr/>
        </p:nvSpPr>
        <p:spPr>
          <a:xfrm>
            <a:off x="11258549" y="2692400"/>
            <a:ext cx="31750" cy="1524000"/>
          </a:xfrm>
          <a:prstGeom prst="roundRect">
            <a:avLst>
              <a:gd name="adj" fmla="val 40000"/>
            </a:avLst>
          </a:prstGeom>
          <a:solidFill>
            <a:srgbClr val="D4C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问题二-负极-电极文字"/>
          <p:cNvSpPr txBox="1"/>
          <p:nvPr/>
        </p:nvSpPr>
        <p:spPr>
          <a:xfrm>
            <a:off x="11201399" y="4308157"/>
            <a:ext cx="317500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64768A"/>
                </a:solidFill>
                <a:latin typeface="Microsoft YaHei"/>
                <a:ea typeface="Microsoft YaHei"/>
              </a:rPr>
              <a:t>负极</a:t>
            </a:r>
          </a:p>
        </p:txBody>
      </p:sp>
      <p:sp>
        <p:nvSpPr>
          <p:cNvPr id="127" name="问题二-正极-不均匀界面膜1"/>
          <p:cNvSpPr/>
          <p:nvPr/>
        </p:nvSpPr>
        <p:spPr>
          <a:xfrm>
            <a:off x="6965949" y="2686050"/>
            <a:ext cx="190500" cy="215900"/>
          </a:xfrm>
          <a:prstGeom prst="roundRect">
            <a:avLst>
              <a:gd name="adj" fmla="val 20000"/>
            </a:avLst>
          </a:prstGeom>
          <a:solidFill>
            <a:srgbClr val="A9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问题二-正极-不均匀界面膜2"/>
          <p:cNvSpPr/>
          <p:nvPr/>
        </p:nvSpPr>
        <p:spPr>
          <a:xfrm>
            <a:off x="6965949" y="2997200"/>
            <a:ext cx="127000" cy="139700"/>
          </a:xfrm>
          <a:prstGeom prst="roundRect">
            <a:avLst>
              <a:gd name="adj" fmla="val 30000"/>
            </a:avLst>
          </a:prstGeom>
          <a:solidFill>
            <a:srgbClr val="CB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问题二-正极-不均匀界面膜3"/>
          <p:cNvSpPr/>
          <p:nvPr/>
        </p:nvSpPr>
        <p:spPr>
          <a:xfrm>
            <a:off x="6965949" y="3219450"/>
            <a:ext cx="215900" cy="222250"/>
          </a:xfrm>
          <a:prstGeom prst="roundRect">
            <a:avLst>
              <a:gd name="adj" fmla="val 17647"/>
            </a:avLst>
          </a:prstGeom>
          <a:solidFill>
            <a:srgbClr val="A9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问题二-正极-不均匀界面膜4"/>
          <p:cNvSpPr/>
          <p:nvPr/>
        </p:nvSpPr>
        <p:spPr>
          <a:xfrm>
            <a:off x="6965949" y="3536950"/>
            <a:ext cx="146050" cy="127000"/>
          </a:xfrm>
          <a:prstGeom prst="roundRect">
            <a:avLst>
              <a:gd name="adj" fmla="val 30000"/>
            </a:avLst>
          </a:prstGeom>
          <a:solidFill>
            <a:srgbClr val="CB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问题二-正极-不均匀界面膜5"/>
          <p:cNvSpPr/>
          <p:nvPr/>
        </p:nvSpPr>
        <p:spPr>
          <a:xfrm>
            <a:off x="6965949" y="3962400"/>
            <a:ext cx="184150" cy="254000"/>
          </a:xfrm>
          <a:prstGeom prst="roundRect">
            <a:avLst>
              <a:gd name="adj" fmla="val 20689"/>
            </a:avLst>
          </a:prstGeom>
          <a:solidFill>
            <a:srgbClr val="A9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问题二-负极-不均匀界面膜1"/>
          <p:cNvSpPr/>
          <p:nvPr/>
        </p:nvSpPr>
        <p:spPr>
          <a:xfrm>
            <a:off x="11061699" y="2686050"/>
            <a:ext cx="152400" cy="222250"/>
          </a:xfrm>
          <a:prstGeom prst="roundRect">
            <a:avLst>
              <a:gd name="adj" fmla="val 25000"/>
            </a:avLst>
          </a:prstGeom>
          <a:solidFill>
            <a:srgbClr val="DF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问题二-负极-不均匀界面膜2"/>
          <p:cNvSpPr/>
          <p:nvPr/>
        </p:nvSpPr>
        <p:spPr>
          <a:xfrm>
            <a:off x="11004549" y="2997200"/>
            <a:ext cx="209550" cy="158750"/>
          </a:xfrm>
          <a:prstGeom prst="roundRect">
            <a:avLst>
              <a:gd name="adj" fmla="val 24000"/>
            </a:avLst>
          </a:prstGeom>
          <a:solidFill>
            <a:srgbClr val="EBD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问题二-负极-不均匀界面膜3"/>
          <p:cNvSpPr/>
          <p:nvPr/>
        </p:nvSpPr>
        <p:spPr>
          <a:xfrm>
            <a:off x="11048999" y="3251200"/>
            <a:ext cx="165100" cy="241300"/>
          </a:xfrm>
          <a:prstGeom prst="roundRect">
            <a:avLst>
              <a:gd name="adj" fmla="val 23076"/>
            </a:avLst>
          </a:prstGeom>
          <a:solidFill>
            <a:srgbClr val="DF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问题二-负极-不均匀界面膜4"/>
          <p:cNvSpPr/>
          <p:nvPr/>
        </p:nvSpPr>
        <p:spPr>
          <a:xfrm>
            <a:off x="11023599" y="358775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EBD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问题二-负极-不均匀界面膜5"/>
          <p:cNvSpPr/>
          <p:nvPr/>
        </p:nvSpPr>
        <p:spPr>
          <a:xfrm>
            <a:off x="11068049" y="3994150"/>
            <a:ext cx="146050" cy="228600"/>
          </a:xfrm>
          <a:prstGeom prst="roundRect">
            <a:avLst>
              <a:gd name="adj" fmla="val 26086"/>
            </a:avLst>
          </a:prstGeom>
          <a:solidFill>
            <a:srgbClr val="DF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问题二-正极-局部接触空隙"/>
          <p:cNvSpPr/>
          <p:nvPr/>
        </p:nvSpPr>
        <p:spPr>
          <a:xfrm>
            <a:off x="6940549" y="3676650"/>
            <a:ext cx="304800" cy="279400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BE5D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问题二-负极-膜层裂纹"/>
          <p:cNvSpPr/>
          <p:nvPr/>
        </p:nvSpPr>
        <p:spPr>
          <a:xfrm>
            <a:off x="11061699" y="3625850"/>
            <a:ext cx="114300" cy="139700"/>
          </a:xfrm>
          <a:custGeom>
            <a:avLst/>
            <a:gdLst/>
            <a:ahLst/>
            <a:cxnLst/>
            <a:rect l="l" t="t" r="r" b="b"/>
            <a:pathLst>
              <a:path w="18" h="22">
                <a:moveTo>
                  <a:pt x="0" y="0"/>
                </a:moveTo>
                <a:lnTo>
                  <a:pt x="12" y="7"/>
                </a:lnTo>
                <a:lnTo>
                  <a:pt x="3" y="15"/>
                </a:lnTo>
                <a:lnTo>
                  <a:pt x="18" y="22"/>
                </a:lnTo>
              </a:path>
            </a:pathLst>
          </a:custGeom>
          <a:noFill/>
          <a:ln w="17145" cap="rnd">
            <a:solidFill>
              <a:srgbClr val="BE5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问题二-凝胶-聚合物链1"/>
          <p:cNvSpPr/>
          <p:nvPr/>
        </p:nvSpPr>
        <p:spPr>
          <a:xfrm>
            <a:off x="7816849" y="2800350"/>
            <a:ext cx="2520950" cy="63500"/>
          </a:xfrm>
          <a:custGeom>
            <a:avLst/>
            <a:gdLst/>
            <a:ahLst/>
            <a:cxnLst/>
            <a:rect l="l" t="t" r="r" b="b"/>
            <a:pathLst>
              <a:path w="397" h="10">
                <a:moveTo>
                  <a:pt x="0" y="6"/>
                </a:moveTo>
                <a:lnTo>
                  <a:pt x="9" y="4"/>
                </a:lnTo>
                <a:lnTo>
                  <a:pt x="18" y="3"/>
                </a:lnTo>
                <a:lnTo>
                  <a:pt x="26" y="2"/>
                </a:lnTo>
                <a:lnTo>
                  <a:pt x="35" y="1"/>
                </a:lnTo>
                <a:lnTo>
                  <a:pt x="43" y="0"/>
                </a:lnTo>
                <a:lnTo>
                  <a:pt x="52" y="0"/>
                </a:lnTo>
                <a:lnTo>
                  <a:pt x="60" y="0"/>
                </a:lnTo>
                <a:lnTo>
                  <a:pt x="68" y="0"/>
                </a:lnTo>
                <a:lnTo>
                  <a:pt x="76" y="1"/>
                </a:lnTo>
                <a:lnTo>
                  <a:pt x="84" y="1"/>
                </a:lnTo>
                <a:lnTo>
                  <a:pt x="92" y="2"/>
                </a:lnTo>
                <a:lnTo>
                  <a:pt x="100" y="3"/>
                </a:lnTo>
                <a:lnTo>
                  <a:pt x="108" y="4"/>
                </a:lnTo>
                <a:lnTo>
                  <a:pt x="116" y="5"/>
                </a:lnTo>
                <a:lnTo>
                  <a:pt x="123" y="6"/>
                </a:lnTo>
                <a:lnTo>
                  <a:pt x="131" y="7"/>
                </a:lnTo>
                <a:lnTo>
                  <a:pt x="139" y="7"/>
                </a:lnTo>
                <a:lnTo>
                  <a:pt x="146" y="8"/>
                </a:lnTo>
                <a:lnTo>
                  <a:pt x="154" y="9"/>
                </a:lnTo>
                <a:lnTo>
                  <a:pt x="162" y="9"/>
                </a:lnTo>
                <a:lnTo>
                  <a:pt x="169" y="10"/>
                </a:lnTo>
                <a:lnTo>
                  <a:pt x="177" y="10"/>
                </a:lnTo>
                <a:lnTo>
                  <a:pt x="184" y="10"/>
                </a:lnTo>
                <a:lnTo>
                  <a:pt x="191" y="9"/>
                </a:lnTo>
                <a:lnTo>
                  <a:pt x="199" y="9"/>
                </a:lnTo>
                <a:lnTo>
                  <a:pt x="206" y="8"/>
                </a:lnTo>
                <a:lnTo>
                  <a:pt x="214" y="7"/>
                </a:lnTo>
                <a:lnTo>
                  <a:pt x="221" y="5"/>
                </a:lnTo>
                <a:lnTo>
                  <a:pt x="228" y="4"/>
                </a:lnTo>
                <a:lnTo>
                  <a:pt x="234" y="3"/>
                </a:lnTo>
                <a:lnTo>
                  <a:pt x="241" y="2"/>
                </a:lnTo>
                <a:lnTo>
                  <a:pt x="247" y="1"/>
                </a:lnTo>
                <a:lnTo>
                  <a:pt x="254" y="1"/>
                </a:lnTo>
                <a:lnTo>
                  <a:pt x="260" y="1"/>
                </a:lnTo>
                <a:lnTo>
                  <a:pt x="266" y="0"/>
                </a:lnTo>
                <a:lnTo>
                  <a:pt x="272" y="1"/>
                </a:lnTo>
                <a:lnTo>
                  <a:pt x="278" y="1"/>
                </a:lnTo>
                <a:lnTo>
                  <a:pt x="284" y="1"/>
                </a:lnTo>
                <a:lnTo>
                  <a:pt x="291" y="1"/>
                </a:lnTo>
                <a:lnTo>
                  <a:pt x="297" y="2"/>
                </a:lnTo>
                <a:lnTo>
                  <a:pt x="303" y="2"/>
                </a:lnTo>
                <a:lnTo>
                  <a:pt x="309" y="3"/>
                </a:lnTo>
                <a:lnTo>
                  <a:pt x="315" y="3"/>
                </a:lnTo>
                <a:lnTo>
                  <a:pt x="321" y="4"/>
                </a:lnTo>
                <a:lnTo>
                  <a:pt x="327" y="4"/>
                </a:lnTo>
                <a:lnTo>
                  <a:pt x="333" y="5"/>
                </a:lnTo>
                <a:lnTo>
                  <a:pt x="339" y="5"/>
                </a:lnTo>
                <a:lnTo>
                  <a:pt x="345" y="5"/>
                </a:lnTo>
                <a:lnTo>
                  <a:pt x="351" y="6"/>
                </a:lnTo>
                <a:lnTo>
                  <a:pt x="358" y="6"/>
                </a:lnTo>
                <a:lnTo>
                  <a:pt x="364" y="6"/>
                </a:lnTo>
                <a:lnTo>
                  <a:pt x="370" y="6"/>
                </a:lnTo>
                <a:lnTo>
                  <a:pt x="377" y="6"/>
                </a:lnTo>
                <a:lnTo>
                  <a:pt x="384" y="5"/>
                </a:lnTo>
                <a:lnTo>
                  <a:pt x="390" y="5"/>
                </a:lnTo>
                <a:lnTo>
                  <a:pt x="397" y="4"/>
                </a:lnTo>
              </a:path>
            </a:pathLst>
          </a:custGeom>
          <a:noFill/>
          <a:ln w="35560" cap="rnd"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问题二-凝胶-聚合物链2"/>
          <p:cNvSpPr/>
          <p:nvPr/>
        </p:nvSpPr>
        <p:spPr>
          <a:xfrm>
            <a:off x="7791449" y="3416300"/>
            <a:ext cx="2565400" cy="69850"/>
          </a:xfrm>
          <a:custGeom>
            <a:avLst/>
            <a:gdLst/>
            <a:ahLst/>
            <a:cxnLst/>
            <a:rect l="l" t="t" r="r" b="b"/>
            <a:pathLst>
              <a:path w="404" h="11">
                <a:moveTo>
                  <a:pt x="0" y="9"/>
                </a:moveTo>
                <a:lnTo>
                  <a:pt x="8" y="7"/>
                </a:lnTo>
                <a:lnTo>
                  <a:pt x="17" y="6"/>
                </a:lnTo>
                <a:lnTo>
                  <a:pt x="25" y="4"/>
                </a:lnTo>
                <a:lnTo>
                  <a:pt x="33" y="3"/>
                </a:lnTo>
                <a:lnTo>
                  <a:pt x="41" y="3"/>
                </a:lnTo>
                <a:lnTo>
                  <a:pt x="49" y="3"/>
                </a:lnTo>
                <a:lnTo>
                  <a:pt x="58" y="3"/>
                </a:lnTo>
                <a:lnTo>
                  <a:pt x="66" y="3"/>
                </a:lnTo>
                <a:lnTo>
                  <a:pt x="74" y="3"/>
                </a:lnTo>
                <a:lnTo>
                  <a:pt x="82" y="4"/>
                </a:lnTo>
                <a:lnTo>
                  <a:pt x="90" y="4"/>
                </a:lnTo>
                <a:lnTo>
                  <a:pt x="98" y="5"/>
                </a:lnTo>
                <a:lnTo>
                  <a:pt x="106" y="6"/>
                </a:lnTo>
                <a:lnTo>
                  <a:pt x="114" y="7"/>
                </a:lnTo>
                <a:lnTo>
                  <a:pt x="122" y="8"/>
                </a:lnTo>
                <a:lnTo>
                  <a:pt x="130" y="8"/>
                </a:lnTo>
                <a:lnTo>
                  <a:pt x="138" y="9"/>
                </a:lnTo>
                <a:lnTo>
                  <a:pt x="146" y="10"/>
                </a:lnTo>
                <a:lnTo>
                  <a:pt x="154" y="11"/>
                </a:lnTo>
                <a:lnTo>
                  <a:pt x="162" y="11"/>
                </a:lnTo>
                <a:lnTo>
                  <a:pt x="170" y="11"/>
                </a:lnTo>
                <a:lnTo>
                  <a:pt x="178" y="11"/>
                </a:lnTo>
                <a:lnTo>
                  <a:pt x="186" y="11"/>
                </a:lnTo>
                <a:lnTo>
                  <a:pt x="194" y="11"/>
                </a:lnTo>
                <a:lnTo>
                  <a:pt x="202" y="10"/>
                </a:lnTo>
                <a:lnTo>
                  <a:pt x="210" y="9"/>
                </a:lnTo>
                <a:lnTo>
                  <a:pt x="218" y="8"/>
                </a:lnTo>
                <a:lnTo>
                  <a:pt x="226" y="6"/>
                </a:lnTo>
                <a:lnTo>
                  <a:pt x="233" y="4"/>
                </a:lnTo>
                <a:lnTo>
                  <a:pt x="239" y="3"/>
                </a:lnTo>
                <a:lnTo>
                  <a:pt x="246" y="2"/>
                </a:lnTo>
                <a:lnTo>
                  <a:pt x="253" y="1"/>
                </a:lnTo>
                <a:lnTo>
                  <a:pt x="259" y="1"/>
                </a:lnTo>
                <a:lnTo>
                  <a:pt x="266" y="0"/>
                </a:lnTo>
                <a:lnTo>
                  <a:pt x="273" y="0"/>
                </a:lnTo>
                <a:lnTo>
                  <a:pt x="279" y="0"/>
                </a:lnTo>
                <a:lnTo>
                  <a:pt x="286" y="1"/>
                </a:lnTo>
                <a:lnTo>
                  <a:pt x="292" y="1"/>
                </a:lnTo>
                <a:lnTo>
                  <a:pt x="299" y="2"/>
                </a:lnTo>
                <a:lnTo>
                  <a:pt x="305" y="2"/>
                </a:lnTo>
                <a:lnTo>
                  <a:pt x="312" y="3"/>
                </a:lnTo>
                <a:lnTo>
                  <a:pt x="318" y="4"/>
                </a:lnTo>
                <a:lnTo>
                  <a:pt x="325" y="4"/>
                </a:lnTo>
                <a:lnTo>
                  <a:pt x="331" y="5"/>
                </a:lnTo>
                <a:lnTo>
                  <a:pt x="338" y="6"/>
                </a:lnTo>
                <a:lnTo>
                  <a:pt x="344" y="6"/>
                </a:lnTo>
                <a:lnTo>
                  <a:pt x="350" y="7"/>
                </a:lnTo>
                <a:lnTo>
                  <a:pt x="356" y="7"/>
                </a:lnTo>
                <a:lnTo>
                  <a:pt x="363" y="7"/>
                </a:lnTo>
                <a:lnTo>
                  <a:pt x="369" y="8"/>
                </a:lnTo>
                <a:lnTo>
                  <a:pt x="375" y="8"/>
                </a:lnTo>
                <a:lnTo>
                  <a:pt x="381" y="7"/>
                </a:lnTo>
                <a:lnTo>
                  <a:pt x="387" y="7"/>
                </a:lnTo>
                <a:lnTo>
                  <a:pt x="392" y="6"/>
                </a:lnTo>
                <a:lnTo>
                  <a:pt x="398" y="5"/>
                </a:lnTo>
                <a:lnTo>
                  <a:pt x="404" y="4"/>
                </a:lnTo>
              </a:path>
            </a:pathLst>
          </a:custGeom>
          <a:noFill/>
          <a:ln w="35560" cap="rnd"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问题二-凝胶-聚合物链3"/>
          <p:cNvSpPr/>
          <p:nvPr/>
        </p:nvSpPr>
        <p:spPr>
          <a:xfrm>
            <a:off x="7797799" y="3937000"/>
            <a:ext cx="2571750" cy="82550"/>
          </a:xfrm>
          <a:custGeom>
            <a:avLst/>
            <a:gdLst/>
            <a:ahLst/>
            <a:cxnLst/>
            <a:rect l="l" t="t" r="r" b="b"/>
            <a:pathLst>
              <a:path w="405" h="13">
                <a:moveTo>
                  <a:pt x="0" y="12"/>
                </a:moveTo>
                <a:lnTo>
                  <a:pt x="9" y="10"/>
                </a:lnTo>
                <a:lnTo>
                  <a:pt x="18" y="9"/>
                </a:lnTo>
                <a:lnTo>
                  <a:pt x="27" y="8"/>
                </a:lnTo>
                <a:lnTo>
                  <a:pt x="36" y="7"/>
                </a:lnTo>
                <a:lnTo>
                  <a:pt x="44" y="6"/>
                </a:lnTo>
                <a:lnTo>
                  <a:pt x="53" y="6"/>
                </a:lnTo>
                <a:lnTo>
                  <a:pt x="62" y="6"/>
                </a:lnTo>
                <a:lnTo>
                  <a:pt x="70" y="6"/>
                </a:lnTo>
                <a:lnTo>
                  <a:pt x="79" y="6"/>
                </a:lnTo>
                <a:lnTo>
                  <a:pt x="87" y="7"/>
                </a:lnTo>
                <a:lnTo>
                  <a:pt x="95" y="7"/>
                </a:lnTo>
                <a:lnTo>
                  <a:pt x="104" y="8"/>
                </a:lnTo>
                <a:lnTo>
                  <a:pt x="112" y="9"/>
                </a:lnTo>
                <a:lnTo>
                  <a:pt x="120" y="9"/>
                </a:lnTo>
                <a:lnTo>
                  <a:pt x="128" y="10"/>
                </a:lnTo>
                <a:lnTo>
                  <a:pt x="136" y="11"/>
                </a:lnTo>
                <a:lnTo>
                  <a:pt x="144" y="11"/>
                </a:lnTo>
                <a:lnTo>
                  <a:pt x="152" y="12"/>
                </a:lnTo>
                <a:lnTo>
                  <a:pt x="160" y="12"/>
                </a:lnTo>
                <a:lnTo>
                  <a:pt x="168" y="13"/>
                </a:lnTo>
                <a:lnTo>
                  <a:pt x="176" y="13"/>
                </a:lnTo>
                <a:lnTo>
                  <a:pt x="183" y="13"/>
                </a:lnTo>
                <a:lnTo>
                  <a:pt x="191" y="12"/>
                </a:lnTo>
                <a:lnTo>
                  <a:pt x="199" y="12"/>
                </a:lnTo>
                <a:lnTo>
                  <a:pt x="207" y="11"/>
                </a:lnTo>
                <a:lnTo>
                  <a:pt x="215" y="10"/>
                </a:lnTo>
                <a:lnTo>
                  <a:pt x="222" y="8"/>
                </a:lnTo>
                <a:lnTo>
                  <a:pt x="230" y="6"/>
                </a:lnTo>
                <a:lnTo>
                  <a:pt x="237" y="4"/>
                </a:lnTo>
                <a:lnTo>
                  <a:pt x="243" y="3"/>
                </a:lnTo>
                <a:lnTo>
                  <a:pt x="250" y="2"/>
                </a:lnTo>
                <a:lnTo>
                  <a:pt x="257" y="1"/>
                </a:lnTo>
                <a:lnTo>
                  <a:pt x="263" y="0"/>
                </a:lnTo>
                <a:lnTo>
                  <a:pt x="270" y="0"/>
                </a:lnTo>
                <a:lnTo>
                  <a:pt x="276" y="0"/>
                </a:lnTo>
                <a:lnTo>
                  <a:pt x="283" y="0"/>
                </a:lnTo>
                <a:lnTo>
                  <a:pt x="289" y="1"/>
                </a:lnTo>
                <a:lnTo>
                  <a:pt x="295" y="1"/>
                </a:lnTo>
                <a:lnTo>
                  <a:pt x="302" y="2"/>
                </a:lnTo>
                <a:lnTo>
                  <a:pt x="308" y="2"/>
                </a:lnTo>
                <a:lnTo>
                  <a:pt x="314" y="3"/>
                </a:lnTo>
                <a:lnTo>
                  <a:pt x="320" y="4"/>
                </a:lnTo>
                <a:lnTo>
                  <a:pt x="327" y="5"/>
                </a:lnTo>
                <a:lnTo>
                  <a:pt x="333" y="6"/>
                </a:lnTo>
                <a:lnTo>
                  <a:pt x="339" y="6"/>
                </a:lnTo>
                <a:lnTo>
                  <a:pt x="345" y="7"/>
                </a:lnTo>
                <a:lnTo>
                  <a:pt x="351" y="8"/>
                </a:lnTo>
                <a:lnTo>
                  <a:pt x="357" y="8"/>
                </a:lnTo>
                <a:lnTo>
                  <a:pt x="363" y="9"/>
                </a:lnTo>
                <a:lnTo>
                  <a:pt x="369" y="9"/>
                </a:lnTo>
                <a:lnTo>
                  <a:pt x="375" y="9"/>
                </a:lnTo>
                <a:lnTo>
                  <a:pt x="381" y="9"/>
                </a:lnTo>
                <a:lnTo>
                  <a:pt x="387" y="9"/>
                </a:lnTo>
                <a:lnTo>
                  <a:pt x="393" y="9"/>
                </a:lnTo>
                <a:lnTo>
                  <a:pt x="399" y="8"/>
                </a:lnTo>
                <a:lnTo>
                  <a:pt x="405" y="7"/>
                </a:lnTo>
              </a:path>
            </a:pathLst>
          </a:custGeom>
          <a:noFill/>
          <a:ln w="35560" cap="rnd"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问题二-凝胶-聚合物链4"/>
          <p:cNvSpPr/>
          <p:nvPr/>
        </p:nvSpPr>
        <p:spPr>
          <a:xfrm>
            <a:off x="8083549" y="2679700"/>
            <a:ext cx="69850" cy="1479550"/>
          </a:xfrm>
          <a:custGeom>
            <a:avLst/>
            <a:gdLst/>
            <a:ahLst/>
            <a:cxnLst/>
            <a:rect l="l" t="t" r="r" b="b"/>
            <a:pathLst>
              <a:path w="11" h="233">
                <a:moveTo>
                  <a:pt x="8" y="0"/>
                </a:moveTo>
                <a:lnTo>
                  <a:pt x="6" y="4"/>
                </a:lnTo>
                <a:lnTo>
                  <a:pt x="5" y="9"/>
                </a:lnTo>
                <a:lnTo>
                  <a:pt x="3" y="13"/>
                </a:lnTo>
                <a:lnTo>
                  <a:pt x="3" y="17"/>
                </a:lnTo>
                <a:lnTo>
                  <a:pt x="2" y="21"/>
                </a:lnTo>
                <a:lnTo>
                  <a:pt x="2" y="25"/>
                </a:lnTo>
                <a:lnTo>
                  <a:pt x="2" y="29"/>
                </a:lnTo>
                <a:lnTo>
                  <a:pt x="2" y="33"/>
                </a:lnTo>
                <a:lnTo>
                  <a:pt x="2" y="37"/>
                </a:lnTo>
                <a:lnTo>
                  <a:pt x="3" y="41"/>
                </a:lnTo>
                <a:lnTo>
                  <a:pt x="4" y="44"/>
                </a:lnTo>
                <a:lnTo>
                  <a:pt x="4" y="48"/>
                </a:lnTo>
                <a:lnTo>
                  <a:pt x="5" y="52"/>
                </a:lnTo>
                <a:lnTo>
                  <a:pt x="6" y="56"/>
                </a:lnTo>
                <a:lnTo>
                  <a:pt x="7" y="59"/>
                </a:lnTo>
                <a:lnTo>
                  <a:pt x="8" y="63"/>
                </a:lnTo>
                <a:lnTo>
                  <a:pt x="9" y="67"/>
                </a:lnTo>
                <a:lnTo>
                  <a:pt x="10" y="70"/>
                </a:lnTo>
                <a:lnTo>
                  <a:pt x="10" y="74"/>
                </a:lnTo>
                <a:lnTo>
                  <a:pt x="11" y="78"/>
                </a:lnTo>
                <a:lnTo>
                  <a:pt x="11" y="82"/>
                </a:lnTo>
                <a:lnTo>
                  <a:pt x="11" y="86"/>
                </a:lnTo>
                <a:lnTo>
                  <a:pt x="11" y="90"/>
                </a:lnTo>
                <a:lnTo>
                  <a:pt x="11" y="94"/>
                </a:lnTo>
                <a:lnTo>
                  <a:pt x="10" y="98"/>
                </a:lnTo>
                <a:lnTo>
                  <a:pt x="9" y="102"/>
                </a:lnTo>
                <a:lnTo>
                  <a:pt x="8" y="107"/>
                </a:lnTo>
                <a:lnTo>
                  <a:pt x="6" y="111"/>
                </a:lnTo>
                <a:lnTo>
                  <a:pt x="4" y="116"/>
                </a:lnTo>
                <a:lnTo>
                  <a:pt x="3" y="121"/>
                </a:lnTo>
                <a:lnTo>
                  <a:pt x="2" y="126"/>
                </a:lnTo>
                <a:lnTo>
                  <a:pt x="1" y="130"/>
                </a:lnTo>
                <a:lnTo>
                  <a:pt x="0" y="135"/>
                </a:lnTo>
                <a:lnTo>
                  <a:pt x="0" y="140"/>
                </a:lnTo>
                <a:lnTo>
                  <a:pt x="0" y="144"/>
                </a:lnTo>
                <a:lnTo>
                  <a:pt x="0" y="149"/>
                </a:lnTo>
                <a:lnTo>
                  <a:pt x="1" y="153"/>
                </a:lnTo>
                <a:lnTo>
                  <a:pt x="1" y="157"/>
                </a:lnTo>
                <a:lnTo>
                  <a:pt x="2" y="162"/>
                </a:lnTo>
                <a:lnTo>
                  <a:pt x="3" y="166"/>
                </a:lnTo>
                <a:lnTo>
                  <a:pt x="3" y="170"/>
                </a:lnTo>
                <a:lnTo>
                  <a:pt x="4" y="174"/>
                </a:lnTo>
                <a:lnTo>
                  <a:pt x="5" y="178"/>
                </a:lnTo>
                <a:lnTo>
                  <a:pt x="6" y="183"/>
                </a:lnTo>
                <a:lnTo>
                  <a:pt x="7" y="187"/>
                </a:lnTo>
                <a:lnTo>
                  <a:pt x="8" y="191"/>
                </a:lnTo>
                <a:lnTo>
                  <a:pt x="9" y="195"/>
                </a:lnTo>
                <a:lnTo>
                  <a:pt x="9" y="199"/>
                </a:lnTo>
                <a:lnTo>
                  <a:pt x="10" y="203"/>
                </a:lnTo>
                <a:lnTo>
                  <a:pt x="10" y="207"/>
                </a:lnTo>
                <a:lnTo>
                  <a:pt x="10" y="212"/>
                </a:lnTo>
                <a:lnTo>
                  <a:pt x="10" y="216"/>
                </a:lnTo>
                <a:lnTo>
                  <a:pt x="10" y="220"/>
                </a:lnTo>
                <a:lnTo>
                  <a:pt x="9" y="224"/>
                </a:lnTo>
                <a:lnTo>
                  <a:pt x="8" y="229"/>
                </a:lnTo>
                <a:lnTo>
                  <a:pt x="7" y="233"/>
                </a:lnTo>
              </a:path>
            </a:pathLst>
          </a:custGeom>
          <a:noFill/>
          <a:ln w="35560" cap="rnd"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问题二-凝胶-聚合物链5"/>
          <p:cNvSpPr/>
          <p:nvPr/>
        </p:nvSpPr>
        <p:spPr>
          <a:xfrm>
            <a:off x="9105899" y="2673350"/>
            <a:ext cx="69850" cy="1485900"/>
          </a:xfrm>
          <a:custGeom>
            <a:avLst/>
            <a:gdLst/>
            <a:ahLst/>
            <a:cxnLst/>
            <a:rect l="l" t="t" r="r" b="b"/>
            <a:pathLst>
              <a:path w="11" h="234">
                <a:moveTo>
                  <a:pt x="8" y="0"/>
                </a:moveTo>
                <a:lnTo>
                  <a:pt x="6" y="5"/>
                </a:lnTo>
                <a:lnTo>
                  <a:pt x="5" y="9"/>
                </a:lnTo>
                <a:lnTo>
                  <a:pt x="3" y="14"/>
                </a:lnTo>
                <a:lnTo>
                  <a:pt x="3" y="18"/>
                </a:lnTo>
                <a:lnTo>
                  <a:pt x="2" y="22"/>
                </a:lnTo>
                <a:lnTo>
                  <a:pt x="2" y="26"/>
                </a:lnTo>
                <a:lnTo>
                  <a:pt x="2" y="30"/>
                </a:lnTo>
                <a:lnTo>
                  <a:pt x="2" y="34"/>
                </a:lnTo>
                <a:lnTo>
                  <a:pt x="2" y="38"/>
                </a:lnTo>
                <a:lnTo>
                  <a:pt x="3" y="42"/>
                </a:lnTo>
                <a:lnTo>
                  <a:pt x="4" y="46"/>
                </a:lnTo>
                <a:lnTo>
                  <a:pt x="4" y="50"/>
                </a:lnTo>
                <a:lnTo>
                  <a:pt x="5" y="54"/>
                </a:lnTo>
                <a:lnTo>
                  <a:pt x="6" y="57"/>
                </a:lnTo>
                <a:lnTo>
                  <a:pt x="7" y="61"/>
                </a:lnTo>
                <a:lnTo>
                  <a:pt x="8" y="65"/>
                </a:lnTo>
                <a:lnTo>
                  <a:pt x="9" y="69"/>
                </a:lnTo>
                <a:lnTo>
                  <a:pt x="10" y="73"/>
                </a:lnTo>
                <a:lnTo>
                  <a:pt x="10" y="76"/>
                </a:lnTo>
                <a:lnTo>
                  <a:pt x="11" y="80"/>
                </a:lnTo>
                <a:lnTo>
                  <a:pt x="11" y="84"/>
                </a:lnTo>
                <a:lnTo>
                  <a:pt x="11" y="88"/>
                </a:lnTo>
                <a:lnTo>
                  <a:pt x="11" y="92"/>
                </a:lnTo>
                <a:lnTo>
                  <a:pt x="11" y="96"/>
                </a:lnTo>
                <a:lnTo>
                  <a:pt x="10" y="101"/>
                </a:lnTo>
                <a:lnTo>
                  <a:pt x="9" y="105"/>
                </a:lnTo>
                <a:lnTo>
                  <a:pt x="8" y="109"/>
                </a:lnTo>
                <a:lnTo>
                  <a:pt x="6" y="114"/>
                </a:lnTo>
                <a:lnTo>
                  <a:pt x="4" y="119"/>
                </a:lnTo>
                <a:lnTo>
                  <a:pt x="3" y="123"/>
                </a:lnTo>
                <a:lnTo>
                  <a:pt x="2" y="128"/>
                </a:lnTo>
                <a:lnTo>
                  <a:pt x="1" y="132"/>
                </a:lnTo>
                <a:lnTo>
                  <a:pt x="0" y="137"/>
                </a:lnTo>
                <a:lnTo>
                  <a:pt x="0" y="141"/>
                </a:lnTo>
                <a:lnTo>
                  <a:pt x="0" y="146"/>
                </a:lnTo>
                <a:lnTo>
                  <a:pt x="0" y="150"/>
                </a:lnTo>
                <a:lnTo>
                  <a:pt x="1" y="154"/>
                </a:lnTo>
                <a:lnTo>
                  <a:pt x="1" y="158"/>
                </a:lnTo>
                <a:lnTo>
                  <a:pt x="2" y="163"/>
                </a:lnTo>
                <a:lnTo>
                  <a:pt x="3" y="167"/>
                </a:lnTo>
                <a:lnTo>
                  <a:pt x="3" y="171"/>
                </a:lnTo>
                <a:lnTo>
                  <a:pt x="4" y="175"/>
                </a:lnTo>
                <a:lnTo>
                  <a:pt x="5" y="179"/>
                </a:lnTo>
                <a:lnTo>
                  <a:pt x="6" y="183"/>
                </a:lnTo>
                <a:lnTo>
                  <a:pt x="7" y="188"/>
                </a:lnTo>
                <a:lnTo>
                  <a:pt x="8" y="192"/>
                </a:lnTo>
                <a:lnTo>
                  <a:pt x="9" y="196"/>
                </a:lnTo>
                <a:lnTo>
                  <a:pt x="10" y="200"/>
                </a:lnTo>
                <a:lnTo>
                  <a:pt x="10" y="204"/>
                </a:lnTo>
                <a:lnTo>
                  <a:pt x="10" y="208"/>
                </a:lnTo>
                <a:lnTo>
                  <a:pt x="11" y="213"/>
                </a:lnTo>
                <a:lnTo>
                  <a:pt x="11" y="217"/>
                </a:lnTo>
                <a:lnTo>
                  <a:pt x="10" y="221"/>
                </a:lnTo>
                <a:lnTo>
                  <a:pt x="10" y="225"/>
                </a:lnTo>
                <a:lnTo>
                  <a:pt x="9" y="230"/>
                </a:lnTo>
                <a:lnTo>
                  <a:pt x="8" y="234"/>
                </a:lnTo>
              </a:path>
            </a:pathLst>
          </a:custGeom>
          <a:noFill/>
          <a:ln w="35560" cap="rnd"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问题二-凝胶-聚合物链6"/>
          <p:cNvSpPr/>
          <p:nvPr/>
        </p:nvSpPr>
        <p:spPr>
          <a:xfrm>
            <a:off x="10090149" y="2679700"/>
            <a:ext cx="69850" cy="1466850"/>
          </a:xfrm>
          <a:custGeom>
            <a:avLst/>
            <a:gdLst/>
            <a:ahLst/>
            <a:cxnLst/>
            <a:rect l="l" t="t" r="r" b="b"/>
            <a:pathLst>
              <a:path w="11" h="231">
                <a:moveTo>
                  <a:pt x="8" y="0"/>
                </a:moveTo>
                <a:lnTo>
                  <a:pt x="6" y="5"/>
                </a:lnTo>
                <a:lnTo>
                  <a:pt x="5" y="9"/>
                </a:lnTo>
                <a:lnTo>
                  <a:pt x="3" y="13"/>
                </a:lnTo>
                <a:lnTo>
                  <a:pt x="3" y="18"/>
                </a:lnTo>
                <a:lnTo>
                  <a:pt x="2" y="22"/>
                </a:lnTo>
                <a:lnTo>
                  <a:pt x="2" y="26"/>
                </a:lnTo>
                <a:lnTo>
                  <a:pt x="2" y="30"/>
                </a:lnTo>
                <a:lnTo>
                  <a:pt x="2" y="34"/>
                </a:lnTo>
                <a:lnTo>
                  <a:pt x="2" y="38"/>
                </a:lnTo>
                <a:lnTo>
                  <a:pt x="3" y="41"/>
                </a:lnTo>
                <a:lnTo>
                  <a:pt x="4" y="45"/>
                </a:lnTo>
                <a:lnTo>
                  <a:pt x="4" y="49"/>
                </a:lnTo>
                <a:lnTo>
                  <a:pt x="5" y="53"/>
                </a:lnTo>
                <a:lnTo>
                  <a:pt x="6" y="56"/>
                </a:lnTo>
                <a:lnTo>
                  <a:pt x="7" y="60"/>
                </a:lnTo>
                <a:lnTo>
                  <a:pt x="8" y="64"/>
                </a:lnTo>
                <a:lnTo>
                  <a:pt x="9" y="67"/>
                </a:lnTo>
                <a:lnTo>
                  <a:pt x="10" y="71"/>
                </a:lnTo>
                <a:lnTo>
                  <a:pt x="10" y="75"/>
                </a:lnTo>
                <a:lnTo>
                  <a:pt x="11" y="79"/>
                </a:lnTo>
                <a:lnTo>
                  <a:pt x="11" y="82"/>
                </a:lnTo>
                <a:lnTo>
                  <a:pt x="11" y="86"/>
                </a:lnTo>
                <a:lnTo>
                  <a:pt x="11" y="90"/>
                </a:lnTo>
                <a:lnTo>
                  <a:pt x="11" y="94"/>
                </a:lnTo>
                <a:lnTo>
                  <a:pt x="10" y="98"/>
                </a:lnTo>
                <a:lnTo>
                  <a:pt x="9" y="102"/>
                </a:lnTo>
                <a:lnTo>
                  <a:pt x="8" y="107"/>
                </a:lnTo>
                <a:lnTo>
                  <a:pt x="6" y="111"/>
                </a:lnTo>
                <a:lnTo>
                  <a:pt x="4" y="116"/>
                </a:lnTo>
                <a:lnTo>
                  <a:pt x="3" y="121"/>
                </a:lnTo>
                <a:lnTo>
                  <a:pt x="2" y="125"/>
                </a:lnTo>
                <a:lnTo>
                  <a:pt x="1" y="130"/>
                </a:lnTo>
                <a:lnTo>
                  <a:pt x="0" y="135"/>
                </a:lnTo>
                <a:lnTo>
                  <a:pt x="0" y="139"/>
                </a:lnTo>
                <a:lnTo>
                  <a:pt x="0" y="144"/>
                </a:lnTo>
                <a:lnTo>
                  <a:pt x="0" y="148"/>
                </a:lnTo>
                <a:lnTo>
                  <a:pt x="1" y="152"/>
                </a:lnTo>
                <a:lnTo>
                  <a:pt x="1" y="157"/>
                </a:lnTo>
                <a:lnTo>
                  <a:pt x="2" y="161"/>
                </a:lnTo>
                <a:lnTo>
                  <a:pt x="3" y="165"/>
                </a:lnTo>
                <a:lnTo>
                  <a:pt x="3" y="169"/>
                </a:lnTo>
                <a:lnTo>
                  <a:pt x="4" y="173"/>
                </a:lnTo>
                <a:lnTo>
                  <a:pt x="5" y="177"/>
                </a:lnTo>
                <a:lnTo>
                  <a:pt x="6" y="181"/>
                </a:lnTo>
                <a:lnTo>
                  <a:pt x="7" y="186"/>
                </a:lnTo>
                <a:lnTo>
                  <a:pt x="8" y="190"/>
                </a:lnTo>
                <a:lnTo>
                  <a:pt x="9" y="194"/>
                </a:lnTo>
                <a:lnTo>
                  <a:pt x="10" y="198"/>
                </a:lnTo>
                <a:lnTo>
                  <a:pt x="10" y="202"/>
                </a:lnTo>
                <a:lnTo>
                  <a:pt x="10" y="206"/>
                </a:lnTo>
                <a:lnTo>
                  <a:pt x="11" y="210"/>
                </a:lnTo>
                <a:lnTo>
                  <a:pt x="11" y="214"/>
                </a:lnTo>
                <a:lnTo>
                  <a:pt x="10" y="218"/>
                </a:lnTo>
                <a:lnTo>
                  <a:pt x="10" y="223"/>
                </a:lnTo>
                <a:lnTo>
                  <a:pt x="9" y="227"/>
                </a:lnTo>
                <a:lnTo>
                  <a:pt x="8" y="231"/>
                </a:lnTo>
              </a:path>
            </a:pathLst>
          </a:custGeom>
          <a:noFill/>
          <a:ln w="35560" cap="rnd"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问题二-凝胶-节点1-交联节点"/>
          <p:cNvSpPr/>
          <p:nvPr/>
        </p:nvSpPr>
        <p:spPr>
          <a:xfrm>
            <a:off x="8089899" y="2774950"/>
            <a:ext cx="76200" cy="762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问题二-凝胶-节点1-节点高光"/>
          <p:cNvSpPr/>
          <p:nvPr/>
        </p:nvSpPr>
        <p:spPr>
          <a:xfrm>
            <a:off x="8101964" y="2790063"/>
            <a:ext cx="26670" cy="20574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问题二-凝胶-节点2-交联节点"/>
          <p:cNvSpPr/>
          <p:nvPr/>
        </p:nvSpPr>
        <p:spPr>
          <a:xfrm>
            <a:off x="9105899" y="2800350"/>
            <a:ext cx="76200" cy="762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问题二-凝胶-节点2-节点高光"/>
          <p:cNvSpPr/>
          <p:nvPr/>
        </p:nvSpPr>
        <p:spPr>
          <a:xfrm>
            <a:off x="9117964" y="2815463"/>
            <a:ext cx="26670" cy="20574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问题二-凝胶-节点3-交联节点"/>
          <p:cNvSpPr/>
          <p:nvPr/>
        </p:nvSpPr>
        <p:spPr>
          <a:xfrm>
            <a:off x="10102849" y="2800350"/>
            <a:ext cx="76200" cy="762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问题二-凝胶-节点3-节点高光"/>
          <p:cNvSpPr/>
          <p:nvPr/>
        </p:nvSpPr>
        <p:spPr>
          <a:xfrm>
            <a:off x="10114914" y="2815463"/>
            <a:ext cx="26670" cy="20574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问题二-凝胶-节点4-交联节点"/>
          <p:cNvSpPr/>
          <p:nvPr/>
        </p:nvSpPr>
        <p:spPr>
          <a:xfrm>
            <a:off x="8077199" y="3416300"/>
            <a:ext cx="76200" cy="762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问题二-凝胶-节点4-节点高光"/>
          <p:cNvSpPr/>
          <p:nvPr/>
        </p:nvSpPr>
        <p:spPr>
          <a:xfrm>
            <a:off x="8089264" y="3431413"/>
            <a:ext cx="26670" cy="20574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问题二-凝胶-节点5-交联节点"/>
          <p:cNvSpPr/>
          <p:nvPr/>
        </p:nvSpPr>
        <p:spPr>
          <a:xfrm>
            <a:off x="9105899" y="3422650"/>
            <a:ext cx="76200" cy="762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问题二-凝胶-节点5-节点高光"/>
          <p:cNvSpPr/>
          <p:nvPr/>
        </p:nvSpPr>
        <p:spPr>
          <a:xfrm>
            <a:off x="9117964" y="3437763"/>
            <a:ext cx="26670" cy="20574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问题二-凝胶-节点6-交联节点"/>
          <p:cNvSpPr/>
          <p:nvPr/>
        </p:nvSpPr>
        <p:spPr>
          <a:xfrm>
            <a:off x="10090149" y="3429000"/>
            <a:ext cx="76200" cy="76200"/>
          </a:xfrm>
          <a:prstGeom prst="ellipse">
            <a:avLst/>
          </a:prstGeom>
          <a:solidFill>
            <a:srgbClr val="D4864D"/>
          </a:solidFill>
          <a:ln w="7620" cap="rnd">
            <a:solidFill>
              <a:srgbClr val="B3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问题二-凝胶-节点6-节点高光"/>
          <p:cNvSpPr/>
          <p:nvPr/>
        </p:nvSpPr>
        <p:spPr>
          <a:xfrm>
            <a:off x="10102214" y="3444113"/>
            <a:ext cx="26670" cy="20574"/>
          </a:xfrm>
          <a:prstGeom prst="ellipse">
            <a:avLst/>
          </a:prstGeom>
          <a:solidFill>
            <a:srgbClr val="F3C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问题二-凝胶-溶剂1-溶剂符号"/>
          <p:cNvSpPr/>
          <p:nvPr/>
        </p:nvSpPr>
        <p:spPr>
          <a:xfrm>
            <a:off x="8445499" y="3013964"/>
            <a:ext cx="165100" cy="118872"/>
          </a:xfrm>
          <a:prstGeom prst="ellipse">
            <a:avLst/>
          </a:prstGeom>
          <a:solidFill>
            <a:srgbClr val="C4E6F5"/>
          </a:solidFill>
          <a:ln w="6350" cap="rnd">
            <a:solidFill>
              <a:srgbClr val="8B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问题二-凝胶-溶剂1-溶剂文字"/>
          <p:cNvSpPr txBox="1"/>
          <p:nvPr/>
        </p:nvSpPr>
        <p:spPr>
          <a:xfrm>
            <a:off x="8492331" y="3014186"/>
            <a:ext cx="96837" cy="1130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50">
                <a:solidFill>
                  <a:srgbClr val="2B6FA9"/>
                </a:solidFill>
                <a:latin typeface="Arial"/>
              </a:rPr>
              <a:t>S</a:t>
            </a:r>
          </a:p>
        </p:txBody>
      </p:sp>
      <p:sp>
        <p:nvSpPr>
          <p:cNvPr id="159" name="问题二-凝胶-溶剂2-溶剂符号"/>
          <p:cNvSpPr/>
          <p:nvPr/>
        </p:nvSpPr>
        <p:spPr>
          <a:xfrm>
            <a:off x="9359899" y="3045714"/>
            <a:ext cx="165100" cy="118872"/>
          </a:xfrm>
          <a:prstGeom prst="ellipse">
            <a:avLst/>
          </a:prstGeom>
          <a:solidFill>
            <a:srgbClr val="C4E6F5"/>
          </a:solidFill>
          <a:ln w="6350" cap="rnd">
            <a:solidFill>
              <a:srgbClr val="8B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问题二-凝胶-溶剂2-溶剂文字"/>
          <p:cNvSpPr txBox="1"/>
          <p:nvPr/>
        </p:nvSpPr>
        <p:spPr>
          <a:xfrm>
            <a:off x="9406730" y="3045936"/>
            <a:ext cx="96837" cy="1130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50">
                <a:solidFill>
                  <a:srgbClr val="2B6FA9"/>
                </a:solidFill>
                <a:latin typeface="Arial"/>
              </a:rPr>
              <a:t>S</a:t>
            </a:r>
          </a:p>
        </p:txBody>
      </p:sp>
      <p:sp>
        <p:nvSpPr>
          <p:cNvPr id="161" name="问题二-凝胶-溶剂3-溶剂符号"/>
          <p:cNvSpPr/>
          <p:nvPr/>
        </p:nvSpPr>
        <p:spPr>
          <a:xfrm>
            <a:off x="8547099" y="3693414"/>
            <a:ext cx="165100" cy="118872"/>
          </a:xfrm>
          <a:prstGeom prst="ellipse">
            <a:avLst/>
          </a:prstGeom>
          <a:solidFill>
            <a:srgbClr val="C4E6F5"/>
          </a:solidFill>
          <a:ln w="6350" cap="rnd">
            <a:solidFill>
              <a:srgbClr val="8B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问题二-凝胶-溶剂3-溶剂文字"/>
          <p:cNvSpPr txBox="1"/>
          <p:nvPr/>
        </p:nvSpPr>
        <p:spPr>
          <a:xfrm>
            <a:off x="8593931" y="3693636"/>
            <a:ext cx="96837" cy="1130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50">
                <a:solidFill>
                  <a:srgbClr val="2B6FA9"/>
                </a:solidFill>
                <a:latin typeface="Arial"/>
              </a:rPr>
              <a:t>S</a:t>
            </a:r>
          </a:p>
        </p:txBody>
      </p:sp>
      <p:sp>
        <p:nvSpPr>
          <p:cNvPr id="163" name="问题二-凝胶-溶剂4-溶剂符号"/>
          <p:cNvSpPr/>
          <p:nvPr/>
        </p:nvSpPr>
        <p:spPr>
          <a:xfrm>
            <a:off x="9575799" y="3763264"/>
            <a:ext cx="165100" cy="118872"/>
          </a:xfrm>
          <a:prstGeom prst="ellipse">
            <a:avLst/>
          </a:prstGeom>
          <a:solidFill>
            <a:srgbClr val="C4E6F5"/>
          </a:solidFill>
          <a:ln w="6350" cap="rnd">
            <a:solidFill>
              <a:srgbClr val="8B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问题二-凝胶-溶剂4-溶剂文字"/>
          <p:cNvSpPr txBox="1"/>
          <p:nvPr/>
        </p:nvSpPr>
        <p:spPr>
          <a:xfrm>
            <a:off x="9622630" y="3763486"/>
            <a:ext cx="96837" cy="1130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50">
                <a:solidFill>
                  <a:srgbClr val="2B6FA9"/>
                </a:solidFill>
                <a:latin typeface="Arial"/>
              </a:rPr>
              <a:t>S</a:t>
            </a:r>
          </a:p>
        </p:txBody>
      </p:sp>
      <p:sp>
        <p:nvSpPr>
          <p:cNvPr id="165" name="问题二-凝胶-锂离子1"/>
          <p:cNvSpPr/>
          <p:nvPr/>
        </p:nvSpPr>
        <p:spPr>
          <a:xfrm>
            <a:off x="8813799" y="3111500"/>
            <a:ext cx="266700" cy="266700"/>
          </a:xfrm>
          <a:prstGeom prst="ellipse">
            <a:avLst/>
          </a:prstGeom>
          <a:solidFill>
            <a:srgbClr val="EBAE3E"/>
          </a:solidFill>
          <a:ln w="9525" cap="rnd">
            <a:solidFill>
              <a:srgbClr val="C2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问题二-凝胶-锂离子1-高光"/>
          <p:cNvSpPr/>
          <p:nvPr/>
        </p:nvSpPr>
        <p:spPr>
          <a:xfrm>
            <a:off x="8872473" y="3174174"/>
            <a:ext cx="82677" cy="61341"/>
          </a:xfrm>
          <a:prstGeom prst="ellipse">
            <a:avLst/>
          </a:prstGeom>
          <a:solidFill>
            <a:srgbClr val="FFE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问题二-凝胶-锂离子1-文字"/>
          <p:cNvSpPr txBox="1"/>
          <p:nvPr/>
        </p:nvSpPr>
        <p:spPr>
          <a:xfrm>
            <a:off x="8861424" y="3183575"/>
            <a:ext cx="196850" cy="1424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819">
                <a:solidFill>
                  <a:srgbClr val="FFFFFF"/>
                </a:solidFill>
                <a:latin typeface="Arial"/>
              </a:rPr>
              <a:t>Li⁺</a:t>
            </a:r>
          </a:p>
        </p:txBody>
      </p:sp>
      <p:sp>
        <p:nvSpPr>
          <p:cNvPr id="168" name="问题二-凝胶-锂离子2"/>
          <p:cNvSpPr/>
          <p:nvPr/>
        </p:nvSpPr>
        <p:spPr>
          <a:xfrm>
            <a:off x="7842249" y="3606800"/>
            <a:ext cx="203200" cy="203200"/>
          </a:xfrm>
          <a:prstGeom prst="ellipse">
            <a:avLst/>
          </a:prstGeom>
          <a:solidFill>
            <a:srgbClr val="EBAE3E"/>
          </a:solidFill>
          <a:ln w="9525" cap="rnd">
            <a:solidFill>
              <a:srgbClr val="C2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问题二-凝胶-锂离子2-高光"/>
          <p:cNvSpPr/>
          <p:nvPr/>
        </p:nvSpPr>
        <p:spPr>
          <a:xfrm>
            <a:off x="7886953" y="3654552"/>
            <a:ext cx="62992" cy="46736"/>
          </a:xfrm>
          <a:prstGeom prst="ellipse">
            <a:avLst/>
          </a:prstGeom>
          <a:solidFill>
            <a:srgbClr val="FFE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问题二-凝胶-锂离子2-文字"/>
          <p:cNvSpPr txBox="1"/>
          <p:nvPr/>
        </p:nvSpPr>
        <p:spPr>
          <a:xfrm>
            <a:off x="7877968" y="3661714"/>
            <a:ext cx="157162" cy="1085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24">
                <a:solidFill>
                  <a:srgbClr val="FFFFFF"/>
                </a:solidFill>
                <a:latin typeface="Arial"/>
              </a:rPr>
              <a:t>Li⁺</a:t>
            </a:r>
          </a:p>
        </p:txBody>
      </p:sp>
      <p:sp>
        <p:nvSpPr>
          <p:cNvPr id="171" name="问题二-凝胶-锂离子3"/>
          <p:cNvSpPr/>
          <p:nvPr/>
        </p:nvSpPr>
        <p:spPr>
          <a:xfrm>
            <a:off x="9537699" y="2832100"/>
            <a:ext cx="203200" cy="203200"/>
          </a:xfrm>
          <a:prstGeom prst="ellipse">
            <a:avLst/>
          </a:prstGeom>
          <a:solidFill>
            <a:srgbClr val="EBAE3E"/>
          </a:solidFill>
          <a:ln w="9525" cap="rnd">
            <a:solidFill>
              <a:srgbClr val="C2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问题二-凝胶-锂离子3-高光"/>
          <p:cNvSpPr/>
          <p:nvPr/>
        </p:nvSpPr>
        <p:spPr>
          <a:xfrm>
            <a:off x="9582403" y="2879852"/>
            <a:ext cx="62992" cy="46736"/>
          </a:xfrm>
          <a:prstGeom prst="ellipse">
            <a:avLst/>
          </a:prstGeom>
          <a:solidFill>
            <a:srgbClr val="FFE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问题二-凝胶-锂离子3-文字"/>
          <p:cNvSpPr txBox="1"/>
          <p:nvPr/>
        </p:nvSpPr>
        <p:spPr>
          <a:xfrm>
            <a:off x="9573418" y="2887015"/>
            <a:ext cx="157162" cy="1085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624">
                <a:solidFill>
                  <a:srgbClr val="FFFFFF"/>
                </a:solidFill>
                <a:latin typeface="Arial"/>
              </a:rPr>
              <a:t>Li⁺</a:t>
            </a:r>
          </a:p>
        </p:txBody>
      </p:sp>
      <p:sp>
        <p:nvSpPr>
          <p:cNvPr id="174" name="问题二-负极-较高局部离子通量"/>
          <p:cNvSpPr/>
          <p:nvPr/>
        </p:nvSpPr>
        <p:spPr>
          <a:xfrm>
            <a:off x="9207499" y="3136900"/>
            <a:ext cx="1644650" cy="107950"/>
          </a:xfrm>
          <a:custGeom>
            <a:avLst/>
            <a:gdLst/>
            <a:ahLst/>
            <a:cxnLst/>
            <a:rect l="l" t="t" r="r" b="b"/>
            <a:pathLst>
              <a:path w="259" h="17">
                <a:moveTo>
                  <a:pt x="0" y="17"/>
                </a:moveTo>
                <a:lnTo>
                  <a:pt x="9" y="14"/>
                </a:lnTo>
                <a:lnTo>
                  <a:pt x="18" y="12"/>
                </a:lnTo>
                <a:lnTo>
                  <a:pt x="26" y="10"/>
                </a:lnTo>
                <a:lnTo>
                  <a:pt x="35" y="8"/>
                </a:lnTo>
                <a:lnTo>
                  <a:pt x="43" y="6"/>
                </a:lnTo>
                <a:lnTo>
                  <a:pt x="52" y="5"/>
                </a:lnTo>
                <a:lnTo>
                  <a:pt x="60" y="4"/>
                </a:lnTo>
                <a:lnTo>
                  <a:pt x="68" y="3"/>
                </a:lnTo>
                <a:lnTo>
                  <a:pt x="77" y="2"/>
                </a:lnTo>
                <a:lnTo>
                  <a:pt x="85" y="1"/>
                </a:lnTo>
                <a:lnTo>
                  <a:pt x="94" y="1"/>
                </a:lnTo>
                <a:lnTo>
                  <a:pt x="102" y="0"/>
                </a:lnTo>
                <a:lnTo>
                  <a:pt x="111" y="0"/>
                </a:lnTo>
                <a:lnTo>
                  <a:pt x="119" y="0"/>
                </a:lnTo>
                <a:lnTo>
                  <a:pt x="128" y="1"/>
                </a:lnTo>
                <a:lnTo>
                  <a:pt x="137" y="1"/>
                </a:lnTo>
                <a:lnTo>
                  <a:pt x="146" y="1"/>
                </a:lnTo>
                <a:lnTo>
                  <a:pt x="155" y="2"/>
                </a:lnTo>
                <a:lnTo>
                  <a:pt x="165" y="3"/>
                </a:lnTo>
                <a:lnTo>
                  <a:pt x="174" y="4"/>
                </a:lnTo>
                <a:lnTo>
                  <a:pt x="184" y="5"/>
                </a:lnTo>
                <a:lnTo>
                  <a:pt x="194" y="6"/>
                </a:lnTo>
                <a:lnTo>
                  <a:pt x="204" y="8"/>
                </a:lnTo>
                <a:lnTo>
                  <a:pt x="214" y="9"/>
                </a:lnTo>
                <a:lnTo>
                  <a:pt x="225" y="11"/>
                </a:lnTo>
                <a:lnTo>
                  <a:pt x="236" y="12"/>
                </a:lnTo>
                <a:lnTo>
                  <a:pt x="247" y="14"/>
                </a:lnTo>
                <a:lnTo>
                  <a:pt x="259" y="16"/>
                </a:lnTo>
              </a:path>
            </a:pathLst>
          </a:custGeom>
          <a:noFill/>
          <a:ln w="31750" cap="rnd">
            <a:solidFill>
              <a:srgbClr val="2B6FA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问题二-负极-较高局部离子通量-箭头"/>
          <p:cNvSpPr/>
          <p:nvPr/>
        </p:nvSpPr>
        <p:spPr>
          <a:xfrm>
            <a:off x="10775949" y="3194050"/>
            <a:ext cx="76200" cy="69850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12" y="7"/>
                </a:moveTo>
                <a:lnTo>
                  <a:pt x="0" y="11"/>
                </a:lnTo>
                <a:lnTo>
                  <a:pt x="1" y="0"/>
                </a:lnTo>
                <a:close/>
              </a:path>
            </a:pathLst>
          </a:custGeom>
          <a:solidFill>
            <a:srgbClr val="2B6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问题二-负极-较低局部离子通量"/>
          <p:cNvSpPr/>
          <p:nvPr/>
        </p:nvSpPr>
        <p:spPr>
          <a:xfrm>
            <a:off x="9340849" y="3892550"/>
            <a:ext cx="1524000" cy="44450"/>
          </a:xfrm>
          <a:custGeom>
            <a:avLst/>
            <a:gdLst/>
            <a:ahLst/>
            <a:cxnLst/>
            <a:rect l="l" t="t" r="r" b="b"/>
            <a:pathLst>
              <a:path w="240" h="7">
                <a:moveTo>
                  <a:pt x="0" y="0"/>
                </a:moveTo>
                <a:lnTo>
                  <a:pt x="10" y="2"/>
                </a:lnTo>
                <a:lnTo>
                  <a:pt x="20" y="3"/>
                </a:lnTo>
                <a:lnTo>
                  <a:pt x="29" y="4"/>
                </a:lnTo>
                <a:lnTo>
                  <a:pt x="38" y="5"/>
                </a:lnTo>
                <a:lnTo>
                  <a:pt x="47" y="6"/>
                </a:lnTo>
                <a:lnTo>
                  <a:pt x="56" y="6"/>
                </a:lnTo>
                <a:lnTo>
                  <a:pt x="65" y="7"/>
                </a:lnTo>
                <a:lnTo>
                  <a:pt x="73" y="7"/>
                </a:lnTo>
                <a:lnTo>
                  <a:pt x="82" y="7"/>
                </a:lnTo>
                <a:lnTo>
                  <a:pt x="90" y="7"/>
                </a:lnTo>
                <a:lnTo>
                  <a:pt x="98" y="6"/>
                </a:lnTo>
                <a:lnTo>
                  <a:pt x="106" y="6"/>
                </a:lnTo>
                <a:lnTo>
                  <a:pt x="114" y="6"/>
                </a:lnTo>
                <a:lnTo>
                  <a:pt x="122" y="5"/>
                </a:lnTo>
                <a:lnTo>
                  <a:pt x="130" y="5"/>
                </a:lnTo>
                <a:lnTo>
                  <a:pt x="138" y="4"/>
                </a:lnTo>
                <a:lnTo>
                  <a:pt x="146" y="4"/>
                </a:lnTo>
                <a:lnTo>
                  <a:pt x="154" y="3"/>
                </a:lnTo>
                <a:lnTo>
                  <a:pt x="162" y="3"/>
                </a:lnTo>
                <a:lnTo>
                  <a:pt x="170" y="3"/>
                </a:lnTo>
                <a:lnTo>
                  <a:pt x="179" y="2"/>
                </a:lnTo>
                <a:lnTo>
                  <a:pt x="187" y="2"/>
                </a:lnTo>
                <a:lnTo>
                  <a:pt x="195" y="2"/>
                </a:lnTo>
                <a:lnTo>
                  <a:pt x="204" y="2"/>
                </a:lnTo>
                <a:lnTo>
                  <a:pt x="213" y="3"/>
                </a:lnTo>
                <a:lnTo>
                  <a:pt x="222" y="3"/>
                </a:lnTo>
                <a:lnTo>
                  <a:pt x="231" y="4"/>
                </a:lnTo>
                <a:lnTo>
                  <a:pt x="240" y="5"/>
                </a:lnTo>
              </a:path>
            </a:pathLst>
          </a:custGeom>
          <a:noFill/>
          <a:ln w="15240" cap="rnd">
            <a:solidFill>
              <a:srgbClr val="85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问题二-负极-较低局部离子通量-箭头"/>
          <p:cNvSpPr/>
          <p:nvPr/>
        </p:nvSpPr>
        <p:spPr>
          <a:xfrm>
            <a:off x="10807699" y="3892550"/>
            <a:ext cx="57150" cy="508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5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85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问题二-正极-界面迁移箭头"/>
          <p:cNvSpPr/>
          <p:nvPr/>
        </p:nvSpPr>
        <p:spPr>
          <a:xfrm>
            <a:off x="7296149" y="3086100"/>
            <a:ext cx="590550" cy="101600"/>
          </a:xfrm>
          <a:custGeom>
            <a:avLst/>
            <a:gdLst/>
            <a:ahLst/>
            <a:cxnLst/>
            <a:rect l="l" t="t" r="r" b="b"/>
            <a:pathLst>
              <a:path w="93" h="16">
                <a:moveTo>
                  <a:pt x="93" y="10"/>
                </a:moveTo>
                <a:lnTo>
                  <a:pt x="89" y="8"/>
                </a:lnTo>
                <a:lnTo>
                  <a:pt x="86" y="7"/>
                </a:lnTo>
                <a:lnTo>
                  <a:pt x="82" y="6"/>
                </a:lnTo>
                <a:lnTo>
                  <a:pt x="79" y="4"/>
                </a:lnTo>
                <a:lnTo>
                  <a:pt x="75" y="3"/>
                </a:lnTo>
                <a:lnTo>
                  <a:pt x="71" y="2"/>
                </a:lnTo>
                <a:lnTo>
                  <a:pt x="68" y="2"/>
                </a:lnTo>
                <a:lnTo>
                  <a:pt x="64" y="1"/>
                </a:lnTo>
                <a:lnTo>
                  <a:pt x="61" y="1"/>
                </a:lnTo>
                <a:lnTo>
                  <a:pt x="57" y="0"/>
                </a:lnTo>
                <a:lnTo>
                  <a:pt x="54" y="0"/>
                </a:lnTo>
                <a:lnTo>
                  <a:pt x="50" y="0"/>
                </a:lnTo>
                <a:lnTo>
                  <a:pt x="47" y="0"/>
                </a:lnTo>
                <a:lnTo>
                  <a:pt x="43" y="0"/>
                </a:lnTo>
                <a:lnTo>
                  <a:pt x="40" y="1"/>
                </a:lnTo>
                <a:lnTo>
                  <a:pt x="37" y="1"/>
                </a:lnTo>
                <a:lnTo>
                  <a:pt x="34" y="2"/>
                </a:lnTo>
                <a:lnTo>
                  <a:pt x="30" y="2"/>
                </a:lnTo>
                <a:lnTo>
                  <a:pt x="27" y="3"/>
                </a:lnTo>
                <a:lnTo>
                  <a:pt x="24" y="4"/>
                </a:lnTo>
                <a:lnTo>
                  <a:pt x="21" y="5"/>
                </a:lnTo>
                <a:lnTo>
                  <a:pt x="18" y="6"/>
                </a:lnTo>
                <a:lnTo>
                  <a:pt x="15" y="8"/>
                </a:lnTo>
                <a:lnTo>
                  <a:pt x="12" y="9"/>
                </a:lnTo>
                <a:lnTo>
                  <a:pt x="9" y="11"/>
                </a:lnTo>
                <a:lnTo>
                  <a:pt x="6" y="12"/>
                </a:lnTo>
                <a:lnTo>
                  <a:pt x="3" y="14"/>
                </a:lnTo>
                <a:lnTo>
                  <a:pt x="0" y="16"/>
                </a:lnTo>
              </a:path>
            </a:pathLst>
          </a:custGeom>
          <a:noFill/>
          <a:ln w="22225" cap="rnd">
            <a:solidFill>
              <a:srgbClr val="2B6FA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问题二-正极-界面迁移箭头-箭头"/>
          <p:cNvSpPr/>
          <p:nvPr/>
        </p:nvSpPr>
        <p:spPr>
          <a:xfrm>
            <a:off x="7296149" y="31369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10" h="8">
                <a:moveTo>
                  <a:pt x="0" y="8"/>
                </a:moveTo>
                <a:lnTo>
                  <a:pt x="6" y="0"/>
                </a:lnTo>
                <a:lnTo>
                  <a:pt x="10" y="8"/>
                </a:lnTo>
                <a:close/>
              </a:path>
            </a:pathLst>
          </a:custGeom>
          <a:solidFill>
            <a:srgbClr val="2B6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问题二-正极-空隙标注"/>
          <p:cNvSpPr/>
          <p:nvPr/>
        </p:nvSpPr>
        <p:spPr>
          <a:xfrm>
            <a:off x="7454899" y="4241800"/>
            <a:ext cx="1371600" cy="228600"/>
          </a:xfrm>
          <a:prstGeom prst="roundRect">
            <a:avLst>
              <a:gd name="adj" fmla="val 50000"/>
            </a:avLst>
          </a:prstGeom>
          <a:solidFill>
            <a:srgbClr val="FFF6F3"/>
          </a:solidFill>
          <a:ln w="9525" cap="rnd">
            <a:solidFill>
              <a:srgbClr val="DDA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问题二-正极-空隙标注-标签"/>
          <p:cNvSpPr txBox="1"/>
          <p:nvPr/>
        </p:nvSpPr>
        <p:spPr>
          <a:xfrm>
            <a:off x="7715249" y="4263199"/>
            <a:ext cx="876300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BE5D50"/>
                </a:solidFill>
                <a:latin typeface="Microsoft YaHei"/>
                <a:ea typeface="Microsoft YaHei"/>
              </a:rPr>
              <a:t>局部接触空隙</a:t>
            </a:r>
          </a:p>
        </p:txBody>
      </p:sp>
      <p:sp>
        <p:nvSpPr>
          <p:cNvPr id="182" name="问题二-正极-空隙标注引线"/>
          <p:cNvSpPr/>
          <p:nvPr/>
        </p:nvSpPr>
        <p:spPr>
          <a:xfrm>
            <a:off x="7194549" y="3898900"/>
            <a:ext cx="298450" cy="400050"/>
          </a:xfrm>
          <a:custGeom>
            <a:avLst/>
            <a:gdLst/>
            <a:ahLst/>
            <a:cxnLst/>
            <a:rect l="l" t="t" r="r" b="b"/>
            <a:pathLst>
              <a:path w="47" h="63">
                <a:moveTo>
                  <a:pt x="47" y="63"/>
                </a:moveTo>
                <a:lnTo>
                  <a:pt x="10" y="23"/>
                </a:lnTo>
                <a:lnTo>
                  <a:pt x="0" y="0"/>
                </a:lnTo>
              </a:path>
            </a:pathLst>
          </a:custGeom>
          <a:noFill/>
          <a:ln w="10795" cap="rnd">
            <a:solidFill>
              <a:srgbClr val="BE5D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问题二-负极-成膜失稳标注"/>
          <p:cNvSpPr/>
          <p:nvPr/>
        </p:nvSpPr>
        <p:spPr>
          <a:xfrm>
            <a:off x="9270999" y="3543300"/>
            <a:ext cx="1371600" cy="228600"/>
          </a:xfrm>
          <a:prstGeom prst="roundRect">
            <a:avLst>
              <a:gd name="adj" fmla="val 50000"/>
            </a:avLst>
          </a:prstGeom>
          <a:solidFill>
            <a:srgbClr val="FFF6F3"/>
          </a:solidFill>
          <a:ln w="9525" cap="rnd">
            <a:solidFill>
              <a:srgbClr val="DDA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问题二-负极-成膜失稳标注-标签"/>
          <p:cNvSpPr txBox="1"/>
          <p:nvPr/>
        </p:nvSpPr>
        <p:spPr>
          <a:xfrm>
            <a:off x="9413080" y="3568922"/>
            <a:ext cx="1112837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BE5D50"/>
                </a:solidFill>
                <a:latin typeface="Microsoft YaHei"/>
                <a:ea typeface="Microsoft YaHei"/>
              </a:rPr>
              <a:t>反应膜破裂</a:t>
            </a:r>
            <a:r>
              <a:rPr b="1" sz="1050">
                <a:solidFill>
                  <a:srgbClr val="BE5D50"/>
                </a:solidFill>
                <a:latin typeface="Arial"/>
              </a:rPr>
              <a:t> / </a:t>
            </a:r>
            <a:r>
              <a:rPr b="1" sz="1050">
                <a:solidFill>
                  <a:srgbClr val="BE5D50"/>
                </a:solidFill>
                <a:latin typeface="Microsoft YaHei"/>
                <a:ea typeface="Microsoft YaHei"/>
              </a:rPr>
              <a:t>重构</a:t>
            </a:r>
          </a:p>
        </p:txBody>
      </p:sp>
      <p:sp>
        <p:nvSpPr>
          <p:cNvPr id="185" name="问题二-负极-成膜标注引线"/>
          <p:cNvSpPr/>
          <p:nvPr/>
        </p:nvSpPr>
        <p:spPr>
          <a:xfrm>
            <a:off x="10642599" y="3638550"/>
            <a:ext cx="361950" cy="57150"/>
          </a:xfrm>
          <a:custGeom>
            <a:avLst/>
            <a:gdLst/>
            <a:ahLst/>
            <a:cxnLst/>
            <a:rect l="l" t="t" r="r" b="b"/>
            <a:pathLst>
              <a:path w="57" h="9">
                <a:moveTo>
                  <a:pt x="0" y="3"/>
                </a:moveTo>
                <a:lnTo>
                  <a:pt x="26" y="0"/>
                </a:lnTo>
                <a:lnTo>
                  <a:pt x="57" y="9"/>
                </a:lnTo>
              </a:path>
            </a:pathLst>
          </a:custGeom>
          <a:noFill/>
          <a:ln w="10795" cap="rnd">
            <a:solidFill>
              <a:srgbClr val="BE5D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问题二-负极-通量标注"/>
          <p:cNvSpPr txBox="1"/>
          <p:nvPr/>
        </p:nvSpPr>
        <p:spPr>
          <a:xfrm>
            <a:off x="9931399" y="4206557"/>
            <a:ext cx="876300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225A8C"/>
                </a:solidFill>
                <a:latin typeface="Microsoft YaHei"/>
                <a:ea typeface="Microsoft YaHei"/>
              </a:rPr>
              <a:t>局部通量不均</a:t>
            </a:r>
          </a:p>
        </p:txBody>
      </p:sp>
      <p:sp>
        <p:nvSpPr>
          <p:cNvPr id="187" name="问题一-宏观总结"/>
          <p:cNvSpPr txBox="1"/>
          <p:nvPr/>
        </p:nvSpPr>
        <p:spPr>
          <a:xfrm>
            <a:off x="1835944" y="4580572"/>
            <a:ext cx="2601912" cy="2261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225A8C"/>
                </a:solidFill>
                <a:latin typeface="Microsoft YaHei"/>
                <a:ea typeface="Microsoft YaHei"/>
              </a:rPr>
              <a:t>网络限域</a:t>
            </a:r>
            <a:r>
              <a:rPr b="1" sz="1300">
                <a:solidFill>
                  <a:srgbClr val="225A8C"/>
                </a:solidFill>
                <a:latin typeface="Arial"/>
              </a:rPr>
              <a:t> → </a:t>
            </a:r>
            <a:r>
              <a:rPr b="1" sz="1300">
                <a:solidFill>
                  <a:srgbClr val="225A8C"/>
                </a:solidFill>
                <a:latin typeface="Microsoft YaHei"/>
                <a:ea typeface="Microsoft YaHei"/>
              </a:rPr>
              <a:t>有效离子迁移可能受限</a:t>
            </a:r>
          </a:p>
        </p:txBody>
      </p:sp>
      <p:sp>
        <p:nvSpPr>
          <p:cNvPr id="188" name="问题二-宏观总结"/>
          <p:cNvSpPr txBox="1"/>
          <p:nvPr/>
        </p:nvSpPr>
        <p:spPr>
          <a:xfrm>
            <a:off x="7735887" y="4580572"/>
            <a:ext cx="2689225" cy="2261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BE5D50"/>
                </a:solidFill>
                <a:latin typeface="Microsoft YaHei"/>
                <a:ea typeface="Microsoft YaHei"/>
              </a:rPr>
              <a:t>接触不均</a:t>
            </a:r>
            <a:r>
              <a:rPr b="1" sz="1300">
                <a:solidFill>
                  <a:srgbClr val="BE5D50"/>
                </a:solidFill>
                <a:latin typeface="Arial"/>
              </a:rPr>
              <a:t> + </a:t>
            </a:r>
            <a:r>
              <a:rPr b="1" sz="1300">
                <a:solidFill>
                  <a:srgbClr val="BE5D50"/>
                </a:solidFill>
                <a:latin typeface="Microsoft YaHei"/>
                <a:ea typeface="Microsoft YaHei"/>
              </a:rPr>
              <a:t>界面膜失稳</a:t>
            </a:r>
            <a:r>
              <a:rPr b="1" sz="1300">
                <a:solidFill>
                  <a:srgbClr val="BE5D50"/>
                </a:solidFill>
                <a:latin typeface="Arial"/>
              </a:rPr>
              <a:t> → </a:t>
            </a:r>
            <a:r>
              <a:rPr b="1" sz="1300">
                <a:solidFill>
                  <a:srgbClr val="BE5D50"/>
                </a:solidFill>
                <a:latin typeface="Microsoft YaHei"/>
                <a:ea typeface="Microsoft YaHei"/>
              </a:rPr>
              <a:t>阻抗增长</a:t>
            </a:r>
          </a:p>
        </p:txBody>
      </p:sp>
      <p:cxnSp>
        <p:nvCxnSpPr>
          <p:cNvPr id="189" name="问题一-要点分隔线"/>
          <p:cNvCxnSpPr/>
          <p:nvPr/>
        </p:nvCxnSpPr>
        <p:spPr>
          <a:xfrm>
            <a:off x="488950" y="4883150"/>
            <a:ext cx="5270500" cy="0"/>
          </a:xfrm>
          <a:prstGeom prst="line">
            <a:avLst/>
          </a:prstGeom>
          <a:ln w="7620" cap="rnd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问题二-要点分隔线"/>
          <p:cNvCxnSpPr/>
          <p:nvPr/>
        </p:nvCxnSpPr>
        <p:spPr>
          <a:xfrm>
            <a:off x="6432549" y="4883150"/>
            <a:ext cx="5270500" cy="0"/>
          </a:xfrm>
          <a:prstGeom prst="line">
            <a:avLst/>
          </a:prstGeom>
          <a:ln w="7620" cap="rnd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问题一-要点1-圆点"/>
          <p:cNvSpPr/>
          <p:nvPr/>
        </p:nvSpPr>
        <p:spPr>
          <a:xfrm>
            <a:off x="504825" y="4987925"/>
            <a:ext cx="57150" cy="57150"/>
          </a:xfrm>
          <a:prstGeom prst="ellipse">
            <a:avLst/>
          </a:prstGeom>
          <a:solidFill>
            <a:srgbClr val="2B6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问题一-要点1-文字"/>
          <p:cNvSpPr txBox="1"/>
          <p:nvPr/>
        </p:nvSpPr>
        <p:spPr>
          <a:xfrm>
            <a:off x="647700" y="4917440"/>
            <a:ext cx="3086100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172B46"/>
                </a:solidFill>
                <a:latin typeface="Microsoft YaHei"/>
                <a:ea typeface="Microsoft YaHei"/>
              </a:rPr>
              <a:t>通道曲折：网络分割连续液相，离子需要绕行</a:t>
            </a:r>
          </a:p>
        </p:txBody>
      </p:sp>
      <p:sp>
        <p:nvSpPr>
          <p:cNvPr id="193" name="问题一-要点2-圆点"/>
          <p:cNvSpPr/>
          <p:nvPr/>
        </p:nvSpPr>
        <p:spPr>
          <a:xfrm>
            <a:off x="504825" y="5260975"/>
            <a:ext cx="57150" cy="57150"/>
          </a:xfrm>
          <a:prstGeom prst="ellipse">
            <a:avLst/>
          </a:prstGeom>
          <a:solidFill>
            <a:srgbClr val="2B6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问题一-要点2-文字"/>
          <p:cNvSpPr txBox="1"/>
          <p:nvPr/>
        </p:nvSpPr>
        <p:spPr>
          <a:xfrm>
            <a:off x="647700" y="5190490"/>
            <a:ext cx="3235325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172B46"/>
                </a:solidFill>
                <a:latin typeface="Microsoft YaHei"/>
                <a:ea typeface="Microsoft YaHei"/>
              </a:rPr>
              <a:t>配位</a:t>
            </a:r>
            <a:r>
              <a:rPr b="0" sz="1200">
                <a:solidFill>
                  <a:srgbClr val="172B46"/>
                </a:solidFill>
                <a:latin typeface="Arial"/>
              </a:rPr>
              <a:t> / </a:t>
            </a:r>
            <a:r>
              <a:rPr b="0" sz="1200">
                <a:solidFill>
                  <a:srgbClr val="172B46"/>
                </a:solidFill>
                <a:latin typeface="Microsoft YaHei"/>
                <a:ea typeface="Microsoft YaHei"/>
              </a:rPr>
              <a:t>链段约束：局部结合与松弛可能限制迁移</a:t>
            </a:r>
          </a:p>
        </p:txBody>
      </p:sp>
      <p:sp>
        <p:nvSpPr>
          <p:cNvPr id="195" name="问题一-要点3-圆点"/>
          <p:cNvSpPr/>
          <p:nvPr/>
        </p:nvSpPr>
        <p:spPr>
          <a:xfrm>
            <a:off x="504825" y="5534025"/>
            <a:ext cx="57150" cy="57150"/>
          </a:xfrm>
          <a:prstGeom prst="ellipse">
            <a:avLst/>
          </a:prstGeom>
          <a:solidFill>
            <a:srgbClr val="2B6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问题一-要点3-文字"/>
          <p:cNvSpPr txBox="1"/>
          <p:nvPr/>
        </p:nvSpPr>
        <p:spPr>
          <a:xfrm>
            <a:off x="647700" y="5463540"/>
            <a:ext cx="2933700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172B46"/>
                </a:solidFill>
                <a:latin typeface="Microsoft YaHei"/>
                <a:ea typeface="Microsoft YaHei"/>
              </a:rPr>
              <a:t>结构不均：团聚或相分离使有效通道不连续</a:t>
            </a:r>
          </a:p>
        </p:txBody>
      </p:sp>
      <p:sp>
        <p:nvSpPr>
          <p:cNvPr id="197" name="问题二-要点1-圆点"/>
          <p:cNvSpPr/>
          <p:nvPr/>
        </p:nvSpPr>
        <p:spPr>
          <a:xfrm>
            <a:off x="6448424" y="4987925"/>
            <a:ext cx="57150" cy="57150"/>
          </a:xfrm>
          <a:prstGeom prst="ellipse">
            <a:avLst/>
          </a:prstGeom>
          <a:solidFill>
            <a:srgbClr val="BE5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问题二-要点1-文字"/>
          <p:cNvSpPr txBox="1"/>
          <p:nvPr/>
        </p:nvSpPr>
        <p:spPr>
          <a:xfrm>
            <a:off x="6591299" y="4917440"/>
            <a:ext cx="2933700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172B46"/>
                </a:solidFill>
                <a:latin typeface="Microsoft YaHei"/>
                <a:ea typeface="Microsoft YaHei"/>
              </a:rPr>
              <a:t>接触不均：局部空隙减少有效电极接触面积</a:t>
            </a:r>
          </a:p>
        </p:txBody>
      </p:sp>
      <p:sp>
        <p:nvSpPr>
          <p:cNvPr id="199" name="问题二-要点2-圆点"/>
          <p:cNvSpPr/>
          <p:nvPr/>
        </p:nvSpPr>
        <p:spPr>
          <a:xfrm>
            <a:off x="6448424" y="5260975"/>
            <a:ext cx="57150" cy="57150"/>
          </a:xfrm>
          <a:prstGeom prst="ellipse">
            <a:avLst/>
          </a:prstGeom>
          <a:solidFill>
            <a:srgbClr val="BE5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问题二-要点2-文字"/>
          <p:cNvSpPr txBox="1"/>
          <p:nvPr/>
        </p:nvSpPr>
        <p:spPr>
          <a:xfrm>
            <a:off x="6591299" y="5190490"/>
            <a:ext cx="2855912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172B46"/>
                </a:solidFill>
                <a:latin typeface="Microsoft YaHei"/>
                <a:ea typeface="Microsoft YaHei"/>
              </a:rPr>
              <a:t>界面副反应：</a:t>
            </a:r>
            <a:r>
              <a:rPr b="0" sz="1200">
                <a:solidFill>
                  <a:srgbClr val="172B46"/>
                </a:solidFill>
                <a:latin typeface="Arial"/>
              </a:rPr>
              <a:t>SEI / CEI </a:t>
            </a:r>
            <a:r>
              <a:rPr b="0" sz="1200">
                <a:solidFill>
                  <a:srgbClr val="172B46"/>
                </a:solidFill>
                <a:latin typeface="Microsoft YaHei"/>
                <a:ea typeface="Microsoft YaHei"/>
              </a:rPr>
              <a:t>不均、破裂与重构</a:t>
            </a:r>
          </a:p>
        </p:txBody>
      </p:sp>
      <p:sp>
        <p:nvSpPr>
          <p:cNvPr id="201" name="问题二-要点3-圆点"/>
          <p:cNvSpPr/>
          <p:nvPr/>
        </p:nvSpPr>
        <p:spPr>
          <a:xfrm>
            <a:off x="6448424" y="5534025"/>
            <a:ext cx="57150" cy="57150"/>
          </a:xfrm>
          <a:prstGeom prst="ellipse">
            <a:avLst/>
          </a:prstGeom>
          <a:solidFill>
            <a:srgbClr val="BE5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问题二-要点3-文字"/>
          <p:cNvSpPr txBox="1"/>
          <p:nvPr/>
        </p:nvSpPr>
        <p:spPr>
          <a:xfrm>
            <a:off x="6591299" y="5463540"/>
            <a:ext cx="3086100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172B46"/>
                </a:solidFill>
                <a:latin typeface="Microsoft YaHei"/>
                <a:ea typeface="Microsoft YaHei"/>
              </a:rPr>
              <a:t>通量失衡：局部极化增大，长期阻抗持续增长</a:t>
            </a:r>
          </a:p>
        </p:txBody>
      </p:sp>
      <p:sp>
        <p:nvSpPr>
          <p:cNvPr id="203" name="过渡-底部问题栏"/>
          <p:cNvSpPr/>
          <p:nvPr/>
        </p:nvSpPr>
        <p:spPr>
          <a:xfrm>
            <a:off x="304800" y="6007100"/>
            <a:ext cx="11582399" cy="488950"/>
          </a:xfrm>
          <a:prstGeom prst="roundRect">
            <a:avLst>
              <a:gd name="adj" fmla="val 20779"/>
            </a:avLst>
          </a:prstGeom>
          <a:solidFill>
            <a:srgbClr val="17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过渡-提示标签"/>
          <p:cNvSpPr/>
          <p:nvPr/>
        </p:nvSpPr>
        <p:spPr>
          <a:xfrm>
            <a:off x="457200" y="6127749"/>
            <a:ext cx="1371600" cy="254000"/>
          </a:xfrm>
          <a:prstGeom prst="roundRect">
            <a:avLst>
              <a:gd name="adj" fmla="val 50000"/>
            </a:avLst>
          </a:prstGeom>
          <a:solidFill>
            <a:srgbClr val="2D698A"/>
          </a:solidFill>
          <a:ln w="9525" cap="rnd">
            <a:solidFill>
              <a:srgbClr val="2D6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过渡-提示标签-标签"/>
          <p:cNvSpPr txBox="1"/>
          <p:nvPr/>
        </p:nvSpPr>
        <p:spPr>
          <a:xfrm>
            <a:off x="698500" y="6157626"/>
            <a:ext cx="914400" cy="200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FFFFFF"/>
                </a:solidFill>
                <a:latin typeface="Microsoft YaHei"/>
                <a:ea typeface="Microsoft YaHei"/>
              </a:rPr>
              <a:t>引出体系设计</a:t>
            </a:r>
          </a:p>
        </p:txBody>
      </p:sp>
      <p:sp>
        <p:nvSpPr>
          <p:cNvPr id="206" name="过渡-核心设计目标问句"/>
          <p:cNvSpPr txBox="1"/>
          <p:nvPr/>
        </p:nvSpPr>
        <p:spPr>
          <a:xfrm>
            <a:off x="2012950" y="6129496"/>
            <a:ext cx="5562600" cy="252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50">
                <a:solidFill>
                  <a:srgbClr val="FFFFFF"/>
                </a:solidFill>
                <a:latin typeface="Microsoft YaHei"/>
                <a:ea typeface="Microsoft YaHei"/>
              </a:rPr>
              <a:t>如何兼顾稳定的聚合物骨架、高效离子传输与长期稳定的电极界面？</a:t>
            </a:r>
          </a:p>
        </p:txBody>
      </p:sp>
      <p:sp>
        <p:nvSpPr>
          <p:cNvPr id="207" name="页面-科学边界说明"/>
          <p:cNvSpPr txBox="1"/>
          <p:nvPr/>
        </p:nvSpPr>
        <p:spPr>
          <a:xfrm>
            <a:off x="298450" y="6575583"/>
            <a:ext cx="6432549" cy="165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950">
                <a:solidFill>
                  <a:srgbClr val="64768A"/>
                </a:solidFill>
                <a:latin typeface="Microsoft YaHei"/>
                <a:ea typeface="Microsoft YaHei"/>
              </a:rPr>
              <a:t>注：图示为常见挑战的定性示意，并非所有凝胶必然失效；迁移数不必然下降，影响程度依网络、溶剂与电极体系而变。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关键科学问题：传统凝胶电解质的两大共性挑战</dc:title>
  <dc:subject>Conventional gel polymer electrolyte: bulk transport and interphase challenges</dc:subject>
  <dc:creator>Original schematic for the research project</dc:creator>
  <cp:keywords>GPE, conventional gel, scientific questions, fully editable native shapes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