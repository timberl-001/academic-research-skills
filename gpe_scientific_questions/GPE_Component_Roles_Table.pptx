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【各组分作用与PEGDA对比理由】</a:t>
            </a:r>
          </a:p>
          <a:p>
            <a:r>
              <a:t>配方沿用已给出的MBA、1.0 M LiPF6 + 0.2 M LiDFOB、DMTFA:TTE=1:1。</a:t>
            </a:r>
          </a:p>
          <a:p>
            <a:r>
              <a:t>不自行补充MBA含量、成胶条件、引发剂、溶剂比基准或PEGDA对比样配方。</a:t>
            </a:r>
          </a:p>
          <a:p>
            <a:r>
              <a:t>PEGDA是聚乙二醇二丙烯酸酯，是对比样的交联基体，不是本体系额外加入的组分。</a:t>
            </a:r>
          </a:p>
          <a:p/>
          <a:p>
            <a:r>
              <a:t>【PEGDA为何适合作为对比】</a:t>
            </a:r>
          </a:p>
          <a:p>
            <a:r>
              <a:t>已有锂电池凝胶电解质研究采用PEGDA作为交联基体；其两个可聚合端基与MBA的双官能度构网在设计层面具有可比性。</a:t>
            </a:r>
          </a:p>
          <a:p>
            <a:r>
              <a:t>PEGDA提供柔性聚醚链，而MBA形成含酰胺的网络，适合比较网络化学、链段特性及其与液态电解液相互作用的整体差异。</a:t>
            </a:r>
          </a:p>
          <a:p>
            <a:r>
              <a:t>这不意味着PEGDA性能较差，也不能将对比结果自动归因于单一氢键或官能团作用。</a:t>
            </a:r>
          </a:p>
          <a:p>
            <a:r>
              <a:t>建议保持液态电解液与测试条件一致；注明PEGDA分子量、聚合物含量、转化/凝胶分数和保液程度。双官能度相同、等质量加入均不等于实际交联密度相同。</a:t>
            </a:r>
          </a:p>
          <a:p/>
          <a:p>
            <a:r>
              <a:t>【科学边界】</a:t>
            </a:r>
          </a:p>
          <a:p>
            <a:r>
              <a:t>酰胺结构相近不证明一定相容。候选氢键供体是MBA的N–H，DMTFA羰基是候选受体；DMTFA本身无N–H。</a:t>
            </a:r>
          </a:p>
          <a:p>
            <a:r>
              <a:t>DFOB阴离子的含F/B结构提供成膜调控动机，但当前正负极真实膜组分、优先反应次序和性能改善仍需证据。</a:t>
            </a:r>
          </a:p>
          <a:p>
            <a:r>
              <a:t>TTE作为弱配位氟醚稀释组分的设计定位，不代表本体系已经形成LHCE、阴离子必然进入第一配位鞘或电导率必然提升。</a:t>
            </a:r>
          </a:p>
          <a:p/>
          <a:p>
            <a:r>
              <a:t>【PEGDA背景文献；不作为本配方的性能证据】</a:t>
            </a:r>
          </a:p>
          <a:p>
            <a:r>
              <a:t>[2](https://doi.org/10.3390/gels9120975) Gel Polymer Electrolytes for Lithium-Ion Batteries Enabled by Photo Crosslinked Polymer Network, Gels, 2023. 文献使用PEGDA/DPHA，不直接等同本PEGDA对照。</a:t>
            </a:r>
          </a:p>
          <a:p>
            <a:r>
              <a:t>[3](https://www.sciencedirect.com/science/article/abs/pii/S0013468613025176) Enhanced separator properties by thermal curing of poly(ethylene glycol)diacrylate-based gel polymer electrolytes for lithium-ion batteries. 文献采用碳酸酯电解液，不直接等同本DMTFA/TTE体系。</a:t>
            </a:r>
          </a:p>
          <a:p/>
          <a:p>
            <a:r>
              <a:t>【编辑说明】</a:t>
            </a:r>
          </a:p>
          <a:p>
            <a:r>
              <a:t>PPT含一张原生7×3表格；可直接编辑所有单元格、调整行高列宽和单元格颜色。预览PNG没有嵌入PPT。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表格-页面背景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表格-标题强调线"/>
          <p:cNvSpPr/>
          <p:nvPr/>
        </p:nvSpPr>
        <p:spPr>
          <a:xfrm>
            <a:off x="304800" y="254000"/>
            <a:ext cx="44450" cy="628650"/>
          </a:xfrm>
          <a:prstGeom prst="roundRect">
            <a:avLst>
              <a:gd name="adj" fmla="val 42857"/>
            </a:avLst>
          </a:prstGeom>
          <a:solidFill>
            <a:srgbClr val="285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表格-英文页眉"/>
          <p:cNvSpPr txBox="1"/>
          <p:nvPr/>
        </p:nvSpPr>
        <p:spPr>
          <a:xfrm>
            <a:off x="476250" y="263525"/>
            <a:ext cx="2349500" cy="1739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285E8B"/>
                </a:solidFill>
                <a:latin typeface="Arial"/>
              </a:rPr>
              <a:t>COMPONENT ROLES &amp; CONTROL</a:t>
            </a:r>
          </a:p>
        </p:txBody>
      </p:sp>
      <p:sp>
        <p:nvSpPr>
          <p:cNvPr id="5" name="表格-主标题"/>
          <p:cNvSpPr txBox="1"/>
          <p:nvPr/>
        </p:nvSpPr>
        <p:spPr>
          <a:xfrm>
            <a:off x="476250" y="468789"/>
            <a:ext cx="3917950" cy="408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50">
                <a:solidFill>
                  <a:srgbClr val="172B46"/>
                </a:solidFill>
                <a:latin typeface="Microsoft YaHei"/>
                <a:ea typeface="Microsoft YaHei"/>
              </a:rPr>
              <a:t>体系各组分的作用与选择依据</a:t>
            </a:r>
          </a:p>
        </p:txBody>
      </p:sp>
      <p:sp>
        <p:nvSpPr>
          <p:cNvPr id="6" name="表格-体系配方"/>
          <p:cNvSpPr txBox="1"/>
          <p:nvPr/>
        </p:nvSpPr>
        <p:spPr>
          <a:xfrm>
            <a:off x="476250" y="891064"/>
            <a:ext cx="6381501" cy="2348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350">
                <a:solidFill>
                  <a:srgbClr val="285E8B"/>
                </a:solidFill>
                <a:latin typeface="Arial"/>
              </a:rPr>
              <a:t>MBA </a:t>
            </a:r>
            <a:r>
              <a:rPr b="1" sz="1350">
                <a:solidFill>
                  <a:srgbClr val="285E8B"/>
                </a:solidFill>
                <a:latin typeface="Microsoft YaHei"/>
                <a:ea typeface="Microsoft YaHei"/>
              </a:rPr>
              <a:t>交联网络</a:t>
            </a:r>
            <a:r>
              <a:rPr b="1" sz="1350">
                <a:solidFill>
                  <a:srgbClr val="285E8B"/>
                </a:solidFill>
                <a:latin typeface="Arial"/>
              </a:rPr>
              <a:t>  |  1.0 M LiPF₆ + 0.2 M LiDFOB  |  DMTFA : TTE = 1 : 1</a:t>
            </a:r>
          </a:p>
        </p:txBody>
      </p:sp>
      <p:sp>
        <p:nvSpPr>
          <p:cNvPr id="7" name="表格-对比样说明"/>
          <p:cNvSpPr txBox="1"/>
          <p:nvPr/>
        </p:nvSpPr>
        <p:spPr>
          <a:xfrm>
            <a:off x="476250" y="1183640"/>
            <a:ext cx="3968700" cy="2087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63788F"/>
                </a:solidFill>
                <a:latin typeface="Arial"/>
              </a:rPr>
              <a:t>PEGDA </a:t>
            </a:r>
            <a:r>
              <a:rPr b="0" sz="1200">
                <a:solidFill>
                  <a:srgbClr val="63788F"/>
                </a:solidFill>
                <a:latin typeface="Microsoft YaHei"/>
                <a:ea typeface="Microsoft YaHei"/>
              </a:rPr>
              <a:t>为对比样的网络基体，不是本体系同时加入的组分</a:t>
            </a:r>
          </a:p>
        </p:txBody>
      </p:sp>
      <p:sp>
        <p:nvSpPr>
          <p:cNvPr id="8" name="表格-说明1"/>
          <p:cNvSpPr txBox="1"/>
          <p:nvPr/>
        </p:nvSpPr>
        <p:spPr>
          <a:xfrm>
            <a:off x="298450" y="6060916"/>
            <a:ext cx="6449987" cy="1826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63788F"/>
                </a:solidFill>
                <a:latin typeface="Microsoft YaHei"/>
                <a:ea typeface="Microsoft YaHei"/>
              </a:rPr>
              <a:t>公平对比：建议液相配方与测试条件一致；注明</a:t>
            </a:r>
            <a:r>
              <a:rPr b="0" sz="1050">
                <a:solidFill>
                  <a:srgbClr val="63788F"/>
                </a:solidFill>
                <a:latin typeface="Arial"/>
              </a:rPr>
              <a:t> PEGDA </a:t>
            </a:r>
            <a:r>
              <a:rPr b="0" sz="1050">
                <a:solidFill>
                  <a:srgbClr val="63788F"/>
                </a:solidFill>
                <a:latin typeface="Microsoft YaHei"/>
                <a:ea typeface="Microsoft YaHei"/>
              </a:rPr>
              <a:t>分子量、聚合物含量，并评估实际成胶</a:t>
            </a:r>
            <a:r>
              <a:rPr b="0" sz="1050">
                <a:solidFill>
                  <a:srgbClr val="63788F"/>
                </a:solidFill>
                <a:latin typeface="Arial"/>
              </a:rPr>
              <a:t> / </a:t>
            </a:r>
            <a:r>
              <a:rPr b="0" sz="1050">
                <a:solidFill>
                  <a:srgbClr val="63788F"/>
                </a:solidFill>
                <a:latin typeface="Microsoft YaHei"/>
                <a:ea typeface="Microsoft YaHei"/>
              </a:rPr>
              <a:t>交联程度。</a:t>
            </a:r>
          </a:p>
        </p:txBody>
      </p:sp>
      <p:sp>
        <p:nvSpPr>
          <p:cNvPr id="9" name="表格-说明2"/>
          <p:cNvSpPr txBox="1"/>
          <p:nvPr/>
        </p:nvSpPr>
        <p:spPr>
          <a:xfrm>
            <a:off x="298450" y="6333966"/>
            <a:ext cx="5799137" cy="1826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63788F"/>
                </a:solidFill>
                <a:latin typeface="Microsoft YaHei"/>
                <a:ea typeface="Microsoft YaHei"/>
              </a:rPr>
              <a:t>表中为功能定位与设计理由，具体相容、配位及成膜效果需验证；仅凭</a:t>
            </a:r>
            <a:r>
              <a:rPr b="0" sz="1050">
                <a:solidFill>
                  <a:srgbClr val="63788F"/>
                </a:solidFill>
                <a:latin typeface="Arial"/>
              </a:rPr>
              <a:t> 1:1 </a:t>
            </a:r>
            <a:r>
              <a:rPr b="0" sz="1050">
                <a:solidFill>
                  <a:srgbClr val="63788F"/>
                </a:solidFill>
                <a:latin typeface="Microsoft YaHei"/>
                <a:ea typeface="Microsoft YaHei"/>
              </a:rPr>
              <a:t>配比不能认定</a:t>
            </a:r>
            <a:r>
              <a:rPr b="0" sz="1050">
                <a:solidFill>
                  <a:srgbClr val="63788F"/>
                </a:solidFill>
                <a:latin typeface="Arial"/>
              </a:rPr>
              <a:t> LHCE</a:t>
            </a:r>
            <a:r>
              <a:rPr b="0" sz="1050">
                <a:solidFill>
                  <a:srgbClr val="63788F"/>
                </a:solidFill>
                <a:latin typeface="Microsoft YaHei"/>
                <a:ea typeface="Microsoft YaHei"/>
              </a:rPr>
              <a:t>。</a:t>
            </a:r>
          </a:p>
        </p:txBody>
      </p:sp>
      <p:graphicFrame>
        <p:nvGraphicFramePr>
          <p:cNvPr id="10" name="组分作用-原生可编辑表格"/>
          <p:cNvGraphicFramePr>
            <a:graphicFrameLocks noGrp="1"/>
          </p:cNvGraphicFramePr>
          <p:nvPr/>
        </p:nvGraphicFramePr>
        <p:xfrm>
          <a:off x="304800" y="1562100"/>
          <a:ext cx="11582400" cy="4279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22500"/>
                <a:gridCol w="4622800"/>
                <a:gridCol w="4737100"/>
              </a:tblGrid>
              <a:tr h="469900">
                <a:tc>
                  <a:txBody>
                    <a:bodyPr wrap="none"/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组分</a:t>
                      </a: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 / </a:t>
                      </a:r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定位</a:t>
                      </a:r>
                    </a:p>
                  </a:txBody>
                  <a:tcPr marL="152400" marR="152400" marT="44450" marB="44450" anchor="ctr">
                    <a:lnL w="6350">
                      <a:solidFill>
                        <a:srgbClr val="213D5A"/>
                      </a:solidFill>
                    </a:lnL>
                    <a:lnR w="6350">
                      <a:solidFill>
                        <a:srgbClr val="213D5A"/>
                      </a:solidFill>
                    </a:lnR>
                    <a:lnT w="6350">
                      <a:solidFill>
                        <a:srgbClr val="213D5A"/>
                      </a:solidFill>
                    </a:lnT>
                    <a:lnB w="6350">
                      <a:solidFill>
                        <a:srgbClr val="213D5A"/>
                      </a:solidFill>
                    </a:lnB>
                    <a:solidFill>
                      <a:srgbClr val="213D5A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主要作用</a:t>
                      </a:r>
                    </a:p>
                  </a:txBody>
                  <a:tcPr marL="152400" marR="152400" marT="44450" marB="44450" anchor="ctr">
                    <a:lnL w="6350">
                      <a:solidFill>
                        <a:srgbClr val="213D5A"/>
                      </a:solidFill>
                    </a:lnL>
                    <a:lnR w="6350">
                      <a:solidFill>
                        <a:srgbClr val="213D5A"/>
                      </a:solidFill>
                    </a:lnR>
                    <a:lnT w="6350">
                      <a:solidFill>
                        <a:srgbClr val="213D5A"/>
                      </a:solidFill>
                    </a:lnT>
                    <a:lnB w="6350">
                      <a:solidFill>
                        <a:srgbClr val="213D5A"/>
                      </a:solidFill>
                    </a:lnB>
                    <a:solidFill>
                      <a:srgbClr val="213D5A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选择理由</a:t>
                      </a:r>
                    </a:p>
                  </a:txBody>
                  <a:tcPr marL="152400" marR="152400" marT="44450" marB="44450" anchor="ctr">
                    <a:lnL w="6350">
                      <a:solidFill>
                        <a:srgbClr val="213D5A"/>
                      </a:solidFill>
                    </a:lnL>
                    <a:lnR w="6350">
                      <a:solidFill>
                        <a:srgbClr val="213D5A"/>
                      </a:solidFill>
                    </a:lnR>
                    <a:lnT w="6350">
                      <a:solidFill>
                        <a:srgbClr val="213D5A"/>
                      </a:solidFill>
                    </a:lnT>
                    <a:lnB w="6350">
                      <a:solidFill>
                        <a:srgbClr val="213D5A"/>
                      </a:solidFill>
                    </a:lnB>
                    <a:solidFill>
                      <a:srgbClr val="213D5A"/>
                    </a:solidFill>
                  </a:tcPr>
                </a:tc>
              </a:tr>
              <a:tr h="635000">
                <a:tc>
                  <a:txBody>
                    <a:bodyPr wrap="none"/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285E8B"/>
                          </a:solidFill>
                          <a:latin typeface="Arial"/>
                        </a:rPr>
                        <a:t>MBA</a:t>
                      </a:r>
                    </a:p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85E8B"/>
                          </a:solidFill>
                          <a:latin typeface="Microsoft YaHei"/>
                          <a:ea typeface="Microsoft YaHei"/>
                        </a:rPr>
                        <a:t>交联单体</a:t>
                      </a:r>
                    </a:p>
                  </a:txBody>
                  <a:tcPr marL="152400" marR="152400" marT="44450" marB="44450" anchor="ctr"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72B46"/>
                          </a:solidFill>
                          <a:latin typeface="Microsoft YaHei"/>
                          <a:ea typeface="Microsoft YaHei"/>
                        </a:rPr>
                        <a:t>双键构网，固定电解液；酰胺位点参与分子间作用。</a:t>
                      </a:r>
                    </a:p>
                  </a:txBody>
                  <a:tcPr marL="152400" marR="152400" marT="44450" marB="44450" anchor="ctr"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72B46"/>
                          </a:solidFill>
                          <a:latin typeface="Microsoft YaHei"/>
                          <a:ea typeface="Microsoft YaHei"/>
                        </a:rPr>
                        <a:t>研究酰胺网络对保液、相容性与离子传输的调控。</a:t>
                      </a:r>
                    </a:p>
                  </a:txBody>
                  <a:tcPr marL="152400" marR="152400" marT="44450" marB="44450" anchor="ctr"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wrap="none"/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285E8B"/>
                          </a:solidFill>
                          <a:latin typeface="Arial"/>
                        </a:rPr>
                        <a:t>LiPF₆</a:t>
                      </a:r>
                      <a:r>
                        <a:rPr sz="1450" b="1">
                          <a:solidFill>
                            <a:srgbClr val="285E8B"/>
                          </a:solidFill>
                          <a:latin typeface="Microsoft YaHei"/>
                          <a:ea typeface="Microsoft YaHei"/>
                        </a:rPr>
                        <a:t>（</a:t>
                      </a:r>
                      <a:r>
                        <a:rPr sz="1450" b="1">
                          <a:solidFill>
                            <a:srgbClr val="285E8B"/>
                          </a:solidFill>
                          <a:latin typeface="Arial"/>
                        </a:rPr>
                        <a:t>1.0 M</a:t>
                      </a:r>
                      <a:r>
                        <a:rPr sz="1450" b="1">
                          <a:solidFill>
                            <a:srgbClr val="285E8B"/>
                          </a:solidFill>
                          <a:latin typeface="Microsoft YaHei"/>
                          <a:ea typeface="Microsoft YaHei"/>
                        </a:rPr>
                        <a:t>）</a:t>
                      </a:r>
                    </a:p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85E8B"/>
                          </a:solidFill>
                          <a:latin typeface="Microsoft YaHei"/>
                          <a:ea typeface="Microsoft YaHei"/>
                        </a:rPr>
                        <a:t>主体锂盐</a:t>
                      </a:r>
                    </a:p>
                  </a:txBody>
                  <a:tcPr marL="152400" marR="152400" marT="44450" marB="44450" anchor="ctr"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72B46"/>
                          </a:solidFill>
                          <a:latin typeface="Microsoft YaHei"/>
                          <a:ea typeface="Microsoft YaHei"/>
                        </a:rPr>
                        <a:t>提供</a:t>
                      </a:r>
                      <a:r>
                        <a:rPr sz="1300" b="0">
                          <a:solidFill>
                            <a:srgbClr val="172B46"/>
                          </a:solidFill>
                          <a:latin typeface="Arial"/>
                        </a:rPr>
                        <a:t> Li⁺</a:t>
                      </a:r>
                      <a:r>
                        <a:rPr sz="1300" b="0">
                          <a:solidFill>
                            <a:srgbClr val="172B46"/>
                          </a:solidFill>
                          <a:latin typeface="Microsoft YaHei"/>
                          <a:ea typeface="Microsoft YaHei"/>
                        </a:rPr>
                        <a:t>，构成电解液的基础导电组分。</a:t>
                      </a:r>
                    </a:p>
                  </a:txBody>
                  <a:tcPr marL="152400" marR="152400" marT="44450" marB="44450" anchor="ctr"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72B46"/>
                          </a:solidFill>
                          <a:latin typeface="Microsoft YaHei"/>
                          <a:ea typeface="Microsoft YaHei"/>
                        </a:rPr>
                        <a:t>成熟常用锂盐，作为可比较的基础电解液。</a:t>
                      </a:r>
                    </a:p>
                  </a:txBody>
                  <a:tcPr marL="152400" marR="152400" marT="44450" marB="44450" anchor="ctr"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  <a:solidFill>
                      <a:srgbClr val="F6F9FC"/>
                    </a:solidFill>
                  </a:tcPr>
                </a:tc>
              </a:tr>
              <a:tr h="635000">
                <a:tc>
                  <a:txBody>
                    <a:bodyPr wrap="none"/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285E8B"/>
                          </a:solidFill>
                          <a:latin typeface="Arial"/>
                        </a:rPr>
                        <a:t>LiDFOB</a:t>
                      </a:r>
                      <a:r>
                        <a:rPr sz="1450" b="1">
                          <a:solidFill>
                            <a:srgbClr val="285E8B"/>
                          </a:solidFill>
                          <a:latin typeface="Microsoft YaHei"/>
                          <a:ea typeface="Microsoft YaHei"/>
                        </a:rPr>
                        <a:t>（</a:t>
                      </a:r>
                      <a:r>
                        <a:rPr sz="1450" b="1">
                          <a:solidFill>
                            <a:srgbClr val="285E8B"/>
                          </a:solidFill>
                          <a:latin typeface="Arial"/>
                        </a:rPr>
                        <a:t>0.2 M</a:t>
                      </a:r>
                      <a:r>
                        <a:rPr sz="1450" b="1">
                          <a:solidFill>
                            <a:srgbClr val="285E8B"/>
                          </a:solidFill>
                          <a:latin typeface="Microsoft YaHei"/>
                          <a:ea typeface="Microsoft YaHei"/>
                        </a:rPr>
                        <a:t>）</a:t>
                      </a:r>
                    </a:p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85E8B"/>
                          </a:solidFill>
                          <a:latin typeface="Microsoft YaHei"/>
                          <a:ea typeface="Microsoft YaHei"/>
                        </a:rPr>
                        <a:t>成膜调控共盐</a:t>
                      </a:r>
                    </a:p>
                  </a:txBody>
                  <a:tcPr marL="152400" marR="152400" marT="44450" marB="44450" anchor="ctr"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72B46"/>
                          </a:solidFill>
                          <a:latin typeface="Microsoft YaHei"/>
                          <a:ea typeface="Microsoft YaHei"/>
                        </a:rPr>
                        <a:t>提供</a:t>
                      </a:r>
                      <a:r>
                        <a:rPr sz="1300" b="0">
                          <a:solidFill>
                            <a:srgbClr val="172B46"/>
                          </a:solidFill>
                          <a:latin typeface="Arial"/>
                        </a:rPr>
                        <a:t> DFOB⁻</a:t>
                      </a:r>
                      <a:r>
                        <a:rPr sz="1300" b="0">
                          <a:solidFill>
                            <a:srgbClr val="172B46"/>
                          </a:solidFill>
                          <a:latin typeface="Microsoft YaHei"/>
                          <a:ea typeface="Microsoft YaHei"/>
                        </a:rPr>
                        <a:t>；其分解产物可参与电极界面膜形成。</a:t>
                      </a:r>
                    </a:p>
                  </a:txBody>
                  <a:tcPr marL="152400" marR="152400" marT="44450" marB="44450" anchor="ctr"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72B46"/>
                          </a:solidFill>
                          <a:latin typeface="Microsoft YaHei"/>
                          <a:ea typeface="Microsoft YaHei"/>
                        </a:rPr>
                        <a:t>含</a:t>
                      </a:r>
                      <a:r>
                        <a:rPr sz="1300" b="0">
                          <a:solidFill>
                            <a:srgbClr val="172B46"/>
                          </a:solidFill>
                          <a:latin typeface="Arial"/>
                        </a:rPr>
                        <a:t> F/B</a:t>
                      </a:r>
                      <a:r>
                        <a:rPr sz="1300" b="0">
                          <a:solidFill>
                            <a:srgbClr val="172B46"/>
                          </a:solidFill>
                          <a:latin typeface="Microsoft YaHei"/>
                          <a:ea typeface="Microsoft YaHei"/>
                        </a:rPr>
                        <a:t>，可探索富</a:t>
                      </a:r>
                      <a:r>
                        <a:rPr sz="1300" b="0">
                          <a:solidFill>
                            <a:srgbClr val="172B46"/>
                          </a:solidFill>
                          <a:latin typeface="Arial"/>
                        </a:rPr>
                        <a:t> LiF / B–O </a:t>
                      </a:r>
                      <a:r>
                        <a:rPr sz="1300" b="0">
                          <a:solidFill>
                            <a:srgbClr val="172B46"/>
                          </a:solidFill>
                          <a:latin typeface="Microsoft YaHei"/>
                          <a:ea typeface="Microsoft YaHei"/>
                        </a:rPr>
                        <a:t>的</a:t>
                      </a:r>
                      <a:r>
                        <a:rPr sz="1300" b="0">
                          <a:solidFill>
                            <a:srgbClr val="172B46"/>
                          </a:solidFill>
                          <a:latin typeface="Arial"/>
                        </a:rPr>
                        <a:t> SEI / CEI </a:t>
                      </a:r>
                      <a:r>
                        <a:rPr sz="1300" b="0">
                          <a:solidFill>
                            <a:srgbClr val="172B46"/>
                          </a:solidFill>
                          <a:latin typeface="Microsoft YaHei"/>
                          <a:ea typeface="Microsoft YaHei"/>
                        </a:rPr>
                        <a:t>成膜。</a:t>
                      </a:r>
                    </a:p>
                  </a:txBody>
                  <a:tcPr marL="152400" marR="152400" marT="44450" marB="44450" anchor="ctr"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wrap="none"/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285E8B"/>
                          </a:solidFill>
                          <a:latin typeface="Arial"/>
                        </a:rPr>
                        <a:t>DMTFA</a:t>
                      </a:r>
                    </a:p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85E8B"/>
                          </a:solidFill>
                          <a:latin typeface="Microsoft YaHei"/>
                          <a:ea typeface="Microsoft YaHei"/>
                        </a:rPr>
                        <a:t>主溶剂</a:t>
                      </a:r>
                    </a:p>
                  </a:txBody>
                  <a:tcPr marL="152400" marR="152400" marT="44450" marB="44450" anchor="ctr"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72B46"/>
                          </a:solidFill>
                          <a:latin typeface="Microsoft YaHei"/>
                          <a:ea typeface="Microsoft YaHei"/>
                        </a:rPr>
                        <a:t>作为主要溶盐</a:t>
                      </a:r>
                      <a:r>
                        <a:rPr sz="1300" b="0">
                          <a:solidFill>
                            <a:srgbClr val="172B46"/>
                          </a:solidFill>
                          <a:latin typeface="Arial"/>
                        </a:rPr>
                        <a:t> / </a:t>
                      </a:r>
                      <a:r>
                        <a:rPr sz="1300" b="0">
                          <a:solidFill>
                            <a:srgbClr val="172B46"/>
                          </a:solidFill>
                          <a:latin typeface="Microsoft YaHei"/>
                          <a:ea typeface="Microsoft YaHei"/>
                        </a:rPr>
                        <a:t>配位组分；羰基可与</a:t>
                      </a:r>
                      <a:r>
                        <a:rPr sz="1300" b="0">
                          <a:solidFill>
                            <a:srgbClr val="172B46"/>
                          </a:solidFill>
                          <a:latin typeface="Arial"/>
                        </a:rPr>
                        <a:t> Li⁺ </a:t>
                      </a:r>
                      <a:r>
                        <a:rPr sz="1300" b="0">
                          <a:solidFill>
                            <a:srgbClr val="172B46"/>
                          </a:solidFill>
                          <a:latin typeface="Microsoft YaHei"/>
                          <a:ea typeface="Microsoft YaHei"/>
                        </a:rPr>
                        <a:t>相互作用。</a:t>
                      </a:r>
                    </a:p>
                  </a:txBody>
                  <a:tcPr marL="152400" marR="152400" marT="44450" marB="44450" anchor="ctr"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72B46"/>
                          </a:solidFill>
                          <a:latin typeface="Microsoft YaHei"/>
                          <a:ea typeface="Microsoft YaHei"/>
                        </a:rPr>
                        <a:t>与</a:t>
                      </a:r>
                      <a:r>
                        <a:rPr sz="1300" b="0">
                          <a:solidFill>
                            <a:srgbClr val="172B46"/>
                          </a:solidFill>
                          <a:latin typeface="Arial"/>
                        </a:rPr>
                        <a:t> MBA </a:t>
                      </a:r>
                      <a:r>
                        <a:rPr sz="1300" b="0">
                          <a:solidFill>
                            <a:srgbClr val="172B46"/>
                          </a:solidFill>
                          <a:latin typeface="Microsoft YaHei"/>
                          <a:ea typeface="Microsoft YaHei"/>
                        </a:rPr>
                        <a:t>同含酰胺结构，可探索网络相容与配位调控。</a:t>
                      </a:r>
                    </a:p>
                  </a:txBody>
                  <a:tcPr marL="152400" marR="152400" marT="44450" marB="44450" anchor="ctr"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  <a:solidFill>
                      <a:srgbClr val="F6F9FC"/>
                    </a:solidFill>
                  </a:tcPr>
                </a:tc>
              </a:tr>
              <a:tr h="635000">
                <a:tc>
                  <a:txBody>
                    <a:bodyPr wrap="none"/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285E8B"/>
                          </a:solidFill>
                          <a:latin typeface="Arial"/>
                        </a:rPr>
                        <a:t>TTE</a:t>
                      </a:r>
                    </a:p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85E8B"/>
                          </a:solidFill>
                          <a:latin typeface="Microsoft YaHei"/>
                          <a:ea typeface="Microsoft YaHei"/>
                        </a:rPr>
                        <a:t>弱配位氟醚稀释组分</a:t>
                      </a:r>
                    </a:p>
                  </a:txBody>
                  <a:tcPr marL="152400" marR="152400" marT="44450" marB="44450" anchor="ctr"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72B46"/>
                          </a:solidFill>
                          <a:latin typeface="Microsoft YaHei"/>
                          <a:ea typeface="Microsoft YaHei"/>
                        </a:rPr>
                        <a:t>调节混合液相环境，不作为主要溶盐组分。</a:t>
                      </a:r>
                    </a:p>
                  </a:txBody>
                  <a:tcPr marL="152400" marR="152400" marT="44450" marB="44450" anchor="ctr"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72B46"/>
                          </a:solidFill>
                          <a:latin typeface="Microsoft YaHei"/>
                          <a:ea typeface="Microsoft YaHei"/>
                        </a:rPr>
                        <a:t>与</a:t>
                      </a:r>
                      <a:r>
                        <a:rPr sz="1300" b="0">
                          <a:solidFill>
                            <a:srgbClr val="172B46"/>
                          </a:solidFill>
                          <a:latin typeface="Arial"/>
                        </a:rPr>
                        <a:t> DMTFA </a:t>
                      </a:r>
                      <a:r>
                        <a:rPr sz="1300" b="0">
                          <a:solidFill>
                            <a:srgbClr val="172B46"/>
                          </a:solidFill>
                          <a:latin typeface="Microsoft YaHei"/>
                          <a:ea typeface="Microsoft YaHei"/>
                        </a:rPr>
                        <a:t>搭配，调节配位环境和液相性质。</a:t>
                      </a:r>
                    </a:p>
                  </a:txBody>
                  <a:tcPr marL="152400" marR="152400" marT="44450" marB="44450" anchor="ctr"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wrap="none"/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285E8B"/>
                          </a:solidFill>
                          <a:latin typeface="Arial"/>
                        </a:rPr>
                        <a:t>PEGDA</a:t>
                      </a:r>
                      <a:r>
                        <a:rPr sz="1450" b="1">
                          <a:solidFill>
                            <a:srgbClr val="285E8B"/>
                          </a:solidFill>
                          <a:latin typeface="Microsoft YaHei"/>
                          <a:ea typeface="Microsoft YaHei"/>
                        </a:rPr>
                        <a:t>（对比样）</a:t>
                      </a:r>
                    </a:p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85E8B"/>
                          </a:solidFill>
                          <a:latin typeface="Microsoft YaHei"/>
                          <a:ea typeface="Microsoft YaHei"/>
                        </a:rPr>
                        <a:t>聚醚型交联基体</a:t>
                      </a:r>
                    </a:p>
                  </a:txBody>
                  <a:tcPr marL="152400" marR="152400" marT="44450" marB="44450" anchor="ctr"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72B46"/>
                          </a:solidFill>
                          <a:latin typeface="Microsoft YaHei"/>
                          <a:ea typeface="Microsoft YaHei"/>
                        </a:rPr>
                        <a:t>两端双键构网；柔性聚醚链可与</a:t>
                      </a:r>
                      <a:r>
                        <a:rPr sz="1300" b="0">
                          <a:solidFill>
                            <a:srgbClr val="172B46"/>
                          </a:solidFill>
                          <a:latin typeface="Arial"/>
                        </a:rPr>
                        <a:t> Li⁺ </a:t>
                      </a:r>
                      <a:r>
                        <a:rPr sz="1300" b="0">
                          <a:solidFill>
                            <a:srgbClr val="172B46"/>
                          </a:solidFill>
                          <a:latin typeface="Microsoft YaHei"/>
                          <a:ea typeface="Microsoft YaHei"/>
                        </a:rPr>
                        <a:t>相互作用。</a:t>
                      </a:r>
                    </a:p>
                  </a:txBody>
                  <a:tcPr marL="152400" marR="152400" marT="44450" marB="44450" anchor="ctr"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72B46"/>
                          </a:solidFill>
                          <a:latin typeface="Microsoft YaHei"/>
                          <a:ea typeface="Microsoft YaHei"/>
                        </a:rPr>
                        <a:t>常见凝胶基体、同为双官能度；对比酰胺网络与聚醚网络。</a:t>
                      </a:r>
                    </a:p>
                  </a:txBody>
                  <a:tcPr marL="152400" marR="152400" marT="44450" marB="44450" anchor="ctr">
                    <a:lnL w="6350">
                      <a:solidFill>
                        <a:srgbClr val="DCE4ED"/>
                      </a:solidFill>
                    </a:lnL>
                    <a:lnR w="6350">
                      <a:solidFill>
                        <a:srgbClr val="DCE4ED"/>
                      </a:solidFill>
                    </a:lnR>
                    <a:lnT w="6350">
                      <a:solidFill>
                        <a:srgbClr val="DCE4ED"/>
                      </a:solidFill>
                    </a:lnT>
                    <a:lnB w="6350">
                      <a:solidFill>
                        <a:srgbClr val="DCE4ED"/>
                      </a:solidFill>
                    </a:lnB>
                    <a:solidFill>
                      <a:srgbClr val="EE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体系各组分的作用与选择依据</dc:title>
  <dc:subject>GPE component roles and PEGDA control rationale</dc:subject>
  <dc:creator>Original schematic for the research project</dc:creator>
  <cp:keywords>MBA, LiPF6, LiDFOB, DMTFA, TTE, PEGDA, native editable table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