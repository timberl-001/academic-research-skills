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【体系设计页：建议紧接“传统凝胶电解质共性问题”页】</a:t>
            </a:r>
          </a:p>
          <a:p/>
          <a:p>
            <a:r>
              <a:t>配方：MBA（N,N′-亚甲基双丙烯酰胺）作为交联单体；</a:t>
            </a:r>
          </a:p>
          <a:p>
            <a:r>
              <a:t>液态组成为 1.0 M LiPF6 + 0.2 M LiDFOB in DMTFA:TTE = 1:1。</a:t>
            </a:r>
          </a:p>
          <a:p>
            <a:r>
              <a:t>用户未说明溶剂比的体积/质量/摩尔基准、MBA含量、引发剂及成胶条件，图中不作补充假定。</a:t>
            </a:r>
          </a:p>
          <a:p/>
          <a:p>
            <a:r>
              <a:t>【约1–2分钟讲稿】</a:t>
            </a:r>
          </a:p>
          <a:p>
            <a:r>
              <a:t>上一页提出了凝胶化后传输受限与电极界面失稳两类问题。针对这些瓶颈，我们从网络、溶剂化和成膜三个层次进行协同设计。</a:t>
            </a:r>
          </a:p>
          <a:p>
            <a:r>
              <a:t>首先，MBA的两个可聚合双键用于构建三维交联网络，通过适当的交联程度锁住电解液；酰胺基团的分子间作用则有望改善网络与混合溶剂的相容性。我们需要平衡保液能力与离子传输，避免交联过度。</a:t>
            </a:r>
          </a:p>
          <a:p>
            <a:r>
              <a:t>其次，选择DMTFA/TTE混合体系，调节溶剂、聚合物极性位点和阴离子对Li+的配位平衡，探索动态配位交换与脱溶剂化的改善，而不是简单把Li+固定在骨架上。</a:t>
            </a:r>
          </a:p>
          <a:p>
            <a:r>
              <a:t>最后，在LiPF6基础上引入LiDFOB，利用含氟/含硼组分的界面反应，尝试构建富LiF及B–O组分的SEI/CEI，降低持续副反应。</a:t>
            </a:r>
          </a:p>
          <a:p>
            <a:r>
              <a:t>因此，这页右图表达的是我们的设计目标：锁液稳网、动态配位与双界面稳定。具体机制和性能提升将在后续通过实验和计算验证。</a:t>
            </a:r>
          </a:p>
          <a:p/>
          <a:p>
            <a:r>
              <a:t>【科学边界与验证】</a:t>
            </a:r>
          </a:p>
          <a:p>
            <a:r>
              <a:t>1. 所有右图的“动态交换”“均匀通量”“LiF/B–O富集膜”均是设计预期，不是当前体系已经得到证明的结果。</a:t>
            </a:r>
          </a:p>
          <a:p>
            <a:r>
              <a:t>2. 不因DMTFA:TTE=1:1或总盐浓度1.2M就直接认定局部高浓（LHCE）、CIP/AGG占优或阴离子配位数增加。</a:t>
            </a:r>
          </a:p>
          <a:p>
            <a:r>
              <a:t>3. 弱溶剂配位不必然带来更低的总脱溶剂化能垒；Li–阴离子和Li–聚合物配位可能造成额外限制。</a:t>
            </a:r>
          </a:p>
          <a:p>
            <a:r>
              <a:t>4. C=O是候选Li+配位位点；N–H可参与氢键，但“锚定阴离子”“提高tLi+”不能仅凭官能团存在作结论。</a:t>
            </a:r>
          </a:p>
          <a:p>
            <a:r>
              <a:t>5. 不宣称LiDFOB清除HF、具体优先氧化/还原次序或确切LUMO/HOMO排序，除非已有对应证据。</a:t>
            </a:r>
          </a:p>
          <a:p>
            <a:r>
              <a:t>6. 正/负极未指定材料，因此使用通用电极示意；没有照搬参考图的HV-LCO、锂金属、FDMA、TFSI或E/F-GPE命名。</a:t>
            </a:r>
          </a:p>
          <a:p>
            <a:r>
              <a:t>7. 网络部分的酰胺桥表示MBA聚合后的骨架侧链连接，并非完整聚合物重复单元/实际网络拓扑。</a:t>
            </a:r>
          </a:p>
          <a:p/>
          <a:p>
            <a:r>
              <a:t>建议验证：</a:t>
            </a:r>
          </a:p>
          <a:p>
            <a:r>
              <a:t>网络/相容：FTIR或NMR、凝胶分数、保液/溶胀、流变或力学；与交联度的关系。</a:t>
            </a:r>
          </a:p>
          <a:p>
            <a:r>
              <a:t>溶剂化/传输：Raman/FTIR/NMR与MD/DFT、温度依赖电导率、迁移数；EIS及合适的动力学分析。</a:t>
            </a:r>
          </a:p>
          <a:p>
            <a:r>
              <a:t>双界面：XPS/深度分析或TOF-SIMS、循环前后EIS、形貌与全电池/对称电池测试，按实际电极体系选择。</a:t>
            </a:r>
          </a:p>
          <a:p/>
          <a:p>
            <a:r>
              <a:t>编辑说明：</a:t>
            </a:r>
          </a:p>
          <a:p>
            <a:r>
              <a:t>该PPT为单页16:9原生形状版；所有标题、分子符号、网络、箭头、电极与膜组分均可在PowerPoint中选择修改。未嵌入任何文献照片或生成的SEM图。PNG为高清预览；SVG为可编辑矢量源。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页面背景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标题强调线"/>
          <p:cNvSpPr/>
          <p:nvPr/>
        </p:nvSpPr>
        <p:spPr>
          <a:xfrm>
            <a:off x="317500" y="228600"/>
            <a:ext cx="44450" cy="412750"/>
          </a:xfrm>
          <a:prstGeom prst="roundRect">
            <a:avLst>
              <a:gd name="adj" fmla="val 42857"/>
            </a:avLst>
          </a:prstGeom>
          <a:solidFill>
            <a:srgbClr val="14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英文页眉"/>
          <p:cNvSpPr txBox="1"/>
          <p:nvPr/>
        </p:nvSpPr>
        <p:spPr>
          <a:xfrm>
            <a:off x="476250" y="244475"/>
            <a:ext cx="1295400" cy="1739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087469"/>
                </a:solidFill>
                <a:latin typeface="Arial"/>
              </a:rPr>
              <a:t>DESIGN CONCEPT</a:t>
            </a:r>
          </a:p>
        </p:txBody>
      </p:sp>
      <p:sp>
        <p:nvSpPr>
          <p:cNvPr id="5" name="主标题"/>
          <p:cNvSpPr txBox="1"/>
          <p:nvPr/>
        </p:nvSpPr>
        <p:spPr>
          <a:xfrm>
            <a:off x="476250" y="385921"/>
            <a:ext cx="6261099" cy="426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450">
                <a:solidFill>
                  <a:srgbClr val="172B46"/>
                </a:solidFill>
                <a:latin typeface="Microsoft YaHei"/>
                <a:ea typeface="Microsoft YaHei"/>
              </a:rPr>
              <a:t>体系设计思路：网络</a:t>
            </a:r>
            <a:r>
              <a:rPr b="1" sz="2450">
                <a:solidFill>
                  <a:srgbClr val="172B46"/>
                </a:solidFill>
                <a:latin typeface="Arial"/>
              </a:rPr>
              <a:t>—</a:t>
            </a:r>
            <a:r>
              <a:rPr b="1" sz="2450">
                <a:solidFill>
                  <a:srgbClr val="172B46"/>
                </a:solidFill>
                <a:latin typeface="Microsoft YaHei"/>
                <a:ea typeface="Microsoft YaHei"/>
              </a:rPr>
              <a:t>溶剂化</a:t>
            </a:r>
            <a:r>
              <a:rPr b="1" sz="2450">
                <a:solidFill>
                  <a:srgbClr val="172B46"/>
                </a:solidFill>
                <a:latin typeface="Arial"/>
              </a:rPr>
              <a:t>—</a:t>
            </a:r>
            <a:r>
              <a:rPr b="1" sz="2450">
                <a:solidFill>
                  <a:srgbClr val="172B46"/>
                </a:solidFill>
                <a:latin typeface="Microsoft YaHei"/>
                <a:ea typeface="Microsoft YaHei"/>
              </a:rPr>
              <a:t>界面协同调控</a:t>
            </a:r>
          </a:p>
        </p:txBody>
      </p:sp>
      <p:sp>
        <p:nvSpPr>
          <p:cNvPr id="6" name="配方栏"/>
          <p:cNvSpPr/>
          <p:nvPr/>
        </p:nvSpPr>
        <p:spPr>
          <a:xfrm>
            <a:off x="317500" y="901700"/>
            <a:ext cx="11556999" cy="393700"/>
          </a:xfrm>
          <a:prstGeom prst="roundRect">
            <a:avLst>
              <a:gd name="adj" fmla="val 22580"/>
            </a:avLst>
          </a:prstGeom>
          <a:solidFill>
            <a:srgbClr val="FFFFFF"/>
          </a:solidFill>
          <a:ln w="7620" cap="rnd"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配方-MBA"/>
          <p:cNvSpPr txBox="1"/>
          <p:nvPr/>
        </p:nvSpPr>
        <p:spPr>
          <a:xfrm>
            <a:off x="463550" y="973296"/>
            <a:ext cx="1303337" cy="252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450">
                <a:solidFill>
                  <a:srgbClr val="087469"/>
                </a:solidFill>
                <a:latin typeface="Arial"/>
              </a:rPr>
              <a:t>MBA </a:t>
            </a:r>
            <a:r>
              <a:rPr b="1" sz="1450">
                <a:solidFill>
                  <a:srgbClr val="087469"/>
                </a:solidFill>
                <a:latin typeface="Microsoft YaHei"/>
                <a:ea typeface="Microsoft YaHei"/>
              </a:rPr>
              <a:t>交联网络</a:t>
            </a:r>
          </a:p>
        </p:txBody>
      </p:sp>
      <p:cxnSp>
        <p:nvCxnSpPr>
          <p:cNvPr id="8" name="配方分隔线-1"/>
          <p:cNvCxnSpPr/>
          <p:nvPr/>
        </p:nvCxnSpPr>
        <p:spPr>
          <a:xfrm>
            <a:off x="2012950" y="1003300"/>
            <a:ext cx="0" cy="184150"/>
          </a:xfrm>
          <a:prstGeom prst="line">
            <a:avLst/>
          </a:prstGeom>
          <a:ln w="9525" cap="rnd">
            <a:solidFill>
              <a:srgbClr val="DF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配方-双盐浓度"/>
          <p:cNvSpPr txBox="1"/>
          <p:nvPr/>
        </p:nvSpPr>
        <p:spPr>
          <a:xfrm>
            <a:off x="2178050" y="973296"/>
            <a:ext cx="2870200" cy="252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450">
                <a:solidFill>
                  <a:srgbClr val="172B46"/>
                </a:solidFill>
                <a:latin typeface="Arial"/>
              </a:rPr>
              <a:t>1.0 M LiPF₆ + 0.2 M LiDFOB</a:t>
            </a:r>
          </a:p>
        </p:txBody>
      </p:sp>
      <p:cxnSp>
        <p:nvCxnSpPr>
          <p:cNvPr id="10" name="配方分隔线-2"/>
          <p:cNvCxnSpPr/>
          <p:nvPr/>
        </p:nvCxnSpPr>
        <p:spPr>
          <a:xfrm>
            <a:off x="5257800" y="1003300"/>
            <a:ext cx="0" cy="184150"/>
          </a:xfrm>
          <a:prstGeom prst="line">
            <a:avLst/>
          </a:prstGeom>
          <a:ln w="9525" cap="rnd">
            <a:solidFill>
              <a:srgbClr val="DF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配方-溶剂比例"/>
          <p:cNvSpPr txBox="1"/>
          <p:nvPr/>
        </p:nvSpPr>
        <p:spPr>
          <a:xfrm>
            <a:off x="5422900" y="973296"/>
            <a:ext cx="2080964" cy="252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450">
                <a:solidFill>
                  <a:srgbClr val="172B46"/>
                </a:solidFill>
                <a:latin typeface="Arial"/>
              </a:rPr>
              <a:t>DMTFA : TTE = 1 : 1</a:t>
            </a:r>
          </a:p>
        </p:txBody>
      </p:sp>
      <p:sp>
        <p:nvSpPr>
          <p:cNvPr id="12" name="设计假设标记"/>
          <p:cNvSpPr/>
          <p:nvPr/>
        </p:nvSpPr>
        <p:spPr>
          <a:xfrm>
            <a:off x="10159999" y="990600"/>
            <a:ext cx="1562100" cy="215900"/>
          </a:xfrm>
          <a:prstGeom prst="roundRect">
            <a:avLst>
              <a:gd name="adj" fmla="val 50000"/>
            </a:avLst>
          </a:prstGeom>
          <a:solidFill>
            <a:srgbClr val="FCF0EB"/>
          </a:solidFill>
          <a:ln w="9525" cap="rnd">
            <a:solidFill>
              <a:srgbClr val="E9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设计假设标记-标签"/>
          <p:cNvSpPr txBox="1"/>
          <p:nvPr/>
        </p:nvSpPr>
        <p:spPr>
          <a:xfrm>
            <a:off x="10396537" y="1009872"/>
            <a:ext cx="1114425" cy="1826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D67661"/>
                </a:solidFill>
                <a:latin typeface="Microsoft YaHei"/>
                <a:ea typeface="Microsoft YaHei"/>
              </a:rPr>
              <a:t>设计预期</a:t>
            </a:r>
            <a:r>
              <a:rPr b="1" sz="1050">
                <a:solidFill>
                  <a:srgbClr val="D67661"/>
                </a:solidFill>
                <a:latin typeface="Arial"/>
              </a:rPr>
              <a:t> · </a:t>
            </a:r>
            <a:r>
              <a:rPr b="1" sz="1050">
                <a:solidFill>
                  <a:srgbClr val="D67661"/>
                </a:solidFill>
                <a:latin typeface="Microsoft YaHei"/>
                <a:ea typeface="Microsoft YaHei"/>
              </a:rPr>
              <a:t>待验证</a:t>
            </a:r>
          </a:p>
        </p:txBody>
      </p:sp>
      <p:sp>
        <p:nvSpPr>
          <p:cNvPr id="14" name="传统体系面板"/>
          <p:cNvSpPr/>
          <p:nvPr/>
        </p:nvSpPr>
        <p:spPr>
          <a:xfrm>
            <a:off x="317500" y="1460500"/>
            <a:ext cx="5556250" cy="324485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 cap="rnd"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本体系设计面板"/>
          <p:cNvSpPr/>
          <p:nvPr/>
        </p:nvSpPr>
        <p:spPr>
          <a:xfrm>
            <a:off x="6318249" y="1460500"/>
            <a:ext cx="5556250" cy="324485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 cap="rnd"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传统面板标题底色"/>
          <p:cNvSpPr/>
          <p:nvPr/>
        </p:nvSpPr>
        <p:spPr>
          <a:xfrm>
            <a:off x="317500" y="1460500"/>
            <a:ext cx="5556250" cy="469900"/>
          </a:xfrm>
          <a:prstGeom prst="roundRect">
            <a:avLst>
              <a:gd name="adj" fmla="val 27027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传统面板标题底色-平底"/>
          <p:cNvSpPr/>
          <p:nvPr/>
        </p:nvSpPr>
        <p:spPr>
          <a:xfrm>
            <a:off x="317500" y="1695450"/>
            <a:ext cx="5556250" cy="23495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设计面板标题底色"/>
          <p:cNvSpPr/>
          <p:nvPr/>
        </p:nvSpPr>
        <p:spPr>
          <a:xfrm>
            <a:off x="6318249" y="1460500"/>
            <a:ext cx="5556250" cy="469900"/>
          </a:xfrm>
          <a:prstGeom prst="roundRect">
            <a:avLst>
              <a:gd name="adj" fmla="val 27027"/>
            </a:avLst>
          </a:prstGeom>
          <a:solidFill>
            <a:srgbClr val="FC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设计面板标题底色-平底"/>
          <p:cNvSpPr/>
          <p:nvPr/>
        </p:nvSpPr>
        <p:spPr>
          <a:xfrm>
            <a:off x="6318249" y="1695450"/>
            <a:ext cx="5556250" cy="234950"/>
          </a:xfrm>
          <a:prstGeom prst="rect">
            <a:avLst/>
          </a:prstGeom>
          <a:solidFill>
            <a:srgbClr val="FC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传统面板标题"/>
          <p:cNvSpPr txBox="1"/>
          <p:nvPr/>
        </p:nvSpPr>
        <p:spPr>
          <a:xfrm>
            <a:off x="495300" y="1537494"/>
            <a:ext cx="927100" cy="3044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750">
                <a:solidFill>
                  <a:srgbClr val="497FB5"/>
                </a:solidFill>
                <a:latin typeface="Microsoft YaHei"/>
                <a:ea typeface="Microsoft YaHei"/>
              </a:rPr>
              <a:t>传统凝胶</a:t>
            </a:r>
          </a:p>
        </p:txBody>
      </p:sp>
      <p:sp>
        <p:nvSpPr>
          <p:cNvPr id="21" name="传统面板提示"/>
          <p:cNvSpPr txBox="1"/>
          <p:nvPr/>
        </p:nvSpPr>
        <p:spPr>
          <a:xfrm>
            <a:off x="4457700" y="1602740"/>
            <a:ext cx="1257300" cy="2087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68798D"/>
                </a:solidFill>
                <a:latin typeface="Microsoft YaHei"/>
                <a:ea typeface="Microsoft YaHei"/>
              </a:rPr>
              <a:t>典型瓶颈（示意）</a:t>
            </a:r>
          </a:p>
        </p:txBody>
      </p:sp>
      <p:sp>
        <p:nvSpPr>
          <p:cNvPr id="22" name="本体系面板标题"/>
          <p:cNvSpPr txBox="1"/>
          <p:nvPr/>
        </p:nvSpPr>
        <p:spPr>
          <a:xfrm>
            <a:off x="6496049" y="1544002"/>
            <a:ext cx="2817812" cy="2957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700">
                <a:solidFill>
                  <a:srgbClr val="087469"/>
                </a:solidFill>
                <a:latin typeface="Microsoft YaHei"/>
                <a:ea typeface="Microsoft YaHei"/>
              </a:rPr>
              <a:t>本工作：</a:t>
            </a:r>
            <a:r>
              <a:rPr b="1" sz="1700">
                <a:solidFill>
                  <a:srgbClr val="087469"/>
                </a:solidFill>
                <a:latin typeface="Arial"/>
              </a:rPr>
              <a:t>MBA </a:t>
            </a:r>
            <a:r>
              <a:rPr b="1" sz="1700">
                <a:solidFill>
                  <a:srgbClr val="087469"/>
                </a:solidFill>
                <a:latin typeface="Microsoft YaHei"/>
                <a:ea typeface="Microsoft YaHei"/>
              </a:rPr>
              <a:t>协同凝胶体系</a:t>
            </a:r>
          </a:p>
        </p:txBody>
      </p:sp>
      <p:sp>
        <p:nvSpPr>
          <p:cNvPr id="23" name="本体系面板提示"/>
          <p:cNvSpPr txBox="1"/>
          <p:nvPr/>
        </p:nvSpPr>
        <p:spPr>
          <a:xfrm>
            <a:off x="11093449" y="1609249"/>
            <a:ext cx="622300" cy="2000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150">
                <a:solidFill>
                  <a:srgbClr val="D67661"/>
                </a:solidFill>
                <a:latin typeface="Microsoft YaHei"/>
                <a:ea typeface="Microsoft YaHei"/>
              </a:rPr>
              <a:t>设计预期</a:t>
            </a:r>
          </a:p>
        </p:txBody>
      </p:sp>
      <p:sp>
        <p:nvSpPr>
          <p:cNvPr id="24" name="传统-正极-电极主体"/>
          <p:cNvSpPr/>
          <p:nvPr/>
        </p:nvSpPr>
        <p:spPr>
          <a:xfrm>
            <a:off x="539750" y="2286000"/>
            <a:ext cx="177800" cy="1733550"/>
          </a:xfrm>
          <a:prstGeom prst="roundRect">
            <a:avLst>
              <a:gd name="adj" fmla="val 10714"/>
            </a:avLst>
          </a:prstGeom>
          <a:solidFill>
            <a:srgbClr val="6E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传统-正极-电极高光"/>
          <p:cNvSpPr/>
          <p:nvPr/>
        </p:nvSpPr>
        <p:spPr>
          <a:xfrm>
            <a:off x="552450" y="2298700"/>
            <a:ext cx="25400" cy="1708150"/>
          </a:xfrm>
          <a:prstGeom prst="roundRect">
            <a:avLst>
              <a:gd name="adj" fmla="val 50000"/>
            </a:avLst>
          </a:prstGeom>
          <a:solidFill>
            <a:srgbClr val="899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传统-正极-常规膜底层"/>
          <p:cNvSpPr/>
          <p:nvPr/>
        </p:nvSpPr>
        <p:spPr>
          <a:xfrm>
            <a:off x="800100" y="2286000"/>
            <a:ext cx="57150" cy="1733550"/>
          </a:xfrm>
          <a:prstGeom prst="rect">
            <a:avLst/>
          </a:prstGeom>
          <a:solidFill>
            <a:srgbClr val="D3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传统-正极-不均匀膜-0"/>
          <p:cNvSpPr/>
          <p:nvPr/>
        </p:nvSpPr>
        <p:spPr>
          <a:xfrm>
            <a:off x="774700" y="2286000"/>
            <a:ext cx="127000" cy="177800"/>
          </a:xfrm>
          <a:custGeom>
            <a:avLst/>
            <a:gdLst/>
            <a:ahLst/>
            <a:cxnLst/>
            <a:rect l="l" t="t" r="r" b="b"/>
            <a:pathLst>
              <a:path w="20" h="28">
                <a:moveTo>
                  <a:pt x="3" y="0"/>
                </a:moveTo>
                <a:lnTo>
                  <a:pt x="5" y="1"/>
                </a:lnTo>
                <a:lnTo>
                  <a:pt x="8" y="1"/>
                </a:lnTo>
                <a:lnTo>
                  <a:pt x="10" y="2"/>
                </a:lnTo>
                <a:lnTo>
                  <a:pt x="11" y="3"/>
                </a:lnTo>
                <a:lnTo>
                  <a:pt x="13" y="3"/>
                </a:lnTo>
                <a:lnTo>
                  <a:pt x="15" y="4"/>
                </a:lnTo>
                <a:lnTo>
                  <a:pt x="16" y="5"/>
                </a:lnTo>
                <a:lnTo>
                  <a:pt x="17" y="7"/>
                </a:lnTo>
                <a:lnTo>
                  <a:pt x="18" y="8"/>
                </a:lnTo>
                <a:lnTo>
                  <a:pt x="19" y="9"/>
                </a:lnTo>
                <a:lnTo>
                  <a:pt x="19" y="10"/>
                </a:lnTo>
                <a:lnTo>
                  <a:pt x="20" y="11"/>
                </a:lnTo>
                <a:lnTo>
                  <a:pt x="20" y="12"/>
                </a:lnTo>
                <a:lnTo>
                  <a:pt x="20" y="14"/>
                </a:lnTo>
                <a:lnTo>
                  <a:pt x="20" y="15"/>
                </a:lnTo>
                <a:lnTo>
                  <a:pt x="19" y="16"/>
                </a:lnTo>
                <a:lnTo>
                  <a:pt x="19" y="17"/>
                </a:lnTo>
                <a:lnTo>
                  <a:pt x="18" y="19"/>
                </a:lnTo>
                <a:lnTo>
                  <a:pt x="18" y="20"/>
                </a:lnTo>
                <a:lnTo>
                  <a:pt x="17" y="21"/>
                </a:lnTo>
                <a:lnTo>
                  <a:pt x="16" y="22"/>
                </a:lnTo>
                <a:lnTo>
                  <a:pt x="14" y="23"/>
                </a:lnTo>
                <a:lnTo>
                  <a:pt x="13" y="24"/>
                </a:lnTo>
                <a:lnTo>
                  <a:pt x="11" y="25"/>
                </a:lnTo>
                <a:lnTo>
                  <a:pt x="9" y="26"/>
                </a:lnTo>
                <a:lnTo>
                  <a:pt x="7" y="27"/>
                </a:lnTo>
                <a:lnTo>
                  <a:pt x="5" y="27"/>
                </a:lnTo>
                <a:lnTo>
                  <a:pt x="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A7C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传统-正极-不均匀膜-1"/>
          <p:cNvSpPr/>
          <p:nvPr/>
        </p:nvSpPr>
        <p:spPr>
          <a:xfrm>
            <a:off x="774700" y="2489200"/>
            <a:ext cx="88900" cy="107950"/>
          </a:xfrm>
          <a:custGeom>
            <a:avLst/>
            <a:gdLst/>
            <a:ahLst/>
            <a:cxnLst/>
            <a:rect l="l" t="t" r="r" b="b"/>
            <a:pathLst>
              <a:path w="14" h="17">
                <a:moveTo>
                  <a:pt x="3" y="0"/>
                </a:moveTo>
                <a:lnTo>
                  <a:pt x="5" y="0"/>
                </a:lnTo>
                <a:lnTo>
                  <a:pt x="6" y="1"/>
                </a:lnTo>
                <a:lnTo>
                  <a:pt x="7" y="1"/>
                </a:lnTo>
                <a:lnTo>
                  <a:pt x="8" y="2"/>
                </a:lnTo>
                <a:lnTo>
                  <a:pt x="10" y="2"/>
                </a:lnTo>
                <a:lnTo>
                  <a:pt x="10" y="3"/>
                </a:lnTo>
                <a:lnTo>
                  <a:pt x="11" y="3"/>
                </a:lnTo>
                <a:lnTo>
                  <a:pt x="12" y="4"/>
                </a:lnTo>
                <a:lnTo>
                  <a:pt x="13" y="5"/>
                </a:lnTo>
                <a:lnTo>
                  <a:pt x="13" y="5"/>
                </a:lnTo>
                <a:lnTo>
                  <a:pt x="13" y="6"/>
                </a:lnTo>
                <a:lnTo>
                  <a:pt x="14" y="7"/>
                </a:lnTo>
                <a:lnTo>
                  <a:pt x="14" y="8"/>
                </a:lnTo>
                <a:lnTo>
                  <a:pt x="14" y="8"/>
                </a:lnTo>
                <a:lnTo>
                  <a:pt x="14" y="9"/>
                </a:lnTo>
                <a:lnTo>
                  <a:pt x="14" y="10"/>
                </a:lnTo>
                <a:lnTo>
                  <a:pt x="13" y="11"/>
                </a:lnTo>
                <a:lnTo>
                  <a:pt x="13" y="11"/>
                </a:lnTo>
                <a:lnTo>
                  <a:pt x="12" y="12"/>
                </a:lnTo>
                <a:lnTo>
                  <a:pt x="12" y="13"/>
                </a:lnTo>
                <a:lnTo>
                  <a:pt x="11" y="13"/>
                </a:lnTo>
                <a:lnTo>
                  <a:pt x="10" y="14"/>
                </a:lnTo>
                <a:lnTo>
                  <a:pt x="9" y="15"/>
                </a:lnTo>
                <a:lnTo>
                  <a:pt x="8" y="15"/>
                </a:lnTo>
                <a:lnTo>
                  <a:pt x="7" y="16"/>
                </a:lnTo>
                <a:lnTo>
                  <a:pt x="6" y="16"/>
                </a:lnTo>
                <a:lnTo>
                  <a:pt x="4" y="17"/>
                </a:lnTo>
                <a:lnTo>
                  <a:pt x="3" y="17"/>
                </a:lnTo>
                <a:lnTo>
                  <a:pt x="0" y="17"/>
                </a:lnTo>
                <a:lnTo>
                  <a:pt x="0" y="0"/>
                </a:lnTo>
                <a:close/>
              </a:path>
            </a:pathLst>
          </a:custGeom>
          <a:solidFill>
            <a:srgbClr val="B7C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传统-正极-不均匀膜-2"/>
          <p:cNvSpPr/>
          <p:nvPr/>
        </p:nvSpPr>
        <p:spPr>
          <a:xfrm>
            <a:off x="774700" y="2622550"/>
            <a:ext cx="152400" cy="234950"/>
          </a:xfrm>
          <a:custGeom>
            <a:avLst/>
            <a:gdLst/>
            <a:ahLst/>
            <a:cxnLst/>
            <a:rect l="l" t="t" r="r" b="b"/>
            <a:pathLst>
              <a:path w="24" h="37">
                <a:moveTo>
                  <a:pt x="3" y="0"/>
                </a:moveTo>
                <a:lnTo>
                  <a:pt x="6" y="1"/>
                </a:lnTo>
                <a:lnTo>
                  <a:pt x="9" y="1"/>
                </a:lnTo>
                <a:lnTo>
                  <a:pt x="11" y="2"/>
                </a:lnTo>
                <a:lnTo>
                  <a:pt x="13" y="3"/>
                </a:lnTo>
                <a:lnTo>
                  <a:pt x="15" y="5"/>
                </a:lnTo>
                <a:lnTo>
                  <a:pt x="17" y="6"/>
                </a:lnTo>
                <a:lnTo>
                  <a:pt x="19" y="7"/>
                </a:lnTo>
                <a:lnTo>
                  <a:pt x="20" y="9"/>
                </a:lnTo>
                <a:lnTo>
                  <a:pt x="21" y="10"/>
                </a:lnTo>
                <a:lnTo>
                  <a:pt x="22" y="12"/>
                </a:lnTo>
                <a:lnTo>
                  <a:pt x="23" y="13"/>
                </a:lnTo>
                <a:lnTo>
                  <a:pt x="23" y="15"/>
                </a:lnTo>
                <a:lnTo>
                  <a:pt x="24" y="16"/>
                </a:lnTo>
                <a:lnTo>
                  <a:pt x="24" y="18"/>
                </a:lnTo>
                <a:lnTo>
                  <a:pt x="23" y="20"/>
                </a:lnTo>
                <a:lnTo>
                  <a:pt x="23" y="21"/>
                </a:lnTo>
                <a:lnTo>
                  <a:pt x="23" y="23"/>
                </a:lnTo>
                <a:lnTo>
                  <a:pt x="22" y="25"/>
                </a:lnTo>
                <a:lnTo>
                  <a:pt x="21" y="26"/>
                </a:lnTo>
                <a:lnTo>
                  <a:pt x="20" y="28"/>
                </a:lnTo>
                <a:lnTo>
                  <a:pt x="18" y="29"/>
                </a:lnTo>
                <a:lnTo>
                  <a:pt x="17" y="31"/>
                </a:lnTo>
                <a:lnTo>
                  <a:pt x="15" y="32"/>
                </a:lnTo>
                <a:lnTo>
                  <a:pt x="13" y="33"/>
                </a:lnTo>
                <a:lnTo>
                  <a:pt x="11" y="34"/>
                </a:lnTo>
                <a:lnTo>
                  <a:pt x="8" y="35"/>
                </a:lnTo>
                <a:lnTo>
                  <a:pt x="6" y="36"/>
                </a:lnTo>
                <a:lnTo>
                  <a:pt x="3" y="37"/>
                </a:lnTo>
                <a:lnTo>
                  <a:pt x="0" y="37"/>
                </a:lnTo>
                <a:lnTo>
                  <a:pt x="0" y="0"/>
                </a:lnTo>
                <a:close/>
              </a:path>
            </a:pathLst>
          </a:custGeom>
          <a:solidFill>
            <a:srgbClr val="B7C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传统-正极-不均匀膜-3"/>
          <p:cNvSpPr/>
          <p:nvPr/>
        </p:nvSpPr>
        <p:spPr>
          <a:xfrm>
            <a:off x="774700" y="2882900"/>
            <a:ext cx="107950" cy="133350"/>
          </a:xfrm>
          <a:custGeom>
            <a:avLst/>
            <a:gdLst/>
            <a:ahLst/>
            <a:cxnLst/>
            <a:rect l="l" t="t" r="r" b="b"/>
            <a:pathLst>
              <a:path w="17" h="21">
                <a:moveTo>
                  <a:pt x="3" y="0"/>
                </a:moveTo>
                <a:lnTo>
                  <a:pt x="5" y="0"/>
                </a:lnTo>
                <a:lnTo>
                  <a:pt x="7" y="1"/>
                </a:lnTo>
                <a:lnTo>
                  <a:pt x="8" y="1"/>
                </a:lnTo>
                <a:lnTo>
                  <a:pt x="10" y="2"/>
                </a:lnTo>
                <a:lnTo>
                  <a:pt x="11" y="3"/>
                </a:lnTo>
                <a:lnTo>
                  <a:pt x="12" y="3"/>
                </a:lnTo>
                <a:lnTo>
                  <a:pt x="14" y="4"/>
                </a:lnTo>
                <a:lnTo>
                  <a:pt x="14" y="5"/>
                </a:lnTo>
                <a:lnTo>
                  <a:pt x="15" y="6"/>
                </a:lnTo>
                <a:lnTo>
                  <a:pt x="16" y="7"/>
                </a:lnTo>
                <a:lnTo>
                  <a:pt x="16" y="7"/>
                </a:lnTo>
                <a:lnTo>
                  <a:pt x="17" y="8"/>
                </a:lnTo>
                <a:lnTo>
                  <a:pt x="17" y="9"/>
                </a:lnTo>
                <a:lnTo>
                  <a:pt x="17" y="10"/>
                </a:lnTo>
                <a:lnTo>
                  <a:pt x="17" y="11"/>
                </a:lnTo>
                <a:lnTo>
                  <a:pt x="17" y="12"/>
                </a:lnTo>
                <a:lnTo>
                  <a:pt x="16" y="13"/>
                </a:lnTo>
                <a:lnTo>
                  <a:pt x="16" y="14"/>
                </a:lnTo>
                <a:lnTo>
                  <a:pt x="15" y="15"/>
                </a:lnTo>
                <a:lnTo>
                  <a:pt x="14" y="16"/>
                </a:lnTo>
                <a:lnTo>
                  <a:pt x="13" y="17"/>
                </a:lnTo>
                <a:lnTo>
                  <a:pt x="12" y="17"/>
                </a:lnTo>
                <a:lnTo>
                  <a:pt x="11" y="18"/>
                </a:lnTo>
                <a:lnTo>
                  <a:pt x="10" y="19"/>
                </a:lnTo>
                <a:lnTo>
                  <a:pt x="8" y="19"/>
                </a:lnTo>
                <a:lnTo>
                  <a:pt x="7" y="20"/>
                </a:lnTo>
                <a:lnTo>
                  <a:pt x="5" y="21"/>
                </a:lnTo>
                <a:lnTo>
                  <a:pt x="3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A7C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传统-正极-不均匀膜-4"/>
          <p:cNvSpPr/>
          <p:nvPr/>
        </p:nvSpPr>
        <p:spPr>
          <a:xfrm>
            <a:off x="774700" y="3041650"/>
            <a:ext cx="133350" cy="203200"/>
          </a:xfrm>
          <a:custGeom>
            <a:avLst/>
            <a:gdLst/>
            <a:ahLst/>
            <a:cxnLst/>
            <a:rect l="l" t="t" r="r" b="b"/>
            <a:pathLst>
              <a:path w="21" h="32">
                <a:moveTo>
                  <a:pt x="3" y="0"/>
                </a:moveTo>
                <a:lnTo>
                  <a:pt x="6" y="1"/>
                </a:lnTo>
                <a:lnTo>
                  <a:pt x="8" y="1"/>
                </a:lnTo>
                <a:lnTo>
                  <a:pt x="10" y="2"/>
                </a:lnTo>
                <a:lnTo>
                  <a:pt x="12" y="3"/>
                </a:lnTo>
                <a:lnTo>
                  <a:pt x="14" y="4"/>
                </a:lnTo>
                <a:lnTo>
                  <a:pt x="16" y="5"/>
                </a:lnTo>
                <a:lnTo>
                  <a:pt x="17" y="6"/>
                </a:lnTo>
                <a:lnTo>
                  <a:pt x="18" y="7"/>
                </a:lnTo>
                <a:lnTo>
                  <a:pt x="19" y="9"/>
                </a:lnTo>
                <a:lnTo>
                  <a:pt x="20" y="10"/>
                </a:lnTo>
                <a:lnTo>
                  <a:pt x="21" y="11"/>
                </a:lnTo>
                <a:lnTo>
                  <a:pt x="21" y="13"/>
                </a:lnTo>
                <a:lnTo>
                  <a:pt x="21" y="14"/>
                </a:lnTo>
                <a:lnTo>
                  <a:pt x="21" y="16"/>
                </a:lnTo>
                <a:lnTo>
                  <a:pt x="21" y="17"/>
                </a:lnTo>
                <a:lnTo>
                  <a:pt x="21" y="18"/>
                </a:lnTo>
                <a:lnTo>
                  <a:pt x="20" y="20"/>
                </a:lnTo>
                <a:lnTo>
                  <a:pt x="20" y="21"/>
                </a:lnTo>
                <a:lnTo>
                  <a:pt x="19" y="23"/>
                </a:lnTo>
                <a:lnTo>
                  <a:pt x="18" y="24"/>
                </a:lnTo>
                <a:lnTo>
                  <a:pt x="17" y="25"/>
                </a:lnTo>
                <a:lnTo>
                  <a:pt x="15" y="26"/>
                </a:lnTo>
                <a:lnTo>
                  <a:pt x="14" y="28"/>
                </a:lnTo>
                <a:lnTo>
                  <a:pt x="12" y="29"/>
                </a:lnTo>
                <a:lnTo>
                  <a:pt x="10" y="30"/>
                </a:lnTo>
                <a:lnTo>
                  <a:pt x="8" y="31"/>
                </a:lnTo>
                <a:lnTo>
                  <a:pt x="5" y="31"/>
                </a:lnTo>
                <a:lnTo>
                  <a:pt x="3" y="32"/>
                </a:lnTo>
                <a:lnTo>
                  <a:pt x="0" y="32"/>
                </a:lnTo>
                <a:lnTo>
                  <a:pt x="0" y="0"/>
                </a:lnTo>
                <a:close/>
              </a:path>
            </a:pathLst>
          </a:custGeom>
          <a:solidFill>
            <a:srgbClr val="B7C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传统-正极-不均匀膜-5"/>
          <p:cNvSpPr/>
          <p:nvPr/>
        </p:nvSpPr>
        <p:spPr>
          <a:xfrm>
            <a:off x="774700" y="327025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12" h="16">
                <a:moveTo>
                  <a:pt x="3" y="0"/>
                </a:moveTo>
                <a:lnTo>
                  <a:pt x="4" y="0"/>
                </a:lnTo>
                <a:lnTo>
                  <a:pt x="6" y="1"/>
                </a:lnTo>
                <a:lnTo>
                  <a:pt x="7" y="1"/>
                </a:lnTo>
                <a:lnTo>
                  <a:pt x="8" y="1"/>
                </a:lnTo>
                <a:lnTo>
                  <a:pt x="9" y="2"/>
                </a:lnTo>
                <a:lnTo>
                  <a:pt x="9" y="3"/>
                </a:lnTo>
                <a:lnTo>
                  <a:pt x="10" y="3"/>
                </a:lnTo>
                <a:lnTo>
                  <a:pt x="11" y="4"/>
                </a:lnTo>
                <a:lnTo>
                  <a:pt x="11" y="4"/>
                </a:lnTo>
                <a:lnTo>
                  <a:pt x="12" y="5"/>
                </a:lnTo>
                <a:lnTo>
                  <a:pt x="12" y="6"/>
                </a:lnTo>
                <a:lnTo>
                  <a:pt x="12" y="6"/>
                </a:lnTo>
                <a:lnTo>
                  <a:pt x="12" y="7"/>
                </a:lnTo>
                <a:lnTo>
                  <a:pt x="12" y="8"/>
                </a:lnTo>
                <a:lnTo>
                  <a:pt x="12" y="9"/>
                </a:lnTo>
                <a:lnTo>
                  <a:pt x="12" y="9"/>
                </a:lnTo>
                <a:lnTo>
                  <a:pt x="12" y="10"/>
                </a:lnTo>
                <a:lnTo>
                  <a:pt x="12" y="11"/>
                </a:lnTo>
                <a:lnTo>
                  <a:pt x="11" y="11"/>
                </a:lnTo>
                <a:lnTo>
                  <a:pt x="11" y="12"/>
                </a:lnTo>
                <a:lnTo>
                  <a:pt x="10" y="13"/>
                </a:lnTo>
                <a:lnTo>
                  <a:pt x="9" y="13"/>
                </a:lnTo>
                <a:lnTo>
                  <a:pt x="8" y="14"/>
                </a:lnTo>
                <a:lnTo>
                  <a:pt x="7" y="14"/>
                </a:lnTo>
                <a:lnTo>
                  <a:pt x="6" y="15"/>
                </a:lnTo>
                <a:lnTo>
                  <a:pt x="5" y="15"/>
                </a:lnTo>
                <a:lnTo>
                  <a:pt x="4" y="16"/>
                </a:lnTo>
                <a:lnTo>
                  <a:pt x="3" y="16"/>
                </a:lnTo>
                <a:lnTo>
                  <a:pt x="0" y="16"/>
                </a:lnTo>
                <a:lnTo>
                  <a:pt x="0" y="0"/>
                </a:lnTo>
                <a:close/>
              </a:path>
            </a:pathLst>
          </a:custGeom>
          <a:solidFill>
            <a:srgbClr val="B7C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传统-正极-不均匀膜-6"/>
          <p:cNvSpPr/>
          <p:nvPr/>
        </p:nvSpPr>
        <p:spPr>
          <a:xfrm>
            <a:off x="774700" y="3397250"/>
            <a:ext cx="120650" cy="158750"/>
          </a:xfrm>
          <a:custGeom>
            <a:avLst/>
            <a:gdLst/>
            <a:ahLst/>
            <a:cxnLst/>
            <a:rect l="l" t="t" r="r" b="b"/>
            <a:pathLst>
              <a:path w="19" h="25">
                <a:moveTo>
                  <a:pt x="3" y="0"/>
                </a:moveTo>
                <a:lnTo>
                  <a:pt x="5" y="0"/>
                </a:lnTo>
                <a:lnTo>
                  <a:pt x="7" y="1"/>
                </a:lnTo>
                <a:lnTo>
                  <a:pt x="9" y="2"/>
                </a:lnTo>
                <a:lnTo>
                  <a:pt x="11" y="2"/>
                </a:lnTo>
                <a:lnTo>
                  <a:pt x="13" y="3"/>
                </a:lnTo>
                <a:lnTo>
                  <a:pt x="14" y="4"/>
                </a:lnTo>
                <a:lnTo>
                  <a:pt x="15" y="5"/>
                </a:lnTo>
                <a:lnTo>
                  <a:pt x="16" y="6"/>
                </a:lnTo>
                <a:lnTo>
                  <a:pt x="17" y="7"/>
                </a:lnTo>
                <a:lnTo>
                  <a:pt x="18" y="8"/>
                </a:lnTo>
                <a:lnTo>
                  <a:pt x="18" y="9"/>
                </a:lnTo>
                <a:lnTo>
                  <a:pt x="19" y="10"/>
                </a:lnTo>
                <a:lnTo>
                  <a:pt x="19" y="11"/>
                </a:lnTo>
                <a:lnTo>
                  <a:pt x="19" y="12"/>
                </a:lnTo>
                <a:lnTo>
                  <a:pt x="19" y="13"/>
                </a:lnTo>
                <a:lnTo>
                  <a:pt x="19" y="14"/>
                </a:lnTo>
                <a:lnTo>
                  <a:pt x="18" y="16"/>
                </a:lnTo>
                <a:lnTo>
                  <a:pt x="18" y="17"/>
                </a:lnTo>
                <a:lnTo>
                  <a:pt x="17" y="18"/>
                </a:lnTo>
                <a:lnTo>
                  <a:pt x="16" y="19"/>
                </a:lnTo>
                <a:lnTo>
                  <a:pt x="15" y="20"/>
                </a:lnTo>
                <a:lnTo>
                  <a:pt x="14" y="21"/>
                </a:lnTo>
                <a:lnTo>
                  <a:pt x="12" y="22"/>
                </a:lnTo>
                <a:lnTo>
                  <a:pt x="11" y="22"/>
                </a:lnTo>
                <a:lnTo>
                  <a:pt x="9" y="23"/>
                </a:lnTo>
                <a:lnTo>
                  <a:pt x="7" y="24"/>
                </a:lnTo>
                <a:lnTo>
                  <a:pt x="5" y="24"/>
                </a:lnTo>
                <a:lnTo>
                  <a:pt x="3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A7C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传统-正极-不均匀膜-7"/>
          <p:cNvSpPr/>
          <p:nvPr/>
        </p:nvSpPr>
        <p:spPr>
          <a:xfrm>
            <a:off x="774700" y="3581400"/>
            <a:ext cx="171450" cy="254000"/>
          </a:xfrm>
          <a:custGeom>
            <a:avLst/>
            <a:gdLst/>
            <a:ahLst/>
            <a:cxnLst/>
            <a:rect l="l" t="t" r="r" b="b"/>
            <a:pathLst>
              <a:path w="27" h="40">
                <a:moveTo>
                  <a:pt x="3" y="0"/>
                </a:moveTo>
                <a:lnTo>
                  <a:pt x="6" y="1"/>
                </a:lnTo>
                <a:lnTo>
                  <a:pt x="10" y="2"/>
                </a:lnTo>
                <a:lnTo>
                  <a:pt x="12" y="3"/>
                </a:lnTo>
                <a:lnTo>
                  <a:pt x="15" y="4"/>
                </a:lnTo>
                <a:lnTo>
                  <a:pt x="17" y="5"/>
                </a:lnTo>
                <a:lnTo>
                  <a:pt x="20" y="6"/>
                </a:lnTo>
                <a:lnTo>
                  <a:pt x="21" y="8"/>
                </a:lnTo>
                <a:lnTo>
                  <a:pt x="23" y="9"/>
                </a:lnTo>
                <a:lnTo>
                  <a:pt x="24" y="11"/>
                </a:lnTo>
                <a:lnTo>
                  <a:pt x="25" y="13"/>
                </a:lnTo>
                <a:lnTo>
                  <a:pt x="26" y="14"/>
                </a:lnTo>
                <a:lnTo>
                  <a:pt x="27" y="16"/>
                </a:lnTo>
                <a:lnTo>
                  <a:pt x="27" y="18"/>
                </a:lnTo>
                <a:lnTo>
                  <a:pt x="27" y="20"/>
                </a:lnTo>
                <a:lnTo>
                  <a:pt x="27" y="21"/>
                </a:lnTo>
                <a:lnTo>
                  <a:pt x="27" y="23"/>
                </a:lnTo>
                <a:lnTo>
                  <a:pt x="26" y="25"/>
                </a:lnTo>
                <a:lnTo>
                  <a:pt x="25" y="27"/>
                </a:lnTo>
                <a:lnTo>
                  <a:pt x="24" y="28"/>
                </a:lnTo>
                <a:lnTo>
                  <a:pt x="23" y="30"/>
                </a:lnTo>
                <a:lnTo>
                  <a:pt x="21" y="32"/>
                </a:lnTo>
                <a:lnTo>
                  <a:pt x="19" y="33"/>
                </a:lnTo>
                <a:lnTo>
                  <a:pt x="17" y="34"/>
                </a:lnTo>
                <a:lnTo>
                  <a:pt x="15" y="36"/>
                </a:lnTo>
                <a:lnTo>
                  <a:pt x="12" y="37"/>
                </a:lnTo>
                <a:lnTo>
                  <a:pt x="9" y="38"/>
                </a:lnTo>
                <a:lnTo>
                  <a:pt x="6" y="39"/>
                </a:lnTo>
                <a:lnTo>
                  <a:pt x="3" y="40"/>
                </a:lnTo>
                <a:lnTo>
                  <a:pt x="0" y="40"/>
                </a:lnTo>
                <a:lnTo>
                  <a:pt x="0" y="0"/>
                </a:lnTo>
                <a:close/>
              </a:path>
            </a:pathLst>
          </a:custGeom>
          <a:solidFill>
            <a:srgbClr val="B7C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传统-正极-不均匀膜-8"/>
          <p:cNvSpPr/>
          <p:nvPr/>
        </p:nvSpPr>
        <p:spPr>
          <a:xfrm>
            <a:off x="774700" y="3860800"/>
            <a:ext cx="95250" cy="133350"/>
          </a:xfrm>
          <a:custGeom>
            <a:avLst/>
            <a:gdLst/>
            <a:ahLst/>
            <a:cxnLst/>
            <a:rect l="l" t="t" r="r" b="b"/>
            <a:pathLst>
              <a:path w="15" h="21">
                <a:moveTo>
                  <a:pt x="3" y="0"/>
                </a:moveTo>
                <a:lnTo>
                  <a:pt x="5" y="0"/>
                </a:lnTo>
                <a:lnTo>
                  <a:pt x="6" y="1"/>
                </a:lnTo>
                <a:lnTo>
                  <a:pt x="8" y="1"/>
                </a:lnTo>
                <a:lnTo>
                  <a:pt x="9" y="2"/>
                </a:lnTo>
                <a:lnTo>
                  <a:pt x="10" y="3"/>
                </a:lnTo>
                <a:lnTo>
                  <a:pt x="11" y="3"/>
                </a:lnTo>
                <a:lnTo>
                  <a:pt x="12" y="4"/>
                </a:lnTo>
                <a:lnTo>
                  <a:pt x="13" y="5"/>
                </a:lnTo>
                <a:lnTo>
                  <a:pt x="14" y="6"/>
                </a:lnTo>
                <a:lnTo>
                  <a:pt x="14" y="7"/>
                </a:lnTo>
                <a:lnTo>
                  <a:pt x="15" y="7"/>
                </a:lnTo>
                <a:lnTo>
                  <a:pt x="15" y="8"/>
                </a:lnTo>
                <a:lnTo>
                  <a:pt x="15" y="9"/>
                </a:lnTo>
                <a:lnTo>
                  <a:pt x="15" y="10"/>
                </a:lnTo>
                <a:lnTo>
                  <a:pt x="15" y="11"/>
                </a:lnTo>
                <a:lnTo>
                  <a:pt x="15" y="12"/>
                </a:lnTo>
                <a:lnTo>
                  <a:pt x="15" y="13"/>
                </a:lnTo>
                <a:lnTo>
                  <a:pt x="14" y="14"/>
                </a:lnTo>
                <a:lnTo>
                  <a:pt x="14" y="15"/>
                </a:lnTo>
                <a:lnTo>
                  <a:pt x="13" y="16"/>
                </a:lnTo>
                <a:lnTo>
                  <a:pt x="12" y="17"/>
                </a:lnTo>
                <a:lnTo>
                  <a:pt x="11" y="17"/>
                </a:lnTo>
                <a:lnTo>
                  <a:pt x="10" y="18"/>
                </a:lnTo>
                <a:lnTo>
                  <a:pt x="9" y="19"/>
                </a:lnTo>
                <a:lnTo>
                  <a:pt x="8" y="19"/>
                </a:lnTo>
                <a:lnTo>
                  <a:pt x="6" y="20"/>
                </a:lnTo>
                <a:lnTo>
                  <a:pt x="5" y="21"/>
                </a:lnTo>
                <a:lnTo>
                  <a:pt x="3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B7C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传统-正极-电极标签"/>
          <p:cNvSpPr txBox="1"/>
          <p:nvPr/>
        </p:nvSpPr>
        <p:spPr>
          <a:xfrm>
            <a:off x="469900" y="4098290"/>
            <a:ext cx="342900" cy="2087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200">
                <a:solidFill>
                  <a:srgbClr val="68798D"/>
                </a:solidFill>
                <a:latin typeface="Microsoft YaHei"/>
                <a:ea typeface="Microsoft YaHei"/>
              </a:rPr>
              <a:t>正极</a:t>
            </a:r>
          </a:p>
        </p:txBody>
      </p:sp>
      <p:sp>
        <p:nvSpPr>
          <p:cNvPr id="37" name="传统-负极-电极主体"/>
          <p:cNvSpPr/>
          <p:nvPr/>
        </p:nvSpPr>
        <p:spPr>
          <a:xfrm>
            <a:off x="5492750" y="2286000"/>
            <a:ext cx="177800" cy="1733550"/>
          </a:xfrm>
          <a:prstGeom prst="roundRect">
            <a:avLst>
              <a:gd name="adj" fmla="val 10714"/>
            </a:avLst>
          </a:prstGeom>
          <a:solidFill>
            <a:srgbClr val="C6A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传统-负极-电极高光"/>
          <p:cNvSpPr/>
          <p:nvPr/>
        </p:nvSpPr>
        <p:spPr>
          <a:xfrm>
            <a:off x="5505450" y="2298700"/>
            <a:ext cx="25400" cy="1708150"/>
          </a:xfrm>
          <a:prstGeom prst="roundRect">
            <a:avLst>
              <a:gd name="adj" fmla="val 50000"/>
            </a:avLst>
          </a:prstGeom>
          <a:solidFill>
            <a:srgbClr val="D5C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传统-负极-常规膜底层"/>
          <p:cNvSpPr/>
          <p:nvPr/>
        </p:nvSpPr>
        <p:spPr>
          <a:xfrm>
            <a:off x="5359400" y="2286000"/>
            <a:ext cx="57150" cy="1733550"/>
          </a:xfrm>
          <a:prstGeom prst="rect">
            <a:avLst/>
          </a:prstGeom>
          <a:solidFill>
            <a:srgbClr val="D3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传统-负极-不均匀膜-0"/>
          <p:cNvSpPr/>
          <p:nvPr/>
        </p:nvSpPr>
        <p:spPr>
          <a:xfrm>
            <a:off x="5270500" y="2286000"/>
            <a:ext cx="171450" cy="177800"/>
          </a:xfrm>
          <a:custGeom>
            <a:avLst/>
            <a:gdLst/>
            <a:ahLst/>
            <a:cxnLst/>
            <a:rect l="l" t="t" r="r" b="b"/>
            <a:pathLst>
              <a:path w="27" h="28">
                <a:moveTo>
                  <a:pt x="23" y="0"/>
                </a:moveTo>
                <a:lnTo>
                  <a:pt x="20" y="1"/>
                </a:lnTo>
                <a:lnTo>
                  <a:pt x="17" y="1"/>
                </a:lnTo>
                <a:lnTo>
                  <a:pt x="14" y="2"/>
                </a:lnTo>
                <a:lnTo>
                  <a:pt x="12" y="3"/>
                </a:lnTo>
                <a:lnTo>
                  <a:pt x="9" y="4"/>
                </a:lnTo>
                <a:lnTo>
                  <a:pt x="7" y="5"/>
                </a:lnTo>
                <a:lnTo>
                  <a:pt x="6" y="6"/>
                </a:lnTo>
                <a:lnTo>
                  <a:pt x="4" y="7"/>
                </a:lnTo>
                <a:lnTo>
                  <a:pt x="3" y="8"/>
                </a:lnTo>
                <a:lnTo>
                  <a:pt x="2" y="9"/>
                </a:lnTo>
                <a:lnTo>
                  <a:pt x="1" y="10"/>
                </a:lnTo>
                <a:lnTo>
                  <a:pt x="0" y="11"/>
                </a:lnTo>
                <a:lnTo>
                  <a:pt x="0" y="13"/>
                </a:lnTo>
                <a:lnTo>
                  <a:pt x="0" y="14"/>
                </a:lnTo>
                <a:lnTo>
                  <a:pt x="0" y="15"/>
                </a:lnTo>
                <a:lnTo>
                  <a:pt x="0" y="16"/>
                </a:lnTo>
                <a:lnTo>
                  <a:pt x="1" y="17"/>
                </a:lnTo>
                <a:lnTo>
                  <a:pt x="2" y="19"/>
                </a:lnTo>
                <a:lnTo>
                  <a:pt x="3" y="20"/>
                </a:lnTo>
                <a:lnTo>
                  <a:pt x="4" y="21"/>
                </a:lnTo>
                <a:lnTo>
                  <a:pt x="6" y="22"/>
                </a:lnTo>
                <a:lnTo>
                  <a:pt x="7" y="23"/>
                </a:lnTo>
                <a:lnTo>
                  <a:pt x="9" y="24"/>
                </a:lnTo>
                <a:lnTo>
                  <a:pt x="12" y="25"/>
                </a:lnTo>
                <a:lnTo>
                  <a:pt x="14" y="26"/>
                </a:lnTo>
                <a:lnTo>
                  <a:pt x="17" y="27"/>
                </a:lnTo>
                <a:lnTo>
                  <a:pt x="20" y="27"/>
                </a:lnTo>
                <a:lnTo>
                  <a:pt x="23" y="28"/>
                </a:lnTo>
                <a:lnTo>
                  <a:pt x="27" y="28"/>
                </a:lnTo>
                <a:lnTo>
                  <a:pt x="27" y="0"/>
                </a:lnTo>
                <a:close/>
              </a:path>
            </a:pathLst>
          </a:custGeom>
          <a:solidFill>
            <a:srgbClr val="A7C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传统-负极-不均匀膜-1"/>
          <p:cNvSpPr/>
          <p:nvPr/>
        </p:nvSpPr>
        <p:spPr>
          <a:xfrm>
            <a:off x="5308600" y="2489200"/>
            <a:ext cx="133350" cy="107950"/>
          </a:xfrm>
          <a:custGeom>
            <a:avLst/>
            <a:gdLst/>
            <a:ahLst/>
            <a:cxnLst/>
            <a:rect l="l" t="t" r="r" b="b"/>
            <a:pathLst>
              <a:path w="21" h="17">
                <a:moveTo>
                  <a:pt x="17" y="0"/>
                </a:moveTo>
                <a:lnTo>
                  <a:pt x="15" y="0"/>
                </a:lnTo>
                <a:lnTo>
                  <a:pt x="12" y="1"/>
                </a:lnTo>
                <a:lnTo>
                  <a:pt x="10" y="1"/>
                </a:lnTo>
                <a:lnTo>
                  <a:pt x="9" y="2"/>
                </a:lnTo>
                <a:lnTo>
                  <a:pt x="7" y="2"/>
                </a:lnTo>
                <a:lnTo>
                  <a:pt x="5" y="3"/>
                </a:lnTo>
                <a:lnTo>
                  <a:pt x="4" y="3"/>
                </a:lnTo>
                <a:lnTo>
                  <a:pt x="3" y="4"/>
                </a:lnTo>
                <a:lnTo>
                  <a:pt x="2" y="5"/>
                </a:lnTo>
                <a:lnTo>
                  <a:pt x="1" y="5"/>
                </a:lnTo>
                <a:lnTo>
                  <a:pt x="1" y="6"/>
                </a:lnTo>
                <a:lnTo>
                  <a:pt x="0" y="7"/>
                </a:lnTo>
                <a:lnTo>
                  <a:pt x="0" y="8"/>
                </a:lnTo>
                <a:lnTo>
                  <a:pt x="0" y="8"/>
                </a:lnTo>
                <a:lnTo>
                  <a:pt x="0" y="9"/>
                </a:lnTo>
                <a:lnTo>
                  <a:pt x="0" y="10"/>
                </a:lnTo>
                <a:lnTo>
                  <a:pt x="1" y="11"/>
                </a:lnTo>
                <a:lnTo>
                  <a:pt x="1" y="11"/>
                </a:lnTo>
                <a:lnTo>
                  <a:pt x="2" y="12"/>
                </a:lnTo>
                <a:lnTo>
                  <a:pt x="3" y="13"/>
                </a:lnTo>
                <a:lnTo>
                  <a:pt x="4" y="13"/>
                </a:lnTo>
                <a:lnTo>
                  <a:pt x="5" y="14"/>
                </a:lnTo>
                <a:lnTo>
                  <a:pt x="7" y="15"/>
                </a:lnTo>
                <a:lnTo>
                  <a:pt x="9" y="15"/>
                </a:lnTo>
                <a:lnTo>
                  <a:pt x="10" y="16"/>
                </a:lnTo>
                <a:lnTo>
                  <a:pt x="12" y="16"/>
                </a:lnTo>
                <a:lnTo>
                  <a:pt x="15" y="17"/>
                </a:lnTo>
                <a:lnTo>
                  <a:pt x="17" y="17"/>
                </a:lnTo>
                <a:lnTo>
                  <a:pt x="21" y="17"/>
                </a:lnTo>
                <a:lnTo>
                  <a:pt x="21" y="0"/>
                </a:lnTo>
                <a:close/>
              </a:path>
            </a:pathLst>
          </a:custGeom>
          <a:solidFill>
            <a:srgbClr val="B7C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传统-负极-不均匀膜-2"/>
          <p:cNvSpPr/>
          <p:nvPr/>
        </p:nvSpPr>
        <p:spPr>
          <a:xfrm>
            <a:off x="5245100" y="2622550"/>
            <a:ext cx="196850" cy="234950"/>
          </a:xfrm>
          <a:custGeom>
            <a:avLst/>
            <a:gdLst/>
            <a:ahLst/>
            <a:cxnLst/>
            <a:rect l="l" t="t" r="r" b="b"/>
            <a:pathLst>
              <a:path w="31" h="37">
                <a:moveTo>
                  <a:pt x="27" y="0"/>
                </a:moveTo>
                <a:lnTo>
                  <a:pt x="23" y="1"/>
                </a:lnTo>
                <a:lnTo>
                  <a:pt x="20" y="2"/>
                </a:lnTo>
                <a:lnTo>
                  <a:pt x="17" y="3"/>
                </a:lnTo>
                <a:lnTo>
                  <a:pt x="14" y="4"/>
                </a:lnTo>
                <a:lnTo>
                  <a:pt x="11" y="5"/>
                </a:lnTo>
                <a:lnTo>
                  <a:pt x="9" y="6"/>
                </a:lnTo>
                <a:lnTo>
                  <a:pt x="7" y="8"/>
                </a:lnTo>
                <a:lnTo>
                  <a:pt x="5" y="9"/>
                </a:lnTo>
                <a:lnTo>
                  <a:pt x="3" y="10"/>
                </a:lnTo>
                <a:lnTo>
                  <a:pt x="2" y="12"/>
                </a:lnTo>
                <a:lnTo>
                  <a:pt x="1" y="13"/>
                </a:lnTo>
                <a:lnTo>
                  <a:pt x="1" y="15"/>
                </a:lnTo>
                <a:lnTo>
                  <a:pt x="0" y="17"/>
                </a:lnTo>
                <a:lnTo>
                  <a:pt x="0" y="18"/>
                </a:lnTo>
                <a:lnTo>
                  <a:pt x="0" y="20"/>
                </a:lnTo>
                <a:lnTo>
                  <a:pt x="1" y="21"/>
                </a:lnTo>
                <a:lnTo>
                  <a:pt x="1" y="23"/>
                </a:lnTo>
                <a:lnTo>
                  <a:pt x="2" y="25"/>
                </a:lnTo>
                <a:lnTo>
                  <a:pt x="3" y="26"/>
                </a:lnTo>
                <a:lnTo>
                  <a:pt x="5" y="28"/>
                </a:lnTo>
                <a:lnTo>
                  <a:pt x="7" y="29"/>
                </a:lnTo>
                <a:lnTo>
                  <a:pt x="9" y="30"/>
                </a:lnTo>
                <a:lnTo>
                  <a:pt x="11" y="32"/>
                </a:lnTo>
                <a:lnTo>
                  <a:pt x="14" y="33"/>
                </a:lnTo>
                <a:lnTo>
                  <a:pt x="17" y="34"/>
                </a:lnTo>
                <a:lnTo>
                  <a:pt x="20" y="35"/>
                </a:lnTo>
                <a:lnTo>
                  <a:pt x="23" y="36"/>
                </a:lnTo>
                <a:lnTo>
                  <a:pt x="27" y="37"/>
                </a:lnTo>
                <a:lnTo>
                  <a:pt x="31" y="37"/>
                </a:lnTo>
                <a:lnTo>
                  <a:pt x="31" y="0"/>
                </a:lnTo>
                <a:close/>
              </a:path>
            </a:pathLst>
          </a:custGeom>
          <a:solidFill>
            <a:srgbClr val="B7C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传统-负极-不均匀膜-3"/>
          <p:cNvSpPr/>
          <p:nvPr/>
        </p:nvSpPr>
        <p:spPr>
          <a:xfrm>
            <a:off x="5289550" y="2882900"/>
            <a:ext cx="152400" cy="133350"/>
          </a:xfrm>
          <a:custGeom>
            <a:avLst/>
            <a:gdLst/>
            <a:ahLst/>
            <a:cxnLst/>
            <a:rect l="l" t="t" r="r" b="b"/>
            <a:pathLst>
              <a:path w="24" h="21">
                <a:moveTo>
                  <a:pt x="20" y="0"/>
                </a:moveTo>
                <a:lnTo>
                  <a:pt x="17" y="0"/>
                </a:lnTo>
                <a:lnTo>
                  <a:pt x="15" y="1"/>
                </a:lnTo>
                <a:lnTo>
                  <a:pt x="12" y="2"/>
                </a:lnTo>
                <a:lnTo>
                  <a:pt x="10" y="2"/>
                </a:lnTo>
                <a:lnTo>
                  <a:pt x="8" y="3"/>
                </a:lnTo>
                <a:lnTo>
                  <a:pt x="6" y="4"/>
                </a:lnTo>
                <a:lnTo>
                  <a:pt x="5" y="4"/>
                </a:lnTo>
                <a:lnTo>
                  <a:pt x="3" y="5"/>
                </a:lnTo>
                <a:lnTo>
                  <a:pt x="2" y="6"/>
                </a:lnTo>
                <a:lnTo>
                  <a:pt x="1" y="7"/>
                </a:lnTo>
                <a:lnTo>
                  <a:pt x="1" y="8"/>
                </a:lnTo>
                <a:lnTo>
                  <a:pt x="0" y="9"/>
                </a:lnTo>
                <a:lnTo>
                  <a:pt x="0" y="9"/>
                </a:lnTo>
                <a:lnTo>
                  <a:pt x="0" y="10"/>
                </a:lnTo>
                <a:lnTo>
                  <a:pt x="0" y="11"/>
                </a:lnTo>
                <a:lnTo>
                  <a:pt x="0" y="12"/>
                </a:lnTo>
                <a:lnTo>
                  <a:pt x="1" y="13"/>
                </a:lnTo>
                <a:lnTo>
                  <a:pt x="1" y="14"/>
                </a:lnTo>
                <a:lnTo>
                  <a:pt x="2" y="15"/>
                </a:lnTo>
                <a:lnTo>
                  <a:pt x="3" y="16"/>
                </a:lnTo>
                <a:lnTo>
                  <a:pt x="5" y="16"/>
                </a:lnTo>
                <a:lnTo>
                  <a:pt x="6" y="17"/>
                </a:lnTo>
                <a:lnTo>
                  <a:pt x="8" y="18"/>
                </a:lnTo>
                <a:lnTo>
                  <a:pt x="10" y="19"/>
                </a:lnTo>
                <a:lnTo>
                  <a:pt x="12" y="19"/>
                </a:lnTo>
                <a:lnTo>
                  <a:pt x="15" y="20"/>
                </a:lnTo>
                <a:lnTo>
                  <a:pt x="17" y="21"/>
                </a:lnTo>
                <a:lnTo>
                  <a:pt x="20" y="21"/>
                </a:lnTo>
                <a:lnTo>
                  <a:pt x="24" y="21"/>
                </a:lnTo>
                <a:lnTo>
                  <a:pt x="24" y="0"/>
                </a:lnTo>
                <a:close/>
              </a:path>
            </a:pathLst>
          </a:custGeom>
          <a:solidFill>
            <a:srgbClr val="A7C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传统-负极-不均匀膜-4"/>
          <p:cNvSpPr/>
          <p:nvPr/>
        </p:nvSpPr>
        <p:spPr>
          <a:xfrm>
            <a:off x="5257800" y="3041650"/>
            <a:ext cx="184150" cy="203200"/>
          </a:xfrm>
          <a:custGeom>
            <a:avLst/>
            <a:gdLst/>
            <a:ahLst/>
            <a:cxnLst/>
            <a:rect l="l" t="t" r="r" b="b"/>
            <a:pathLst>
              <a:path w="29" h="32">
                <a:moveTo>
                  <a:pt x="25" y="0"/>
                </a:moveTo>
                <a:lnTo>
                  <a:pt x="22" y="1"/>
                </a:lnTo>
                <a:lnTo>
                  <a:pt x="18" y="1"/>
                </a:lnTo>
                <a:lnTo>
                  <a:pt x="16" y="2"/>
                </a:lnTo>
                <a:lnTo>
                  <a:pt x="13" y="3"/>
                </a:lnTo>
                <a:lnTo>
                  <a:pt x="10" y="4"/>
                </a:lnTo>
                <a:lnTo>
                  <a:pt x="8" y="5"/>
                </a:lnTo>
                <a:lnTo>
                  <a:pt x="6" y="7"/>
                </a:lnTo>
                <a:lnTo>
                  <a:pt x="5" y="8"/>
                </a:lnTo>
                <a:lnTo>
                  <a:pt x="3" y="9"/>
                </a:lnTo>
                <a:lnTo>
                  <a:pt x="2" y="10"/>
                </a:lnTo>
                <a:lnTo>
                  <a:pt x="1" y="12"/>
                </a:lnTo>
                <a:lnTo>
                  <a:pt x="1" y="13"/>
                </a:lnTo>
                <a:lnTo>
                  <a:pt x="0" y="14"/>
                </a:lnTo>
                <a:lnTo>
                  <a:pt x="0" y="16"/>
                </a:lnTo>
                <a:lnTo>
                  <a:pt x="0" y="17"/>
                </a:lnTo>
                <a:lnTo>
                  <a:pt x="1" y="19"/>
                </a:lnTo>
                <a:lnTo>
                  <a:pt x="1" y="20"/>
                </a:lnTo>
                <a:lnTo>
                  <a:pt x="2" y="21"/>
                </a:lnTo>
                <a:lnTo>
                  <a:pt x="3" y="23"/>
                </a:lnTo>
                <a:lnTo>
                  <a:pt x="5" y="24"/>
                </a:lnTo>
                <a:lnTo>
                  <a:pt x="6" y="25"/>
                </a:lnTo>
                <a:lnTo>
                  <a:pt x="8" y="26"/>
                </a:lnTo>
                <a:lnTo>
                  <a:pt x="10" y="27"/>
                </a:lnTo>
                <a:lnTo>
                  <a:pt x="13" y="29"/>
                </a:lnTo>
                <a:lnTo>
                  <a:pt x="16" y="30"/>
                </a:lnTo>
                <a:lnTo>
                  <a:pt x="18" y="30"/>
                </a:lnTo>
                <a:lnTo>
                  <a:pt x="22" y="31"/>
                </a:lnTo>
                <a:lnTo>
                  <a:pt x="25" y="32"/>
                </a:lnTo>
                <a:lnTo>
                  <a:pt x="29" y="32"/>
                </a:lnTo>
                <a:lnTo>
                  <a:pt x="29" y="0"/>
                </a:lnTo>
                <a:close/>
              </a:path>
            </a:pathLst>
          </a:custGeom>
          <a:solidFill>
            <a:srgbClr val="B7C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传统-负极-不均匀膜-5"/>
          <p:cNvSpPr/>
          <p:nvPr/>
        </p:nvSpPr>
        <p:spPr>
          <a:xfrm>
            <a:off x="5314950" y="3270250"/>
            <a:ext cx="127000" cy="101600"/>
          </a:xfrm>
          <a:custGeom>
            <a:avLst/>
            <a:gdLst/>
            <a:ahLst/>
            <a:cxnLst/>
            <a:rect l="l" t="t" r="r" b="b"/>
            <a:pathLst>
              <a:path w="20" h="16">
                <a:moveTo>
                  <a:pt x="16" y="0"/>
                </a:moveTo>
                <a:lnTo>
                  <a:pt x="14" y="0"/>
                </a:lnTo>
                <a:lnTo>
                  <a:pt x="12" y="1"/>
                </a:lnTo>
                <a:lnTo>
                  <a:pt x="10" y="1"/>
                </a:lnTo>
                <a:lnTo>
                  <a:pt x="8" y="2"/>
                </a:lnTo>
                <a:lnTo>
                  <a:pt x="7" y="2"/>
                </a:lnTo>
                <a:lnTo>
                  <a:pt x="5" y="3"/>
                </a:lnTo>
                <a:lnTo>
                  <a:pt x="4" y="3"/>
                </a:lnTo>
                <a:lnTo>
                  <a:pt x="3" y="4"/>
                </a:lnTo>
                <a:lnTo>
                  <a:pt x="2" y="5"/>
                </a:lnTo>
                <a:lnTo>
                  <a:pt x="2" y="5"/>
                </a:lnTo>
                <a:lnTo>
                  <a:pt x="1" y="6"/>
                </a:lnTo>
                <a:lnTo>
                  <a:pt x="1" y="6"/>
                </a:lnTo>
                <a:lnTo>
                  <a:pt x="0" y="7"/>
                </a:lnTo>
                <a:lnTo>
                  <a:pt x="0" y="8"/>
                </a:lnTo>
                <a:lnTo>
                  <a:pt x="0" y="9"/>
                </a:lnTo>
                <a:lnTo>
                  <a:pt x="1" y="9"/>
                </a:lnTo>
                <a:lnTo>
                  <a:pt x="1" y="10"/>
                </a:lnTo>
                <a:lnTo>
                  <a:pt x="2" y="11"/>
                </a:lnTo>
                <a:lnTo>
                  <a:pt x="2" y="11"/>
                </a:lnTo>
                <a:lnTo>
                  <a:pt x="3" y="12"/>
                </a:lnTo>
                <a:lnTo>
                  <a:pt x="4" y="13"/>
                </a:lnTo>
                <a:lnTo>
                  <a:pt x="5" y="13"/>
                </a:lnTo>
                <a:lnTo>
                  <a:pt x="7" y="14"/>
                </a:lnTo>
                <a:lnTo>
                  <a:pt x="8" y="14"/>
                </a:lnTo>
                <a:lnTo>
                  <a:pt x="10" y="15"/>
                </a:lnTo>
                <a:lnTo>
                  <a:pt x="12" y="15"/>
                </a:lnTo>
                <a:lnTo>
                  <a:pt x="14" y="16"/>
                </a:lnTo>
                <a:lnTo>
                  <a:pt x="16" y="16"/>
                </a:lnTo>
                <a:lnTo>
                  <a:pt x="20" y="16"/>
                </a:lnTo>
                <a:lnTo>
                  <a:pt x="20" y="0"/>
                </a:lnTo>
                <a:close/>
              </a:path>
            </a:pathLst>
          </a:custGeom>
          <a:solidFill>
            <a:srgbClr val="B7C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传统-负极-不均匀膜-6"/>
          <p:cNvSpPr/>
          <p:nvPr/>
        </p:nvSpPr>
        <p:spPr>
          <a:xfrm>
            <a:off x="5270500" y="3397250"/>
            <a:ext cx="171450" cy="158750"/>
          </a:xfrm>
          <a:custGeom>
            <a:avLst/>
            <a:gdLst/>
            <a:ahLst/>
            <a:cxnLst/>
            <a:rect l="l" t="t" r="r" b="b"/>
            <a:pathLst>
              <a:path w="27" h="25">
                <a:moveTo>
                  <a:pt x="23" y="0"/>
                </a:moveTo>
                <a:lnTo>
                  <a:pt x="20" y="1"/>
                </a:lnTo>
                <a:lnTo>
                  <a:pt x="17" y="1"/>
                </a:lnTo>
                <a:lnTo>
                  <a:pt x="14" y="2"/>
                </a:lnTo>
                <a:lnTo>
                  <a:pt x="12" y="3"/>
                </a:lnTo>
                <a:lnTo>
                  <a:pt x="10" y="3"/>
                </a:lnTo>
                <a:lnTo>
                  <a:pt x="8" y="4"/>
                </a:lnTo>
                <a:lnTo>
                  <a:pt x="6" y="5"/>
                </a:lnTo>
                <a:lnTo>
                  <a:pt x="5" y="6"/>
                </a:lnTo>
                <a:lnTo>
                  <a:pt x="3" y="7"/>
                </a:lnTo>
                <a:lnTo>
                  <a:pt x="2" y="8"/>
                </a:lnTo>
                <a:lnTo>
                  <a:pt x="2" y="9"/>
                </a:lnTo>
                <a:lnTo>
                  <a:pt x="1" y="10"/>
                </a:lnTo>
                <a:lnTo>
                  <a:pt x="1" y="11"/>
                </a:lnTo>
                <a:lnTo>
                  <a:pt x="0" y="12"/>
                </a:lnTo>
                <a:lnTo>
                  <a:pt x="1" y="13"/>
                </a:lnTo>
                <a:lnTo>
                  <a:pt x="1" y="14"/>
                </a:lnTo>
                <a:lnTo>
                  <a:pt x="2" y="16"/>
                </a:lnTo>
                <a:lnTo>
                  <a:pt x="2" y="17"/>
                </a:lnTo>
                <a:lnTo>
                  <a:pt x="3" y="18"/>
                </a:lnTo>
                <a:lnTo>
                  <a:pt x="5" y="19"/>
                </a:lnTo>
                <a:lnTo>
                  <a:pt x="6" y="20"/>
                </a:lnTo>
                <a:lnTo>
                  <a:pt x="8" y="21"/>
                </a:lnTo>
                <a:lnTo>
                  <a:pt x="10" y="21"/>
                </a:lnTo>
                <a:lnTo>
                  <a:pt x="12" y="22"/>
                </a:lnTo>
                <a:lnTo>
                  <a:pt x="14" y="23"/>
                </a:lnTo>
                <a:lnTo>
                  <a:pt x="17" y="24"/>
                </a:lnTo>
                <a:lnTo>
                  <a:pt x="20" y="24"/>
                </a:lnTo>
                <a:lnTo>
                  <a:pt x="23" y="25"/>
                </a:lnTo>
                <a:lnTo>
                  <a:pt x="27" y="25"/>
                </a:lnTo>
                <a:lnTo>
                  <a:pt x="27" y="0"/>
                </a:lnTo>
                <a:close/>
              </a:path>
            </a:pathLst>
          </a:custGeom>
          <a:solidFill>
            <a:srgbClr val="A7C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传统-负极-不均匀膜-7"/>
          <p:cNvSpPr/>
          <p:nvPr/>
        </p:nvSpPr>
        <p:spPr>
          <a:xfrm>
            <a:off x="5219700" y="35814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35" h="40">
                <a:moveTo>
                  <a:pt x="31" y="0"/>
                </a:moveTo>
                <a:lnTo>
                  <a:pt x="27" y="1"/>
                </a:lnTo>
                <a:lnTo>
                  <a:pt x="23" y="2"/>
                </a:lnTo>
                <a:lnTo>
                  <a:pt x="19" y="3"/>
                </a:lnTo>
                <a:lnTo>
                  <a:pt x="16" y="4"/>
                </a:lnTo>
                <a:lnTo>
                  <a:pt x="13" y="5"/>
                </a:lnTo>
                <a:lnTo>
                  <a:pt x="10" y="7"/>
                </a:lnTo>
                <a:lnTo>
                  <a:pt x="8" y="8"/>
                </a:lnTo>
                <a:lnTo>
                  <a:pt x="6" y="10"/>
                </a:lnTo>
                <a:lnTo>
                  <a:pt x="4" y="11"/>
                </a:lnTo>
                <a:lnTo>
                  <a:pt x="3" y="13"/>
                </a:lnTo>
                <a:lnTo>
                  <a:pt x="2" y="15"/>
                </a:lnTo>
                <a:lnTo>
                  <a:pt x="1" y="16"/>
                </a:lnTo>
                <a:lnTo>
                  <a:pt x="0" y="18"/>
                </a:lnTo>
                <a:lnTo>
                  <a:pt x="0" y="20"/>
                </a:lnTo>
                <a:lnTo>
                  <a:pt x="0" y="21"/>
                </a:lnTo>
                <a:lnTo>
                  <a:pt x="1" y="23"/>
                </a:lnTo>
                <a:lnTo>
                  <a:pt x="2" y="25"/>
                </a:lnTo>
                <a:lnTo>
                  <a:pt x="3" y="27"/>
                </a:lnTo>
                <a:lnTo>
                  <a:pt x="4" y="28"/>
                </a:lnTo>
                <a:lnTo>
                  <a:pt x="6" y="30"/>
                </a:lnTo>
                <a:lnTo>
                  <a:pt x="8" y="31"/>
                </a:lnTo>
                <a:lnTo>
                  <a:pt x="10" y="33"/>
                </a:lnTo>
                <a:lnTo>
                  <a:pt x="13" y="34"/>
                </a:lnTo>
                <a:lnTo>
                  <a:pt x="16" y="36"/>
                </a:lnTo>
                <a:lnTo>
                  <a:pt x="19" y="37"/>
                </a:lnTo>
                <a:lnTo>
                  <a:pt x="23" y="38"/>
                </a:lnTo>
                <a:lnTo>
                  <a:pt x="27" y="39"/>
                </a:lnTo>
                <a:lnTo>
                  <a:pt x="31" y="40"/>
                </a:lnTo>
                <a:lnTo>
                  <a:pt x="35" y="40"/>
                </a:lnTo>
                <a:lnTo>
                  <a:pt x="35" y="0"/>
                </a:lnTo>
                <a:close/>
              </a:path>
            </a:pathLst>
          </a:custGeom>
          <a:solidFill>
            <a:srgbClr val="B7C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传统-负极-不均匀膜-8"/>
          <p:cNvSpPr/>
          <p:nvPr/>
        </p:nvSpPr>
        <p:spPr>
          <a:xfrm>
            <a:off x="5295900" y="3860800"/>
            <a:ext cx="146050" cy="133350"/>
          </a:xfrm>
          <a:custGeom>
            <a:avLst/>
            <a:gdLst/>
            <a:ahLst/>
            <a:cxnLst/>
            <a:rect l="l" t="t" r="r" b="b"/>
            <a:pathLst>
              <a:path w="23" h="21">
                <a:moveTo>
                  <a:pt x="19" y="0"/>
                </a:moveTo>
                <a:lnTo>
                  <a:pt x="16" y="0"/>
                </a:lnTo>
                <a:lnTo>
                  <a:pt x="14" y="1"/>
                </a:lnTo>
                <a:lnTo>
                  <a:pt x="12" y="2"/>
                </a:lnTo>
                <a:lnTo>
                  <a:pt x="10" y="2"/>
                </a:lnTo>
                <a:lnTo>
                  <a:pt x="8" y="3"/>
                </a:lnTo>
                <a:lnTo>
                  <a:pt x="6" y="4"/>
                </a:lnTo>
                <a:lnTo>
                  <a:pt x="5" y="4"/>
                </a:lnTo>
                <a:lnTo>
                  <a:pt x="4" y="5"/>
                </a:lnTo>
                <a:lnTo>
                  <a:pt x="3" y="6"/>
                </a:lnTo>
                <a:lnTo>
                  <a:pt x="2" y="7"/>
                </a:lnTo>
                <a:lnTo>
                  <a:pt x="1" y="8"/>
                </a:lnTo>
                <a:lnTo>
                  <a:pt x="1" y="9"/>
                </a:lnTo>
                <a:lnTo>
                  <a:pt x="0" y="9"/>
                </a:lnTo>
                <a:lnTo>
                  <a:pt x="0" y="10"/>
                </a:lnTo>
                <a:lnTo>
                  <a:pt x="0" y="11"/>
                </a:lnTo>
                <a:lnTo>
                  <a:pt x="1" y="12"/>
                </a:lnTo>
                <a:lnTo>
                  <a:pt x="1" y="13"/>
                </a:lnTo>
                <a:lnTo>
                  <a:pt x="2" y="14"/>
                </a:lnTo>
                <a:lnTo>
                  <a:pt x="3" y="15"/>
                </a:lnTo>
                <a:lnTo>
                  <a:pt x="4" y="16"/>
                </a:lnTo>
                <a:lnTo>
                  <a:pt x="5" y="16"/>
                </a:lnTo>
                <a:lnTo>
                  <a:pt x="6" y="17"/>
                </a:lnTo>
                <a:lnTo>
                  <a:pt x="8" y="18"/>
                </a:lnTo>
                <a:lnTo>
                  <a:pt x="10" y="19"/>
                </a:lnTo>
                <a:lnTo>
                  <a:pt x="12" y="19"/>
                </a:lnTo>
                <a:lnTo>
                  <a:pt x="14" y="20"/>
                </a:lnTo>
                <a:lnTo>
                  <a:pt x="16" y="21"/>
                </a:lnTo>
                <a:lnTo>
                  <a:pt x="19" y="21"/>
                </a:lnTo>
                <a:lnTo>
                  <a:pt x="23" y="21"/>
                </a:lnTo>
                <a:lnTo>
                  <a:pt x="23" y="0"/>
                </a:lnTo>
                <a:close/>
              </a:path>
            </a:pathLst>
          </a:custGeom>
          <a:solidFill>
            <a:srgbClr val="B7C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传统-负极-电极标签"/>
          <p:cNvSpPr txBox="1"/>
          <p:nvPr/>
        </p:nvSpPr>
        <p:spPr>
          <a:xfrm>
            <a:off x="5422900" y="4098290"/>
            <a:ext cx="342900" cy="2087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200">
                <a:solidFill>
                  <a:srgbClr val="68798D"/>
                </a:solidFill>
                <a:latin typeface="Microsoft YaHei"/>
                <a:ea typeface="Microsoft YaHei"/>
              </a:rPr>
              <a:t>负极</a:t>
            </a:r>
          </a:p>
        </p:txBody>
      </p:sp>
      <p:sp>
        <p:nvSpPr>
          <p:cNvPr id="50" name="设计-正极-电极主体"/>
          <p:cNvSpPr/>
          <p:nvPr/>
        </p:nvSpPr>
        <p:spPr>
          <a:xfrm>
            <a:off x="6540499" y="2286000"/>
            <a:ext cx="177800" cy="1733550"/>
          </a:xfrm>
          <a:prstGeom prst="roundRect">
            <a:avLst>
              <a:gd name="adj" fmla="val 10714"/>
            </a:avLst>
          </a:prstGeom>
          <a:solidFill>
            <a:srgbClr val="6E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设计-正极-电极高光"/>
          <p:cNvSpPr/>
          <p:nvPr/>
        </p:nvSpPr>
        <p:spPr>
          <a:xfrm>
            <a:off x="6553199" y="2298700"/>
            <a:ext cx="25400" cy="1708150"/>
          </a:xfrm>
          <a:prstGeom prst="roundRect">
            <a:avLst>
              <a:gd name="adj" fmla="val 50000"/>
            </a:avLst>
          </a:prstGeom>
          <a:solidFill>
            <a:srgbClr val="899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设计-正极-连续界面膜底层"/>
          <p:cNvSpPr/>
          <p:nvPr/>
        </p:nvSpPr>
        <p:spPr>
          <a:xfrm>
            <a:off x="6750049" y="2286000"/>
            <a:ext cx="152400" cy="1733550"/>
          </a:xfrm>
          <a:prstGeom prst="rect">
            <a:avLst/>
          </a:prstGeom>
          <a:solidFill>
            <a:srgbClr val="DAEEE8"/>
          </a:solidFill>
          <a:ln w="6350" cap="rnd">
            <a:solidFill>
              <a:srgbClr val="7DC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设计-正极-成膜组分-0-0"/>
          <p:cNvSpPr/>
          <p:nvPr/>
        </p:nvSpPr>
        <p:spPr>
          <a:xfrm>
            <a:off x="6756399" y="2292350"/>
            <a:ext cx="66675" cy="111125"/>
          </a:xfrm>
          <a:prstGeom prst="rect">
            <a:avLst/>
          </a:prstGeom>
          <a:solidFill>
            <a:srgbClr val="E9B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设计-正极-成膜组分-0-1"/>
          <p:cNvSpPr/>
          <p:nvPr/>
        </p:nvSpPr>
        <p:spPr>
          <a:xfrm>
            <a:off x="6832599" y="2292350"/>
            <a:ext cx="66675" cy="111125"/>
          </a:xfrm>
          <a:prstGeom prst="rect">
            <a:avLst/>
          </a:prstGeom>
          <a:solidFill>
            <a:srgbClr val="D8D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设计-正极-成膜组分-1-0"/>
          <p:cNvSpPr/>
          <p:nvPr/>
        </p:nvSpPr>
        <p:spPr>
          <a:xfrm>
            <a:off x="6756399" y="2416175"/>
            <a:ext cx="66675" cy="111125"/>
          </a:xfrm>
          <a:prstGeom prst="rect">
            <a:avLst/>
          </a:prstGeom>
          <a:solidFill>
            <a:srgbClr val="7DC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设计-正极-成膜组分-1-1"/>
          <p:cNvSpPr/>
          <p:nvPr/>
        </p:nvSpPr>
        <p:spPr>
          <a:xfrm>
            <a:off x="6832599" y="2416175"/>
            <a:ext cx="66675" cy="111125"/>
          </a:xfrm>
          <a:prstGeom prst="rect">
            <a:avLst/>
          </a:prstGeom>
          <a:solidFill>
            <a:srgbClr val="7DC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设计-正极-成膜组分-2-0"/>
          <p:cNvSpPr/>
          <p:nvPr/>
        </p:nvSpPr>
        <p:spPr>
          <a:xfrm>
            <a:off x="6756399" y="2540000"/>
            <a:ext cx="66675" cy="111125"/>
          </a:xfrm>
          <a:prstGeom prst="rect">
            <a:avLst/>
          </a:prstGeom>
          <a:solidFill>
            <a:srgbClr val="D8D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设计-正极-成膜组分-2-1"/>
          <p:cNvSpPr/>
          <p:nvPr/>
        </p:nvSpPr>
        <p:spPr>
          <a:xfrm>
            <a:off x="6832599" y="2540000"/>
            <a:ext cx="66675" cy="111125"/>
          </a:xfrm>
          <a:prstGeom prst="rect">
            <a:avLst/>
          </a:prstGeom>
          <a:solidFill>
            <a:srgbClr val="E9B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设计-正极-成膜组分-3-0"/>
          <p:cNvSpPr/>
          <p:nvPr/>
        </p:nvSpPr>
        <p:spPr>
          <a:xfrm>
            <a:off x="6756399" y="2663825"/>
            <a:ext cx="66675" cy="111125"/>
          </a:xfrm>
          <a:prstGeom prst="rect">
            <a:avLst/>
          </a:prstGeom>
          <a:solidFill>
            <a:srgbClr val="7DC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设计-正极-成膜组分-3-1"/>
          <p:cNvSpPr/>
          <p:nvPr/>
        </p:nvSpPr>
        <p:spPr>
          <a:xfrm>
            <a:off x="6832599" y="2663825"/>
            <a:ext cx="66675" cy="111125"/>
          </a:xfrm>
          <a:prstGeom prst="rect">
            <a:avLst/>
          </a:prstGeom>
          <a:solidFill>
            <a:srgbClr val="B0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设计-正极-成膜组分-4-0"/>
          <p:cNvSpPr/>
          <p:nvPr/>
        </p:nvSpPr>
        <p:spPr>
          <a:xfrm>
            <a:off x="6756399" y="2787650"/>
            <a:ext cx="66675" cy="111125"/>
          </a:xfrm>
          <a:prstGeom prst="rect">
            <a:avLst/>
          </a:prstGeom>
          <a:solidFill>
            <a:srgbClr val="E9B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设计-正极-成膜组分-4-1"/>
          <p:cNvSpPr/>
          <p:nvPr/>
        </p:nvSpPr>
        <p:spPr>
          <a:xfrm>
            <a:off x="6832599" y="2787650"/>
            <a:ext cx="66675" cy="111125"/>
          </a:xfrm>
          <a:prstGeom prst="rect">
            <a:avLst/>
          </a:prstGeom>
          <a:solidFill>
            <a:srgbClr val="E9B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设计-正极-成膜组分-5-0"/>
          <p:cNvSpPr/>
          <p:nvPr/>
        </p:nvSpPr>
        <p:spPr>
          <a:xfrm>
            <a:off x="6756399" y="2911475"/>
            <a:ext cx="66675" cy="111125"/>
          </a:xfrm>
          <a:prstGeom prst="rect">
            <a:avLst/>
          </a:prstGeom>
          <a:solidFill>
            <a:srgbClr val="B0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设计-正极-成膜组分-5-1"/>
          <p:cNvSpPr/>
          <p:nvPr/>
        </p:nvSpPr>
        <p:spPr>
          <a:xfrm>
            <a:off x="6832599" y="2911475"/>
            <a:ext cx="66675" cy="111125"/>
          </a:xfrm>
          <a:prstGeom prst="rect">
            <a:avLst/>
          </a:prstGeom>
          <a:solidFill>
            <a:srgbClr val="7DC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设计-正极-成膜组分-6-0"/>
          <p:cNvSpPr/>
          <p:nvPr/>
        </p:nvSpPr>
        <p:spPr>
          <a:xfrm>
            <a:off x="6756399" y="3035300"/>
            <a:ext cx="66675" cy="111125"/>
          </a:xfrm>
          <a:prstGeom prst="rect">
            <a:avLst/>
          </a:prstGeom>
          <a:solidFill>
            <a:srgbClr val="E9B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设计-正极-成膜组分-6-1"/>
          <p:cNvSpPr/>
          <p:nvPr/>
        </p:nvSpPr>
        <p:spPr>
          <a:xfrm>
            <a:off x="6832599" y="3035300"/>
            <a:ext cx="66675" cy="111125"/>
          </a:xfrm>
          <a:prstGeom prst="rect">
            <a:avLst/>
          </a:prstGeom>
          <a:solidFill>
            <a:srgbClr val="D8D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设计-正极-成膜组分-7-0"/>
          <p:cNvSpPr/>
          <p:nvPr/>
        </p:nvSpPr>
        <p:spPr>
          <a:xfrm>
            <a:off x="6756399" y="3159125"/>
            <a:ext cx="66675" cy="111125"/>
          </a:xfrm>
          <a:prstGeom prst="rect">
            <a:avLst/>
          </a:prstGeom>
          <a:solidFill>
            <a:srgbClr val="7DC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设计-正极-成膜组分-7-1"/>
          <p:cNvSpPr/>
          <p:nvPr/>
        </p:nvSpPr>
        <p:spPr>
          <a:xfrm>
            <a:off x="6832599" y="3159125"/>
            <a:ext cx="66675" cy="111125"/>
          </a:xfrm>
          <a:prstGeom prst="rect">
            <a:avLst/>
          </a:prstGeom>
          <a:solidFill>
            <a:srgbClr val="7DC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设计-正极-成膜组分-8-0"/>
          <p:cNvSpPr/>
          <p:nvPr/>
        </p:nvSpPr>
        <p:spPr>
          <a:xfrm>
            <a:off x="6756399" y="3282950"/>
            <a:ext cx="66675" cy="111125"/>
          </a:xfrm>
          <a:prstGeom prst="rect">
            <a:avLst/>
          </a:prstGeom>
          <a:solidFill>
            <a:srgbClr val="D8D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设计-正极-成膜组分-8-1"/>
          <p:cNvSpPr/>
          <p:nvPr/>
        </p:nvSpPr>
        <p:spPr>
          <a:xfrm>
            <a:off x="6832599" y="3282950"/>
            <a:ext cx="66675" cy="111125"/>
          </a:xfrm>
          <a:prstGeom prst="rect">
            <a:avLst/>
          </a:prstGeom>
          <a:solidFill>
            <a:srgbClr val="E9B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设计-正极-成膜组分-9-0"/>
          <p:cNvSpPr/>
          <p:nvPr/>
        </p:nvSpPr>
        <p:spPr>
          <a:xfrm>
            <a:off x="6756399" y="3406775"/>
            <a:ext cx="66675" cy="111125"/>
          </a:xfrm>
          <a:prstGeom prst="rect">
            <a:avLst/>
          </a:prstGeom>
          <a:solidFill>
            <a:srgbClr val="7DC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设计-正极-成膜组分-9-1"/>
          <p:cNvSpPr/>
          <p:nvPr/>
        </p:nvSpPr>
        <p:spPr>
          <a:xfrm>
            <a:off x="6832599" y="3406775"/>
            <a:ext cx="66675" cy="111125"/>
          </a:xfrm>
          <a:prstGeom prst="rect">
            <a:avLst/>
          </a:prstGeom>
          <a:solidFill>
            <a:srgbClr val="B0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设计-正极-成膜组分-10-0"/>
          <p:cNvSpPr/>
          <p:nvPr/>
        </p:nvSpPr>
        <p:spPr>
          <a:xfrm>
            <a:off x="6756399" y="3530600"/>
            <a:ext cx="66675" cy="111125"/>
          </a:xfrm>
          <a:prstGeom prst="rect">
            <a:avLst/>
          </a:prstGeom>
          <a:solidFill>
            <a:srgbClr val="E9B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设计-正极-成膜组分-10-1"/>
          <p:cNvSpPr/>
          <p:nvPr/>
        </p:nvSpPr>
        <p:spPr>
          <a:xfrm>
            <a:off x="6832599" y="3530600"/>
            <a:ext cx="66675" cy="111125"/>
          </a:xfrm>
          <a:prstGeom prst="rect">
            <a:avLst/>
          </a:prstGeom>
          <a:solidFill>
            <a:srgbClr val="E9B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设计-正极-成膜组分-11-0"/>
          <p:cNvSpPr/>
          <p:nvPr/>
        </p:nvSpPr>
        <p:spPr>
          <a:xfrm>
            <a:off x="6756399" y="3654425"/>
            <a:ext cx="66675" cy="111125"/>
          </a:xfrm>
          <a:prstGeom prst="rect">
            <a:avLst/>
          </a:prstGeom>
          <a:solidFill>
            <a:srgbClr val="B0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设计-正极-成膜组分-11-1"/>
          <p:cNvSpPr/>
          <p:nvPr/>
        </p:nvSpPr>
        <p:spPr>
          <a:xfrm>
            <a:off x="6832599" y="3654425"/>
            <a:ext cx="66675" cy="111125"/>
          </a:xfrm>
          <a:prstGeom prst="rect">
            <a:avLst/>
          </a:prstGeom>
          <a:solidFill>
            <a:srgbClr val="7DC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设计-正极-成膜组分-12-0"/>
          <p:cNvSpPr/>
          <p:nvPr/>
        </p:nvSpPr>
        <p:spPr>
          <a:xfrm>
            <a:off x="6756399" y="3778250"/>
            <a:ext cx="66675" cy="111125"/>
          </a:xfrm>
          <a:prstGeom prst="rect">
            <a:avLst/>
          </a:prstGeom>
          <a:solidFill>
            <a:srgbClr val="E9B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设计-正极-成膜组分-12-1"/>
          <p:cNvSpPr/>
          <p:nvPr/>
        </p:nvSpPr>
        <p:spPr>
          <a:xfrm>
            <a:off x="6832599" y="3778250"/>
            <a:ext cx="66675" cy="111125"/>
          </a:xfrm>
          <a:prstGeom prst="rect">
            <a:avLst/>
          </a:prstGeom>
          <a:solidFill>
            <a:srgbClr val="D8D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设计-正极-成膜组分-13-0"/>
          <p:cNvSpPr/>
          <p:nvPr/>
        </p:nvSpPr>
        <p:spPr>
          <a:xfrm>
            <a:off x="6756399" y="3902075"/>
            <a:ext cx="66675" cy="111125"/>
          </a:xfrm>
          <a:prstGeom prst="rect">
            <a:avLst/>
          </a:prstGeom>
          <a:solidFill>
            <a:srgbClr val="7DC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设计-正极-成膜组分-13-1"/>
          <p:cNvSpPr/>
          <p:nvPr/>
        </p:nvSpPr>
        <p:spPr>
          <a:xfrm>
            <a:off x="6832599" y="3902075"/>
            <a:ext cx="66675" cy="111125"/>
          </a:xfrm>
          <a:prstGeom prst="rect">
            <a:avLst/>
          </a:prstGeom>
          <a:solidFill>
            <a:srgbClr val="7DC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设计-正极-均匀界面边界"/>
          <p:cNvCxnSpPr/>
          <p:nvPr/>
        </p:nvCxnSpPr>
        <p:spPr>
          <a:xfrm>
            <a:off x="6915149" y="2286000"/>
            <a:ext cx="0" cy="1733550"/>
          </a:xfrm>
          <a:prstGeom prst="line">
            <a:avLst/>
          </a:prstGeom>
          <a:ln w="15875" cap="rnd">
            <a:solidFill>
              <a:srgbClr val="148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设计-正极-电极标签"/>
          <p:cNvSpPr txBox="1"/>
          <p:nvPr/>
        </p:nvSpPr>
        <p:spPr>
          <a:xfrm>
            <a:off x="6470649" y="4098290"/>
            <a:ext cx="342900" cy="2087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200">
                <a:solidFill>
                  <a:srgbClr val="68798D"/>
                </a:solidFill>
                <a:latin typeface="Microsoft YaHei"/>
                <a:ea typeface="Microsoft YaHei"/>
              </a:rPr>
              <a:t>正极</a:t>
            </a:r>
          </a:p>
        </p:txBody>
      </p:sp>
      <p:sp>
        <p:nvSpPr>
          <p:cNvPr id="83" name="设计-负极-电极主体"/>
          <p:cNvSpPr/>
          <p:nvPr/>
        </p:nvSpPr>
        <p:spPr>
          <a:xfrm>
            <a:off x="11493499" y="2286000"/>
            <a:ext cx="177800" cy="1733550"/>
          </a:xfrm>
          <a:prstGeom prst="roundRect">
            <a:avLst>
              <a:gd name="adj" fmla="val 10714"/>
            </a:avLst>
          </a:prstGeom>
          <a:solidFill>
            <a:srgbClr val="C6A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设计-负极-电极高光"/>
          <p:cNvSpPr/>
          <p:nvPr/>
        </p:nvSpPr>
        <p:spPr>
          <a:xfrm>
            <a:off x="11506199" y="2298700"/>
            <a:ext cx="25400" cy="1708150"/>
          </a:xfrm>
          <a:prstGeom prst="roundRect">
            <a:avLst>
              <a:gd name="adj" fmla="val 50000"/>
            </a:avLst>
          </a:prstGeom>
          <a:solidFill>
            <a:srgbClr val="D5C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设计-负极-连续界面膜底层"/>
          <p:cNvSpPr/>
          <p:nvPr/>
        </p:nvSpPr>
        <p:spPr>
          <a:xfrm>
            <a:off x="11309349" y="2286000"/>
            <a:ext cx="152400" cy="1733550"/>
          </a:xfrm>
          <a:prstGeom prst="rect">
            <a:avLst/>
          </a:prstGeom>
          <a:solidFill>
            <a:srgbClr val="DAEEE8"/>
          </a:solidFill>
          <a:ln w="6350" cap="rnd">
            <a:solidFill>
              <a:srgbClr val="7DC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设计-负极-成膜组分-0-0"/>
          <p:cNvSpPr/>
          <p:nvPr/>
        </p:nvSpPr>
        <p:spPr>
          <a:xfrm>
            <a:off x="11315699" y="2292350"/>
            <a:ext cx="66675" cy="111125"/>
          </a:xfrm>
          <a:prstGeom prst="rect">
            <a:avLst/>
          </a:prstGeom>
          <a:solidFill>
            <a:srgbClr val="E9B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设计-负极-成膜组分-0-1"/>
          <p:cNvSpPr/>
          <p:nvPr/>
        </p:nvSpPr>
        <p:spPr>
          <a:xfrm>
            <a:off x="11391899" y="2292350"/>
            <a:ext cx="66675" cy="111125"/>
          </a:xfrm>
          <a:prstGeom prst="rect">
            <a:avLst/>
          </a:prstGeom>
          <a:solidFill>
            <a:srgbClr val="D8D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设计-负极-成膜组分-1-0"/>
          <p:cNvSpPr/>
          <p:nvPr/>
        </p:nvSpPr>
        <p:spPr>
          <a:xfrm>
            <a:off x="11315699" y="2416175"/>
            <a:ext cx="66675" cy="111125"/>
          </a:xfrm>
          <a:prstGeom prst="rect">
            <a:avLst/>
          </a:prstGeom>
          <a:solidFill>
            <a:srgbClr val="7DC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设计-负极-成膜组分-1-1"/>
          <p:cNvSpPr/>
          <p:nvPr/>
        </p:nvSpPr>
        <p:spPr>
          <a:xfrm>
            <a:off x="11391899" y="2416175"/>
            <a:ext cx="66675" cy="111125"/>
          </a:xfrm>
          <a:prstGeom prst="rect">
            <a:avLst/>
          </a:prstGeom>
          <a:solidFill>
            <a:srgbClr val="7DC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设计-负极-成膜组分-2-0"/>
          <p:cNvSpPr/>
          <p:nvPr/>
        </p:nvSpPr>
        <p:spPr>
          <a:xfrm>
            <a:off x="11315699" y="2540000"/>
            <a:ext cx="66675" cy="111125"/>
          </a:xfrm>
          <a:prstGeom prst="rect">
            <a:avLst/>
          </a:prstGeom>
          <a:solidFill>
            <a:srgbClr val="D8D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设计-负极-成膜组分-2-1"/>
          <p:cNvSpPr/>
          <p:nvPr/>
        </p:nvSpPr>
        <p:spPr>
          <a:xfrm>
            <a:off x="11391899" y="2540000"/>
            <a:ext cx="66675" cy="111125"/>
          </a:xfrm>
          <a:prstGeom prst="rect">
            <a:avLst/>
          </a:prstGeom>
          <a:solidFill>
            <a:srgbClr val="E9B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设计-负极-成膜组分-3-0"/>
          <p:cNvSpPr/>
          <p:nvPr/>
        </p:nvSpPr>
        <p:spPr>
          <a:xfrm>
            <a:off x="11315699" y="2663825"/>
            <a:ext cx="66675" cy="111125"/>
          </a:xfrm>
          <a:prstGeom prst="rect">
            <a:avLst/>
          </a:prstGeom>
          <a:solidFill>
            <a:srgbClr val="7DC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设计-负极-成膜组分-3-1"/>
          <p:cNvSpPr/>
          <p:nvPr/>
        </p:nvSpPr>
        <p:spPr>
          <a:xfrm>
            <a:off x="11391899" y="2663825"/>
            <a:ext cx="66675" cy="111125"/>
          </a:xfrm>
          <a:prstGeom prst="rect">
            <a:avLst/>
          </a:prstGeom>
          <a:solidFill>
            <a:srgbClr val="B0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设计-负极-成膜组分-4-0"/>
          <p:cNvSpPr/>
          <p:nvPr/>
        </p:nvSpPr>
        <p:spPr>
          <a:xfrm>
            <a:off x="11315699" y="2787650"/>
            <a:ext cx="66675" cy="111125"/>
          </a:xfrm>
          <a:prstGeom prst="rect">
            <a:avLst/>
          </a:prstGeom>
          <a:solidFill>
            <a:srgbClr val="E9B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设计-负极-成膜组分-4-1"/>
          <p:cNvSpPr/>
          <p:nvPr/>
        </p:nvSpPr>
        <p:spPr>
          <a:xfrm>
            <a:off x="11391899" y="2787650"/>
            <a:ext cx="66675" cy="111125"/>
          </a:xfrm>
          <a:prstGeom prst="rect">
            <a:avLst/>
          </a:prstGeom>
          <a:solidFill>
            <a:srgbClr val="E9B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设计-负极-成膜组分-5-0"/>
          <p:cNvSpPr/>
          <p:nvPr/>
        </p:nvSpPr>
        <p:spPr>
          <a:xfrm>
            <a:off x="11315699" y="2911475"/>
            <a:ext cx="66675" cy="111125"/>
          </a:xfrm>
          <a:prstGeom prst="rect">
            <a:avLst/>
          </a:prstGeom>
          <a:solidFill>
            <a:srgbClr val="B0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设计-负极-成膜组分-5-1"/>
          <p:cNvSpPr/>
          <p:nvPr/>
        </p:nvSpPr>
        <p:spPr>
          <a:xfrm>
            <a:off x="11391899" y="2911475"/>
            <a:ext cx="66675" cy="111125"/>
          </a:xfrm>
          <a:prstGeom prst="rect">
            <a:avLst/>
          </a:prstGeom>
          <a:solidFill>
            <a:srgbClr val="7DC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设计-负极-成膜组分-6-0"/>
          <p:cNvSpPr/>
          <p:nvPr/>
        </p:nvSpPr>
        <p:spPr>
          <a:xfrm>
            <a:off x="11315699" y="3035300"/>
            <a:ext cx="66675" cy="111125"/>
          </a:xfrm>
          <a:prstGeom prst="rect">
            <a:avLst/>
          </a:prstGeom>
          <a:solidFill>
            <a:srgbClr val="E9B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设计-负极-成膜组分-6-1"/>
          <p:cNvSpPr/>
          <p:nvPr/>
        </p:nvSpPr>
        <p:spPr>
          <a:xfrm>
            <a:off x="11391899" y="3035300"/>
            <a:ext cx="66675" cy="111125"/>
          </a:xfrm>
          <a:prstGeom prst="rect">
            <a:avLst/>
          </a:prstGeom>
          <a:solidFill>
            <a:srgbClr val="D8D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设计-负极-成膜组分-7-0"/>
          <p:cNvSpPr/>
          <p:nvPr/>
        </p:nvSpPr>
        <p:spPr>
          <a:xfrm>
            <a:off x="11315699" y="3159125"/>
            <a:ext cx="66675" cy="111125"/>
          </a:xfrm>
          <a:prstGeom prst="rect">
            <a:avLst/>
          </a:prstGeom>
          <a:solidFill>
            <a:srgbClr val="7DC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设计-负极-成膜组分-7-1"/>
          <p:cNvSpPr/>
          <p:nvPr/>
        </p:nvSpPr>
        <p:spPr>
          <a:xfrm>
            <a:off x="11391899" y="3159125"/>
            <a:ext cx="66675" cy="111125"/>
          </a:xfrm>
          <a:prstGeom prst="rect">
            <a:avLst/>
          </a:prstGeom>
          <a:solidFill>
            <a:srgbClr val="7DC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设计-负极-成膜组分-8-0"/>
          <p:cNvSpPr/>
          <p:nvPr/>
        </p:nvSpPr>
        <p:spPr>
          <a:xfrm>
            <a:off x="11315699" y="3282950"/>
            <a:ext cx="66675" cy="111125"/>
          </a:xfrm>
          <a:prstGeom prst="rect">
            <a:avLst/>
          </a:prstGeom>
          <a:solidFill>
            <a:srgbClr val="D8D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设计-负极-成膜组分-8-1"/>
          <p:cNvSpPr/>
          <p:nvPr/>
        </p:nvSpPr>
        <p:spPr>
          <a:xfrm>
            <a:off x="11391899" y="3282950"/>
            <a:ext cx="66675" cy="111125"/>
          </a:xfrm>
          <a:prstGeom prst="rect">
            <a:avLst/>
          </a:prstGeom>
          <a:solidFill>
            <a:srgbClr val="E9B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设计-负极-成膜组分-9-0"/>
          <p:cNvSpPr/>
          <p:nvPr/>
        </p:nvSpPr>
        <p:spPr>
          <a:xfrm>
            <a:off x="11315699" y="3406775"/>
            <a:ext cx="66675" cy="111125"/>
          </a:xfrm>
          <a:prstGeom prst="rect">
            <a:avLst/>
          </a:prstGeom>
          <a:solidFill>
            <a:srgbClr val="7DC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设计-负极-成膜组分-9-1"/>
          <p:cNvSpPr/>
          <p:nvPr/>
        </p:nvSpPr>
        <p:spPr>
          <a:xfrm>
            <a:off x="11391899" y="3406775"/>
            <a:ext cx="66675" cy="111125"/>
          </a:xfrm>
          <a:prstGeom prst="rect">
            <a:avLst/>
          </a:prstGeom>
          <a:solidFill>
            <a:srgbClr val="B0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设计-负极-成膜组分-10-0"/>
          <p:cNvSpPr/>
          <p:nvPr/>
        </p:nvSpPr>
        <p:spPr>
          <a:xfrm>
            <a:off x="11315699" y="3530600"/>
            <a:ext cx="66675" cy="111125"/>
          </a:xfrm>
          <a:prstGeom prst="rect">
            <a:avLst/>
          </a:prstGeom>
          <a:solidFill>
            <a:srgbClr val="E9B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设计-负极-成膜组分-10-1"/>
          <p:cNvSpPr/>
          <p:nvPr/>
        </p:nvSpPr>
        <p:spPr>
          <a:xfrm>
            <a:off x="11391899" y="3530600"/>
            <a:ext cx="66675" cy="111125"/>
          </a:xfrm>
          <a:prstGeom prst="rect">
            <a:avLst/>
          </a:prstGeom>
          <a:solidFill>
            <a:srgbClr val="E9B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设计-负极-成膜组分-11-0"/>
          <p:cNvSpPr/>
          <p:nvPr/>
        </p:nvSpPr>
        <p:spPr>
          <a:xfrm>
            <a:off x="11315699" y="3654425"/>
            <a:ext cx="66675" cy="111125"/>
          </a:xfrm>
          <a:prstGeom prst="rect">
            <a:avLst/>
          </a:prstGeom>
          <a:solidFill>
            <a:srgbClr val="B0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设计-负极-成膜组分-11-1"/>
          <p:cNvSpPr/>
          <p:nvPr/>
        </p:nvSpPr>
        <p:spPr>
          <a:xfrm>
            <a:off x="11391899" y="3654425"/>
            <a:ext cx="66675" cy="111125"/>
          </a:xfrm>
          <a:prstGeom prst="rect">
            <a:avLst/>
          </a:prstGeom>
          <a:solidFill>
            <a:srgbClr val="7DC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设计-负极-成膜组分-12-0"/>
          <p:cNvSpPr/>
          <p:nvPr/>
        </p:nvSpPr>
        <p:spPr>
          <a:xfrm>
            <a:off x="11315699" y="3778250"/>
            <a:ext cx="66675" cy="111125"/>
          </a:xfrm>
          <a:prstGeom prst="rect">
            <a:avLst/>
          </a:prstGeom>
          <a:solidFill>
            <a:srgbClr val="E9B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设计-负极-成膜组分-12-1"/>
          <p:cNvSpPr/>
          <p:nvPr/>
        </p:nvSpPr>
        <p:spPr>
          <a:xfrm>
            <a:off x="11391899" y="3778250"/>
            <a:ext cx="66675" cy="111125"/>
          </a:xfrm>
          <a:prstGeom prst="rect">
            <a:avLst/>
          </a:prstGeom>
          <a:solidFill>
            <a:srgbClr val="D8D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设计-负极-成膜组分-13-0"/>
          <p:cNvSpPr/>
          <p:nvPr/>
        </p:nvSpPr>
        <p:spPr>
          <a:xfrm>
            <a:off x="11315699" y="3902075"/>
            <a:ext cx="66675" cy="111125"/>
          </a:xfrm>
          <a:prstGeom prst="rect">
            <a:avLst/>
          </a:prstGeom>
          <a:solidFill>
            <a:srgbClr val="7DC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设计-负极-成膜组分-13-1"/>
          <p:cNvSpPr/>
          <p:nvPr/>
        </p:nvSpPr>
        <p:spPr>
          <a:xfrm>
            <a:off x="11391899" y="3902075"/>
            <a:ext cx="66675" cy="111125"/>
          </a:xfrm>
          <a:prstGeom prst="rect">
            <a:avLst/>
          </a:prstGeom>
          <a:solidFill>
            <a:srgbClr val="7DC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4" name="设计-负极-均匀界面边界"/>
          <p:cNvCxnSpPr/>
          <p:nvPr/>
        </p:nvCxnSpPr>
        <p:spPr>
          <a:xfrm>
            <a:off x="11296649" y="2286000"/>
            <a:ext cx="0" cy="1733550"/>
          </a:xfrm>
          <a:prstGeom prst="line">
            <a:avLst/>
          </a:prstGeom>
          <a:ln w="15875" cap="rnd">
            <a:solidFill>
              <a:srgbClr val="148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设计-负极-电极标签"/>
          <p:cNvSpPr txBox="1"/>
          <p:nvPr/>
        </p:nvSpPr>
        <p:spPr>
          <a:xfrm>
            <a:off x="11423649" y="4098290"/>
            <a:ext cx="342900" cy="2087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200">
                <a:solidFill>
                  <a:srgbClr val="68798D"/>
                </a:solidFill>
                <a:latin typeface="Microsoft YaHei"/>
                <a:ea typeface="Microsoft YaHei"/>
              </a:rPr>
              <a:t>负极</a:t>
            </a:r>
          </a:p>
        </p:txBody>
      </p:sp>
      <p:sp>
        <p:nvSpPr>
          <p:cNvPr id="116" name="传统正极界面标签"/>
          <p:cNvSpPr txBox="1"/>
          <p:nvPr/>
        </p:nvSpPr>
        <p:spPr>
          <a:xfrm>
            <a:off x="827881" y="2015807"/>
            <a:ext cx="757237" cy="1913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100">
                <a:solidFill>
                  <a:srgbClr val="497FB5"/>
                </a:solidFill>
                <a:latin typeface="Microsoft YaHei"/>
                <a:ea typeface="Microsoft YaHei"/>
              </a:rPr>
              <a:t>不均匀</a:t>
            </a:r>
            <a:r>
              <a:rPr b="1" sz="1100">
                <a:solidFill>
                  <a:srgbClr val="497FB5"/>
                </a:solidFill>
                <a:latin typeface="Arial"/>
              </a:rPr>
              <a:t> CEI</a:t>
            </a:r>
          </a:p>
        </p:txBody>
      </p:sp>
      <p:sp>
        <p:nvSpPr>
          <p:cNvPr id="117" name="传统负极界面标签"/>
          <p:cNvSpPr txBox="1"/>
          <p:nvPr/>
        </p:nvSpPr>
        <p:spPr>
          <a:xfrm>
            <a:off x="4671218" y="2015807"/>
            <a:ext cx="754062" cy="1913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100">
                <a:solidFill>
                  <a:srgbClr val="497FB5"/>
                </a:solidFill>
                <a:latin typeface="Microsoft YaHei"/>
                <a:ea typeface="Microsoft YaHei"/>
              </a:rPr>
              <a:t>不均匀</a:t>
            </a:r>
            <a:r>
              <a:rPr b="1" sz="1100">
                <a:solidFill>
                  <a:srgbClr val="497FB5"/>
                </a:solidFill>
                <a:latin typeface="Arial"/>
              </a:rPr>
              <a:t> SEI</a:t>
            </a:r>
          </a:p>
        </p:txBody>
      </p:sp>
      <p:sp>
        <p:nvSpPr>
          <p:cNvPr id="118" name="预期CEI组分"/>
          <p:cNvSpPr txBox="1"/>
          <p:nvPr/>
        </p:nvSpPr>
        <p:spPr>
          <a:xfrm>
            <a:off x="6807993" y="2015807"/>
            <a:ext cx="1014412" cy="1913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100">
                <a:solidFill>
                  <a:srgbClr val="087469"/>
                </a:solidFill>
                <a:latin typeface="Arial"/>
              </a:rPr>
              <a:t>LiF / B–O CEI</a:t>
            </a:r>
          </a:p>
        </p:txBody>
      </p:sp>
      <p:sp>
        <p:nvSpPr>
          <p:cNvPr id="119" name="预期SEI组分"/>
          <p:cNvSpPr txBox="1"/>
          <p:nvPr/>
        </p:nvSpPr>
        <p:spPr>
          <a:xfrm>
            <a:off x="10549730" y="2015807"/>
            <a:ext cx="1011237" cy="1913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100">
                <a:solidFill>
                  <a:srgbClr val="087469"/>
                </a:solidFill>
                <a:latin typeface="Arial"/>
              </a:rPr>
              <a:t>LiF / B–O SEI</a:t>
            </a:r>
          </a:p>
        </p:txBody>
      </p:sp>
      <p:sp>
        <p:nvSpPr>
          <p:cNvPr id="120" name="ellipse-118"/>
          <p:cNvSpPr/>
          <p:nvPr/>
        </p:nvSpPr>
        <p:spPr>
          <a:xfrm>
            <a:off x="1917700" y="1911350"/>
            <a:ext cx="2349500" cy="2349500"/>
          </a:xfrm>
          <a:prstGeom prst="ellipse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ellipse-119"/>
          <p:cNvSpPr/>
          <p:nvPr/>
        </p:nvSpPr>
        <p:spPr>
          <a:xfrm>
            <a:off x="1938020" y="1931670"/>
            <a:ext cx="2308860" cy="2308860"/>
          </a:xfrm>
          <a:prstGeom prst="ellipse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ellipse-120"/>
          <p:cNvSpPr/>
          <p:nvPr/>
        </p:nvSpPr>
        <p:spPr>
          <a:xfrm>
            <a:off x="1958340" y="1951990"/>
            <a:ext cx="2268220" cy="2268220"/>
          </a:xfrm>
          <a:prstGeom prst="ellipse">
            <a:avLst/>
          </a:prstGeom>
          <a:solidFill>
            <a:srgbClr val="ED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ellipse-121"/>
          <p:cNvSpPr/>
          <p:nvPr/>
        </p:nvSpPr>
        <p:spPr>
          <a:xfrm>
            <a:off x="1978660" y="1972310"/>
            <a:ext cx="2227580" cy="2227580"/>
          </a:xfrm>
          <a:prstGeom prst="ellipse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ellipse-122"/>
          <p:cNvSpPr/>
          <p:nvPr/>
        </p:nvSpPr>
        <p:spPr>
          <a:xfrm>
            <a:off x="1998980" y="1992630"/>
            <a:ext cx="2186940" cy="2186940"/>
          </a:xfrm>
          <a:prstGeom prst="ellipse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ellipse-123"/>
          <p:cNvSpPr/>
          <p:nvPr/>
        </p:nvSpPr>
        <p:spPr>
          <a:xfrm>
            <a:off x="2019300" y="2012950"/>
            <a:ext cx="2146300" cy="2146300"/>
          </a:xfrm>
          <a:prstGeom prst="ellipse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ellipse-124"/>
          <p:cNvSpPr/>
          <p:nvPr/>
        </p:nvSpPr>
        <p:spPr>
          <a:xfrm>
            <a:off x="7950199" y="1911350"/>
            <a:ext cx="2349500" cy="2349500"/>
          </a:xfrm>
          <a:prstGeom prst="ellipse">
            <a:avLst/>
          </a:prstGeom>
          <a:solidFill>
            <a:srgbClr val="F9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ellipse-125"/>
          <p:cNvSpPr/>
          <p:nvPr/>
        </p:nvSpPr>
        <p:spPr>
          <a:xfrm>
            <a:off x="7970519" y="1931670"/>
            <a:ext cx="2308860" cy="2308860"/>
          </a:xfrm>
          <a:prstGeom prst="ellipse">
            <a:avLst/>
          </a:prstGeom>
          <a:solidFill>
            <a:srgbClr val="F9E9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ellipse-126"/>
          <p:cNvSpPr/>
          <p:nvPr/>
        </p:nvSpPr>
        <p:spPr>
          <a:xfrm>
            <a:off x="7990839" y="1951990"/>
            <a:ext cx="2268220" cy="2268220"/>
          </a:xfrm>
          <a:prstGeom prst="ellipse">
            <a:avLst/>
          </a:prstGeom>
          <a:solidFill>
            <a:srgbClr val="FB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ellipse-127"/>
          <p:cNvSpPr/>
          <p:nvPr/>
        </p:nvSpPr>
        <p:spPr>
          <a:xfrm>
            <a:off x="8011159" y="1972310"/>
            <a:ext cx="2227580" cy="2227580"/>
          </a:xfrm>
          <a:prstGeom prst="ellipse">
            <a:avLst/>
          </a:prstGeom>
          <a:solidFill>
            <a:srgbClr val="FC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ellipse-128"/>
          <p:cNvSpPr/>
          <p:nvPr/>
        </p:nvSpPr>
        <p:spPr>
          <a:xfrm>
            <a:off x="8031479" y="1992630"/>
            <a:ext cx="2186940" cy="2186940"/>
          </a:xfrm>
          <a:prstGeom prst="ellipse">
            <a:avLst/>
          </a:prstGeom>
          <a:solidFill>
            <a:srgbClr val="FD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ellipse-129"/>
          <p:cNvSpPr/>
          <p:nvPr/>
        </p:nvSpPr>
        <p:spPr>
          <a:xfrm>
            <a:off x="8051799" y="2012950"/>
            <a:ext cx="2146300" cy="2146300"/>
          </a:xfrm>
          <a:prstGeom prst="ellipse">
            <a:avLst/>
          </a:prstGeom>
          <a:solidFill>
            <a:srgbClr val="FE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传统网络说明"/>
          <p:cNvSpPr txBox="1"/>
          <p:nvPr/>
        </p:nvSpPr>
        <p:spPr>
          <a:xfrm>
            <a:off x="2574925" y="2174399"/>
            <a:ext cx="1060450" cy="2000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150">
                <a:solidFill>
                  <a:srgbClr val="497FB5"/>
                </a:solidFill>
                <a:latin typeface="Microsoft YaHei"/>
                <a:ea typeface="Microsoft YaHei"/>
              </a:rPr>
              <a:t>常规聚合物网络</a:t>
            </a:r>
          </a:p>
        </p:txBody>
      </p:sp>
      <p:sp>
        <p:nvSpPr>
          <p:cNvPr id="133" name="MBA网络说明"/>
          <p:cNvSpPr txBox="1"/>
          <p:nvPr/>
        </p:nvSpPr>
        <p:spPr>
          <a:xfrm>
            <a:off x="8470106" y="2136299"/>
            <a:ext cx="1335087" cy="2000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150">
                <a:solidFill>
                  <a:srgbClr val="087469"/>
                </a:solidFill>
                <a:latin typeface="Arial"/>
              </a:rPr>
              <a:t>MBA </a:t>
            </a:r>
            <a:r>
              <a:rPr b="1" sz="1150">
                <a:solidFill>
                  <a:srgbClr val="087469"/>
                </a:solidFill>
                <a:latin typeface="Microsoft YaHei"/>
                <a:ea typeface="Microsoft YaHei"/>
              </a:rPr>
              <a:t>酰胺交联网络</a:t>
            </a:r>
          </a:p>
        </p:txBody>
      </p:sp>
      <p:sp>
        <p:nvSpPr>
          <p:cNvPr id="134" name="传统骨架-上链"/>
          <p:cNvSpPr/>
          <p:nvPr/>
        </p:nvSpPr>
        <p:spPr>
          <a:xfrm>
            <a:off x="2082800" y="2590800"/>
            <a:ext cx="2012950" cy="63500"/>
          </a:xfrm>
          <a:custGeom>
            <a:avLst/>
            <a:gdLst/>
            <a:ahLst/>
            <a:cxnLst/>
            <a:rect l="l" t="t" r="r" b="b"/>
            <a:pathLst>
              <a:path w="317" h="10">
                <a:moveTo>
                  <a:pt x="0" y="10"/>
                </a:moveTo>
                <a:lnTo>
                  <a:pt x="4" y="8"/>
                </a:lnTo>
                <a:lnTo>
                  <a:pt x="9" y="6"/>
                </a:lnTo>
                <a:lnTo>
                  <a:pt x="13" y="4"/>
                </a:lnTo>
                <a:lnTo>
                  <a:pt x="18" y="3"/>
                </a:lnTo>
                <a:lnTo>
                  <a:pt x="22" y="2"/>
                </a:lnTo>
                <a:lnTo>
                  <a:pt x="27" y="1"/>
                </a:lnTo>
                <a:lnTo>
                  <a:pt x="31" y="1"/>
                </a:lnTo>
                <a:lnTo>
                  <a:pt x="35" y="0"/>
                </a:lnTo>
                <a:lnTo>
                  <a:pt x="40" y="0"/>
                </a:lnTo>
                <a:lnTo>
                  <a:pt x="44" y="0"/>
                </a:lnTo>
                <a:lnTo>
                  <a:pt x="48" y="1"/>
                </a:lnTo>
                <a:lnTo>
                  <a:pt x="53" y="1"/>
                </a:lnTo>
                <a:lnTo>
                  <a:pt x="57" y="1"/>
                </a:lnTo>
                <a:lnTo>
                  <a:pt x="61" y="2"/>
                </a:lnTo>
                <a:lnTo>
                  <a:pt x="65" y="2"/>
                </a:lnTo>
                <a:lnTo>
                  <a:pt x="70" y="3"/>
                </a:lnTo>
                <a:lnTo>
                  <a:pt x="74" y="4"/>
                </a:lnTo>
                <a:lnTo>
                  <a:pt x="78" y="4"/>
                </a:lnTo>
                <a:lnTo>
                  <a:pt x="83" y="5"/>
                </a:lnTo>
                <a:lnTo>
                  <a:pt x="87" y="5"/>
                </a:lnTo>
                <a:lnTo>
                  <a:pt x="92" y="6"/>
                </a:lnTo>
                <a:lnTo>
                  <a:pt x="96" y="6"/>
                </a:lnTo>
                <a:lnTo>
                  <a:pt x="100" y="7"/>
                </a:lnTo>
                <a:lnTo>
                  <a:pt x="105" y="7"/>
                </a:lnTo>
                <a:lnTo>
                  <a:pt x="109" y="7"/>
                </a:lnTo>
                <a:lnTo>
                  <a:pt x="114" y="6"/>
                </a:lnTo>
                <a:lnTo>
                  <a:pt x="118" y="6"/>
                </a:lnTo>
                <a:lnTo>
                  <a:pt x="123" y="5"/>
                </a:lnTo>
                <a:lnTo>
                  <a:pt x="129" y="4"/>
                </a:lnTo>
                <a:lnTo>
                  <a:pt x="134" y="3"/>
                </a:lnTo>
                <a:lnTo>
                  <a:pt x="140" y="3"/>
                </a:lnTo>
                <a:lnTo>
                  <a:pt x="146" y="3"/>
                </a:lnTo>
                <a:lnTo>
                  <a:pt x="151" y="3"/>
                </a:lnTo>
                <a:lnTo>
                  <a:pt x="157" y="3"/>
                </a:lnTo>
                <a:lnTo>
                  <a:pt x="163" y="3"/>
                </a:lnTo>
                <a:lnTo>
                  <a:pt x="168" y="4"/>
                </a:lnTo>
                <a:lnTo>
                  <a:pt x="174" y="4"/>
                </a:lnTo>
                <a:lnTo>
                  <a:pt x="180" y="5"/>
                </a:lnTo>
                <a:lnTo>
                  <a:pt x="186" y="6"/>
                </a:lnTo>
                <a:lnTo>
                  <a:pt x="192" y="6"/>
                </a:lnTo>
                <a:lnTo>
                  <a:pt x="199" y="7"/>
                </a:lnTo>
                <a:lnTo>
                  <a:pt x="205" y="8"/>
                </a:lnTo>
                <a:lnTo>
                  <a:pt x="212" y="8"/>
                </a:lnTo>
                <a:lnTo>
                  <a:pt x="218" y="9"/>
                </a:lnTo>
                <a:lnTo>
                  <a:pt x="225" y="10"/>
                </a:lnTo>
                <a:lnTo>
                  <a:pt x="232" y="10"/>
                </a:lnTo>
                <a:lnTo>
                  <a:pt x="240" y="10"/>
                </a:lnTo>
                <a:lnTo>
                  <a:pt x="247" y="10"/>
                </a:lnTo>
                <a:lnTo>
                  <a:pt x="255" y="10"/>
                </a:lnTo>
                <a:lnTo>
                  <a:pt x="263" y="10"/>
                </a:lnTo>
                <a:lnTo>
                  <a:pt x="271" y="10"/>
                </a:lnTo>
                <a:lnTo>
                  <a:pt x="280" y="9"/>
                </a:lnTo>
                <a:lnTo>
                  <a:pt x="289" y="8"/>
                </a:lnTo>
                <a:lnTo>
                  <a:pt x="298" y="7"/>
                </a:lnTo>
                <a:lnTo>
                  <a:pt x="307" y="5"/>
                </a:lnTo>
                <a:lnTo>
                  <a:pt x="317" y="3"/>
                </a:lnTo>
              </a:path>
            </a:pathLst>
          </a:custGeom>
          <a:noFill/>
          <a:ln w="41275" cap="rnd">
            <a:solidFill>
              <a:srgbClr val="8EA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传统骨架-下链"/>
          <p:cNvSpPr/>
          <p:nvPr/>
        </p:nvSpPr>
        <p:spPr>
          <a:xfrm>
            <a:off x="2044700" y="3441700"/>
            <a:ext cx="2070100" cy="114300"/>
          </a:xfrm>
          <a:custGeom>
            <a:avLst/>
            <a:gdLst/>
            <a:ahLst/>
            <a:cxnLst/>
            <a:rect l="l" t="t" r="r" b="b"/>
            <a:pathLst>
              <a:path w="326" h="18">
                <a:moveTo>
                  <a:pt x="0" y="18"/>
                </a:moveTo>
                <a:lnTo>
                  <a:pt x="5" y="16"/>
                </a:lnTo>
                <a:lnTo>
                  <a:pt x="9" y="14"/>
                </a:lnTo>
                <a:lnTo>
                  <a:pt x="14" y="12"/>
                </a:lnTo>
                <a:lnTo>
                  <a:pt x="19" y="11"/>
                </a:lnTo>
                <a:lnTo>
                  <a:pt x="24" y="10"/>
                </a:lnTo>
                <a:lnTo>
                  <a:pt x="29" y="9"/>
                </a:lnTo>
                <a:lnTo>
                  <a:pt x="34" y="9"/>
                </a:lnTo>
                <a:lnTo>
                  <a:pt x="38" y="9"/>
                </a:lnTo>
                <a:lnTo>
                  <a:pt x="44" y="9"/>
                </a:lnTo>
                <a:lnTo>
                  <a:pt x="49" y="9"/>
                </a:lnTo>
                <a:lnTo>
                  <a:pt x="54" y="9"/>
                </a:lnTo>
                <a:lnTo>
                  <a:pt x="59" y="9"/>
                </a:lnTo>
                <a:lnTo>
                  <a:pt x="64" y="9"/>
                </a:lnTo>
                <a:lnTo>
                  <a:pt x="69" y="10"/>
                </a:lnTo>
                <a:lnTo>
                  <a:pt x="75" y="10"/>
                </a:lnTo>
                <a:lnTo>
                  <a:pt x="80" y="11"/>
                </a:lnTo>
                <a:lnTo>
                  <a:pt x="85" y="11"/>
                </a:lnTo>
                <a:lnTo>
                  <a:pt x="91" y="11"/>
                </a:lnTo>
                <a:lnTo>
                  <a:pt x="96" y="11"/>
                </a:lnTo>
                <a:lnTo>
                  <a:pt x="101" y="11"/>
                </a:lnTo>
                <a:lnTo>
                  <a:pt x="107" y="11"/>
                </a:lnTo>
                <a:lnTo>
                  <a:pt x="112" y="11"/>
                </a:lnTo>
                <a:lnTo>
                  <a:pt x="118" y="11"/>
                </a:lnTo>
                <a:lnTo>
                  <a:pt x="123" y="10"/>
                </a:lnTo>
                <a:lnTo>
                  <a:pt x="129" y="9"/>
                </a:lnTo>
                <a:lnTo>
                  <a:pt x="135" y="8"/>
                </a:lnTo>
                <a:lnTo>
                  <a:pt x="140" y="6"/>
                </a:lnTo>
                <a:lnTo>
                  <a:pt x="146" y="4"/>
                </a:lnTo>
                <a:lnTo>
                  <a:pt x="151" y="2"/>
                </a:lnTo>
                <a:lnTo>
                  <a:pt x="156" y="1"/>
                </a:lnTo>
                <a:lnTo>
                  <a:pt x="161" y="0"/>
                </a:lnTo>
                <a:lnTo>
                  <a:pt x="167" y="0"/>
                </a:lnTo>
                <a:lnTo>
                  <a:pt x="172" y="0"/>
                </a:lnTo>
                <a:lnTo>
                  <a:pt x="178" y="0"/>
                </a:lnTo>
                <a:lnTo>
                  <a:pt x="184" y="0"/>
                </a:lnTo>
                <a:lnTo>
                  <a:pt x="189" y="0"/>
                </a:lnTo>
                <a:lnTo>
                  <a:pt x="195" y="1"/>
                </a:lnTo>
                <a:lnTo>
                  <a:pt x="201" y="1"/>
                </a:lnTo>
                <a:lnTo>
                  <a:pt x="208" y="2"/>
                </a:lnTo>
                <a:lnTo>
                  <a:pt x="214" y="3"/>
                </a:lnTo>
                <a:lnTo>
                  <a:pt x="220" y="4"/>
                </a:lnTo>
                <a:lnTo>
                  <a:pt x="227" y="5"/>
                </a:lnTo>
                <a:lnTo>
                  <a:pt x="233" y="6"/>
                </a:lnTo>
                <a:lnTo>
                  <a:pt x="240" y="7"/>
                </a:lnTo>
                <a:lnTo>
                  <a:pt x="247" y="8"/>
                </a:lnTo>
                <a:lnTo>
                  <a:pt x="253" y="8"/>
                </a:lnTo>
                <a:lnTo>
                  <a:pt x="260" y="9"/>
                </a:lnTo>
                <a:lnTo>
                  <a:pt x="267" y="10"/>
                </a:lnTo>
                <a:lnTo>
                  <a:pt x="274" y="10"/>
                </a:lnTo>
                <a:lnTo>
                  <a:pt x="282" y="10"/>
                </a:lnTo>
                <a:lnTo>
                  <a:pt x="289" y="11"/>
                </a:lnTo>
                <a:lnTo>
                  <a:pt x="296" y="10"/>
                </a:lnTo>
                <a:lnTo>
                  <a:pt x="303" y="10"/>
                </a:lnTo>
                <a:lnTo>
                  <a:pt x="311" y="9"/>
                </a:lnTo>
                <a:lnTo>
                  <a:pt x="318" y="8"/>
                </a:lnTo>
                <a:lnTo>
                  <a:pt x="326" y="7"/>
                </a:lnTo>
              </a:path>
            </a:pathLst>
          </a:custGeom>
          <a:noFill/>
          <a:ln w="41275" cap="rnd">
            <a:solidFill>
              <a:srgbClr val="8EA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传统骨架-左交联链"/>
          <p:cNvSpPr/>
          <p:nvPr/>
        </p:nvSpPr>
        <p:spPr>
          <a:xfrm>
            <a:off x="2298700" y="2476500"/>
            <a:ext cx="139700" cy="1358900"/>
          </a:xfrm>
          <a:custGeom>
            <a:avLst/>
            <a:gdLst/>
            <a:ahLst/>
            <a:cxnLst/>
            <a:rect l="l" t="t" r="r" b="b"/>
            <a:pathLst>
              <a:path w="22" h="214">
                <a:moveTo>
                  <a:pt x="8" y="0"/>
                </a:moveTo>
                <a:lnTo>
                  <a:pt x="6" y="6"/>
                </a:lnTo>
                <a:lnTo>
                  <a:pt x="4" y="11"/>
                </a:lnTo>
                <a:lnTo>
                  <a:pt x="3" y="17"/>
                </a:lnTo>
                <a:lnTo>
                  <a:pt x="2" y="22"/>
                </a:lnTo>
                <a:lnTo>
                  <a:pt x="2" y="27"/>
                </a:lnTo>
                <a:lnTo>
                  <a:pt x="2" y="32"/>
                </a:lnTo>
                <a:lnTo>
                  <a:pt x="2" y="37"/>
                </a:lnTo>
                <a:lnTo>
                  <a:pt x="3" y="42"/>
                </a:lnTo>
                <a:lnTo>
                  <a:pt x="3" y="47"/>
                </a:lnTo>
                <a:lnTo>
                  <a:pt x="4" y="52"/>
                </a:lnTo>
                <a:lnTo>
                  <a:pt x="5" y="57"/>
                </a:lnTo>
                <a:lnTo>
                  <a:pt x="7" y="61"/>
                </a:lnTo>
                <a:lnTo>
                  <a:pt x="8" y="66"/>
                </a:lnTo>
                <a:lnTo>
                  <a:pt x="9" y="70"/>
                </a:lnTo>
                <a:lnTo>
                  <a:pt x="11" y="75"/>
                </a:lnTo>
                <a:lnTo>
                  <a:pt x="12" y="79"/>
                </a:lnTo>
                <a:lnTo>
                  <a:pt x="13" y="83"/>
                </a:lnTo>
                <a:lnTo>
                  <a:pt x="14" y="88"/>
                </a:lnTo>
                <a:lnTo>
                  <a:pt x="15" y="92"/>
                </a:lnTo>
                <a:lnTo>
                  <a:pt x="16" y="96"/>
                </a:lnTo>
                <a:lnTo>
                  <a:pt x="16" y="100"/>
                </a:lnTo>
                <a:lnTo>
                  <a:pt x="16" y="105"/>
                </a:lnTo>
                <a:lnTo>
                  <a:pt x="16" y="109"/>
                </a:lnTo>
                <a:lnTo>
                  <a:pt x="16" y="113"/>
                </a:lnTo>
                <a:lnTo>
                  <a:pt x="15" y="117"/>
                </a:lnTo>
                <a:lnTo>
                  <a:pt x="13" y="121"/>
                </a:lnTo>
                <a:lnTo>
                  <a:pt x="11" y="126"/>
                </a:lnTo>
                <a:lnTo>
                  <a:pt x="9" y="130"/>
                </a:lnTo>
                <a:lnTo>
                  <a:pt x="7" y="133"/>
                </a:lnTo>
                <a:lnTo>
                  <a:pt x="5" y="137"/>
                </a:lnTo>
                <a:lnTo>
                  <a:pt x="4" y="140"/>
                </a:lnTo>
                <a:lnTo>
                  <a:pt x="3" y="143"/>
                </a:lnTo>
                <a:lnTo>
                  <a:pt x="2" y="147"/>
                </a:lnTo>
                <a:lnTo>
                  <a:pt x="1" y="150"/>
                </a:lnTo>
                <a:lnTo>
                  <a:pt x="0" y="154"/>
                </a:lnTo>
                <a:lnTo>
                  <a:pt x="0" y="157"/>
                </a:lnTo>
                <a:lnTo>
                  <a:pt x="0" y="160"/>
                </a:lnTo>
                <a:lnTo>
                  <a:pt x="0" y="164"/>
                </a:lnTo>
                <a:lnTo>
                  <a:pt x="0" y="167"/>
                </a:lnTo>
                <a:lnTo>
                  <a:pt x="1" y="170"/>
                </a:lnTo>
                <a:lnTo>
                  <a:pt x="1" y="174"/>
                </a:lnTo>
                <a:lnTo>
                  <a:pt x="2" y="177"/>
                </a:lnTo>
                <a:lnTo>
                  <a:pt x="3" y="180"/>
                </a:lnTo>
                <a:lnTo>
                  <a:pt x="4" y="183"/>
                </a:lnTo>
                <a:lnTo>
                  <a:pt x="5" y="186"/>
                </a:lnTo>
                <a:lnTo>
                  <a:pt x="6" y="189"/>
                </a:lnTo>
                <a:lnTo>
                  <a:pt x="8" y="192"/>
                </a:lnTo>
                <a:lnTo>
                  <a:pt x="9" y="195"/>
                </a:lnTo>
                <a:lnTo>
                  <a:pt x="10" y="198"/>
                </a:lnTo>
                <a:lnTo>
                  <a:pt x="12" y="200"/>
                </a:lnTo>
                <a:lnTo>
                  <a:pt x="14" y="203"/>
                </a:lnTo>
                <a:lnTo>
                  <a:pt x="15" y="205"/>
                </a:lnTo>
                <a:lnTo>
                  <a:pt x="17" y="208"/>
                </a:lnTo>
                <a:lnTo>
                  <a:pt x="19" y="210"/>
                </a:lnTo>
                <a:lnTo>
                  <a:pt x="20" y="212"/>
                </a:lnTo>
                <a:lnTo>
                  <a:pt x="22" y="214"/>
                </a:lnTo>
              </a:path>
            </a:pathLst>
          </a:custGeom>
          <a:noFill/>
          <a:ln w="41275" cap="rnd">
            <a:solidFill>
              <a:srgbClr val="8EA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传统骨架-右交联链"/>
          <p:cNvSpPr/>
          <p:nvPr/>
        </p:nvSpPr>
        <p:spPr>
          <a:xfrm>
            <a:off x="3683000" y="2495550"/>
            <a:ext cx="146050" cy="1397000"/>
          </a:xfrm>
          <a:custGeom>
            <a:avLst/>
            <a:gdLst/>
            <a:ahLst/>
            <a:cxnLst/>
            <a:rect l="l" t="t" r="r" b="b"/>
            <a:pathLst>
              <a:path w="23" h="220">
                <a:moveTo>
                  <a:pt x="21" y="0"/>
                </a:moveTo>
                <a:lnTo>
                  <a:pt x="17" y="5"/>
                </a:lnTo>
                <a:lnTo>
                  <a:pt x="14" y="9"/>
                </a:lnTo>
                <a:lnTo>
                  <a:pt x="12" y="14"/>
                </a:lnTo>
                <a:lnTo>
                  <a:pt x="10" y="18"/>
                </a:lnTo>
                <a:lnTo>
                  <a:pt x="8" y="23"/>
                </a:lnTo>
                <a:lnTo>
                  <a:pt x="7" y="27"/>
                </a:lnTo>
                <a:lnTo>
                  <a:pt x="6" y="32"/>
                </a:lnTo>
                <a:lnTo>
                  <a:pt x="6" y="37"/>
                </a:lnTo>
                <a:lnTo>
                  <a:pt x="5" y="42"/>
                </a:lnTo>
                <a:lnTo>
                  <a:pt x="6" y="46"/>
                </a:lnTo>
                <a:lnTo>
                  <a:pt x="6" y="51"/>
                </a:lnTo>
                <a:lnTo>
                  <a:pt x="6" y="56"/>
                </a:lnTo>
                <a:lnTo>
                  <a:pt x="7" y="61"/>
                </a:lnTo>
                <a:lnTo>
                  <a:pt x="8" y="66"/>
                </a:lnTo>
                <a:lnTo>
                  <a:pt x="8" y="71"/>
                </a:lnTo>
                <a:lnTo>
                  <a:pt x="9" y="76"/>
                </a:lnTo>
                <a:lnTo>
                  <a:pt x="10" y="81"/>
                </a:lnTo>
                <a:lnTo>
                  <a:pt x="10" y="86"/>
                </a:lnTo>
                <a:lnTo>
                  <a:pt x="11" y="91"/>
                </a:lnTo>
                <a:lnTo>
                  <a:pt x="11" y="96"/>
                </a:lnTo>
                <a:lnTo>
                  <a:pt x="12" y="101"/>
                </a:lnTo>
                <a:lnTo>
                  <a:pt x="12" y="106"/>
                </a:lnTo>
                <a:lnTo>
                  <a:pt x="11" y="112"/>
                </a:lnTo>
                <a:lnTo>
                  <a:pt x="11" y="117"/>
                </a:lnTo>
                <a:lnTo>
                  <a:pt x="10" y="123"/>
                </a:lnTo>
                <a:lnTo>
                  <a:pt x="8" y="128"/>
                </a:lnTo>
                <a:lnTo>
                  <a:pt x="6" y="133"/>
                </a:lnTo>
                <a:lnTo>
                  <a:pt x="4" y="139"/>
                </a:lnTo>
                <a:lnTo>
                  <a:pt x="3" y="142"/>
                </a:lnTo>
                <a:lnTo>
                  <a:pt x="2" y="145"/>
                </a:lnTo>
                <a:lnTo>
                  <a:pt x="1" y="148"/>
                </a:lnTo>
                <a:lnTo>
                  <a:pt x="0" y="150"/>
                </a:lnTo>
                <a:lnTo>
                  <a:pt x="0" y="153"/>
                </a:lnTo>
                <a:lnTo>
                  <a:pt x="0" y="156"/>
                </a:lnTo>
                <a:lnTo>
                  <a:pt x="0" y="159"/>
                </a:lnTo>
                <a:lnTo>
                  <a:pt x="0" y="162"/>
                </a:lnTo>
                <a:lnTo>
                  <a:pt x="0" y="165"/>
                </a:lnTo>
                <a:lnTo>
                  <a:pt x="0" y="168"/>
                </a:lnTo>
                <a:lnTo>
                  <a:pt x="1" y="171"/>
                </a:lnTo>
                <a:lnTo>
                  <a:pt x="1" y="174"/>
                </a:lnTo>
                <a:lnTo>
                  <a:pt x="2" y="177"/>
                </a:lnTo>
                <a:lnTo>
                  <a:pt x="3" y="180"/>
                </a:lnTo>
                <a:lnTo>
                  <a:pt x="4" y="183"/>
                </a:lnTo>
                <a:lnTo>
                  <a:pt x="5" y="186"/>
                </a:lnTo>
                <a:lnTo>
                  <a:pt x="6" y="189"/>
                </a:lnTo>
                <a:lnTo>
                  <a:pt x="7" y="192"/>
                </a:lnTo>
                <a:lnTo>
                  <a:pt x="8" y="195"/>
                </a:lnTo>
                <a:lnTo>
                  <a:pt x="10" y="198"/>
                </a:lnTo>
                <a:lnTo>
                  <a:pt x="11" y="201"/>
                </a:lnTo>
                <a:lnTo>
                  <a:pt x="13" y="204"/>
                </a:lnTo>
                <a:lnTo>
                  <a:pt x="14" y="207"/>
                </a:lnTo>
                <a:lnTo>
                  <a:pt x="16" y="209"/>
                </a:lnTo>
                <a:lnTo>
                  <a:pt x="18" y="212"/>
                </a:lnTo>
                <a:lnTo>
                  <a:pt x="19" y="215"/>
                </a:lnTo>
                <a:lnTo>
                  <a:pt x="21" y="217"/>
                </a:lnTo>
                <a:lnTo>
                  <a:pt x="23" y="220"/>
                </a:lnTo>
              </a:path>
            </a:pathLst>
          </a:custGeom>
          <a:noFill/>
          <a:ln w="41275" cap="rnd">
            <a:solidFill>
              <a:srgbClr val="8EA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传统交联节点"/>
          <p:cNvSpPr/>
          <p:nvPr/>
        </p:nvSpPr>
        <p:spPr>
          <a:xfrm>
            <a:off x="2320925" y="2606675"/>
            <a:ext cx="95250" cy="95250"/>
          </a:xfrm>
          <a:prstGeom prst="ellipse">
            <a:avLst/>
          </a:prstGeom>
          <a:solidFill>
            <a:srgbClr val="FFFFFF"/>
          </a:solidFill>
          <a:ln w="12700" cap="rnd">
            <a:solidFill>
              <a:srgbClr val="8EA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传统交联节点"/>
          <p:cNvSpPr/>
          <p:nvPr/>
        </p:nvSpPr>
        <p:spPr>
          <a:xfrm>
            <a:off x="2327275" y="3432175"/>
            <a:ext cx="95250" cy="95250"/>
          </a:xfrm>
          <a:prstGeom prst="ellipse">
            <a:avLst/>
          </a:prstGeom>
          <a:solidFill>
            <a:srgbClr val="FFFFFF"/>
          </a:solidFill>
          <a:ln w="12700" cap="rnd">
            <a:solidFill>
              <a:srgbClr val="8EA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传统交联节点"/>
          <p:cNvSpPr/>
          <p:nvPr/>
        </p:nvSpPr>
        <p:spPr>
          <a:xfrm>
            <a:off x="3717925" y="2613025"/>
            <a:ext cx="95250" cy="95250"/>
          </a:xfrm>
          <a:prstGeom prst="ellipse">
            <a:avLst/>
          </a:prstGeom>
          <a:solidFill>
            <a:srgbClr val="FFFFFF"/>
          </a:solidFill>
          <a:ln w="12700" cap="rnd">
            <a:solidFill>
              <a:srgbClr val="8EA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传统交联节点"/>
          <p:cNvSpPr/>
          <p:nvPr/>
        </p:nvSpPr>
        <p:spPr>
          <a:xfrm>
            <a:off x="3673475" y="3438525"/>
            <a:ext cx="95250" cy="95250"/>
          </a:xfrm>
          <a:prstGeom prst="ellipse">
            <a:avLst/>
          </a:prstGeom>
          <a:solidFill>
            <a:srgbClr val="FFFFFF"/>
          </a:solidFill>
          <a:ln w="12700" cap="rnd">
            <a:solidFill>
              <a:srgbClr val="8EA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传统溶剂化鞘-示意"/>
          <p:cNvSpPr/>
          <p:nvPr/>
        </p:nvSpPr>
        <p:spPr>
          <a:xfrm>
            <a:off x="2667000" y="2660650"/>
            <a:ext cx="850900" cy="850900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D7E7F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传统极性基团-支链"/>
          <p:cNvSpPr/>
          <p:nvPr/>
        </p:nvSpPr>
        <p:spPr>
          <a:xfrm>
            <a:off x="2387600" y="2990850"/>
            <a:ext cx="209550" cy="31750"/>
          </a:xfrm>
          <a:custGeom>
            <a:avLst/>
            <a:gdLst/>
            <a:ahLst/>
            <a:cxnLst/>
            <a:rect l="l" t="t" r="r" b="b"/>
            <a:pathLst>
              <a:path w="33" h="5">
                <a:moveTo>
                  <a:pt x="0" y="5"/>
                </a:moveTo>
                <a:lnTo>
                  <a:pt x="1" y="4"/>
                </a:lnTo>
                <a:lnTo>
                  <a:pt x="3" y="4"/>
                </a:lnTo>
                <a:lnTo>
                  <a:pt x="4" y="4"/>
                </a:lnTo>
                <a:lnTo>
                  <a:pt x="5" y="3"/>
                </a:lnTo>
                <a:lnTo>
                  <a:pt x="7" y="3"/>
                </a:lnTo>
                <a:lnTo>
                  <a:pt x="8" y="2"/>
                </a:lnTo>
                <a:lnTo>
                  <a:pt x="9" y="2"/>
                </a:lnTo>
                <a:lnTo>
                  <a:pt x="10" y="2"/>
                </a:lnTo>
                <a:lnTo>
                  <a:pt x="12" y="1"/>
                </a:lnTo>
                <a:lnTo>
                  <a:pt x="13" y="1"/>
                </a:lnTo>
                <a:lnTo>
                  <a:pt x="14" y="1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1"/>
                </a:lnTo>
                <a:lnTo>
                  <a:pt x="27" y="1"/>
                </a:lnTo>
                <a:lnTo>
                  <a:pt x="28" y="1"/>
                </a:lnTo>
                <a:lnTo>
                  <a:pt x="29" y="1"/>
                </a:lnTo>
                <a:lnTo>
                  <a:pt x="30" y="1"/>
                </a:lnTo>
                <a:lnTo>
                  <a:pt x="31" y="1"/>
                </a:lnTo>
                <a:lnTo>
                  <a:pt x="32" y="2"/>
                </a:lnTo>
                <a:lnTo>
                  <a:pt x="33" y="2"/>
                </a:lnTo>
              </a:path>
            </a:pathLst>
          </a:custGeom>
          <a:noFill/>
          <a:ln w="19050" cap="rnd">
            <a:solidFill>
              <a:srgbClr val="8EA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传统羰基-双键1"/>
          <p:cNvCxnSpPr/>
          <p:nvPr/>
        </p:nvCxnSpPr>
        <p:spPr>
          <a:xfrm>
            <a:off x="2597150" y="2984500"/>
            <a:ext cx="69850" cy="25400"/>
          </a:xfrm>
          <a:prstGeom prst="line">
            <a:avLst/>
          </a:prstGeom>
          <a:ln w="15875" cap="rnd">
            <a:solidFill>
              <a:srgbClr val="D676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传统羰基-双键2"/>
          <p:cNvCxnSpPr/>
          <p:nvPr/>
        </p:nvCxnSpPr>
        <p:spPr>
          <a:xfrm>
            <a:off x="2590800" y="3022600"/>
            <a:ext cx="69850" cy="25400"/>
          </a:xfrm>
          <a:prstGeom prst="line">
            <a:avLst/>
          </a:prstGeom>
          <a:ln w="15875" cap="rnd">
            <a:solidFill>
              <a:srgbClr val="D676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传统羰基氧"/>
          <p:cNvSpPr/>
          <p:nvPr/>
        </p:nvSpPr>
        <p:spPr>
          <a:xfrm>
            <a:off x="2654300" y="2984500"/>
            <a:ext cx="114300" cy="114300"/>
          </a:xfrm>
          <a:prstGeom prst="ellipse">
            <a:avLst/>
          </a:prstGeom>
          <a:solidFill>
            <a:srgbClr val="D67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传统氧-标记"/>
          <p:cNvSpPr txBox="1"/>
          <p:nvPr/>
        </p:nvSpPr>
        <p:spPr>
          <a:xfrm>
            <a:off x="2667000" y="2982277"/>
            <a:ext cx="114300" cy="121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FFFFFF"/>
                </a:solidFill>
                <a:latin typeface="Arial"/>
              </a:rPr>
              <a:t>O</a:t>
            </a:r>
          </a:p>
        </p:txBody>
      </p:sp>
      <p:sp>
        <p:nvSpPr>
          <p:cNvPr id="148" name="传统极性基团-说明"/>
          <p:cNvSpPr txBox="1"/>
          <p:nvPr/>
        </p:nvSpPr>
        <p:spPr>
          <a:xfrm>
            <a:off x="2363787" y="2740342"/>
            <a:ext cx="314325" cy="1565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D67661"/>
                </a:solidFill>
                <a:latin typeface="Arial"/>
              </a:rPr>
              <a:t>C=O</a:t>
            </a:r>
          </a:p>
        </p:txBody>
      </p:sp>
      <p:cxnSp>
        <p:nvCxnSpPr>
          <p:cNvPr id="149" name="传统Li配位束缚-示意"/>
          <p:cNvCxnSpPr/>
          <p:nvPr/>
        </p:nvCxnSpPr>
        <p:spPr>
          <a:xfrm>
            <a:off x="2781300" y="3048000"/>
            <a:ext cx="177800" cy="38100"/>
          </a:xfrm>
          <a:prstGeom prst="line">
            <a:avLst/>
          </a:prstGeom>
          <a:ln w="17780" cap="rnd">
            <a:solidFill>
              <a:srgbClr val="D676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常规溶剂-0"/>
          <p:cNvSpPr/>
          <p:nvPr/>
        </p:nvSpPr>
        <p:spPr>
          <a:xfrm>
            <a:off x="2870200" y="2724150"/>
            <a:ext cx="254000" cy="165100"/>
          </a:xfrm>
          <a:prstGeom prst="ellipse">
            <a:avLst/>
          </a:prstGeom>
          <a:solidFill>
            <a:srgbClr val="D7E7F7"/>
          </a:solidFill>
          <a:ln w="7620" cap="rnd">
            <a:solidFill>
              <a:srgbClr val="A8C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常规溶剂-标签-0"/>
          <p:cNvSpPr txBox="1"/>
          <p:nvPr/>
        </p:nvSpPr>
        <p:spPr>
          <a:xfrm>
            <a:off x="2956719" y="2740819"/>
            <a:ext cx="106362" cy="1304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750">
                <a:solidFill>
                  <a:srgbClr val="497FB5"/>
                </a:solidFill>
                <a:latin typeface="Arial"/>
              </a:rPr>
              <a:t>S</a:t>
            </a:r>
          </a:p>
        </p:txBody>
      </p:sp>
      <p:cxnSp>
        <p:nvCxnSpPr>
          <p:cNvPr id="152" name="常规溶剂配位-0"/>
          <p:cNvCxnSpPr/>
          <p:nvPr/>
        </p:nvCxnSpPr>
        <p:spPr>
          <a:xfrm flipH="1" flipV="1">
            <a:off x="3025775" y="2890520"/>
            <a:ext cx="31432" cy="92202"/>
          </a:xfrm>
          <a:prstGeom prst="line">
            <a:avLst/>
          </a:prstGeom>
          <a:ln w="9525" cap="rnd">
            <a:solidFill>
              <a:srgbClr val="497FB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常规溶剂-1"/>
          <p:cNvSpPr/>
          <p:nvPr/>
        </p:nvSpPr>
        <p:spPr>
          <a:xfrm>
            <a:off x="3257550" y="2882900"/>
            <a:ext cx="254000" cy="165100"/>
          </a:xfrm>
          <a:prstGeom prst="ellipse">
            <a:avLst/>
          </a:prstGeom>
          <a:solidFill>
            <a:srgbClr val="D7E7F7"/>
          </a:solidFill>
          <a:ln w="7620" cap="rnd">
            <a:solidFill>
              <a:srgbClr val="A8C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常规溶剂-标签-1"/>
          <p:cNvSpPr txBox="1"/>
          <p:nvPr/>
        </p:nvSpPr>
        <p:spPr>
          <a:xfrm>
            <a:off x="3344068" y="2899569"/>
            <a:ext cx="106362" cy="1304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750">
                <a:solidFill>
                  <a:srgbClr val="497FB5"/>
                </a:solidFill>
                <a:latin typeface="Arial"/>
              </a:rPr>
              <a:t>S</a:t>
            </a:r>
          </a:p>
        </p:txBody>
      </p:sp>
      <p:cxnSp>
        <p:nvCxnSpPr>
          <p:cNvPr id="155" name="常规溶剂配位-1"/>
          <p:cNvCxnSpPr/>
          <p:nvPr/>
        </p:nvCxnSpPr>
        <p:spPr>
          <a:xfrm flipV="1">
            <a:off x="3200527" y="3001645"/>
            <a:ext cx="96393" cy="39814"/>
          </a:xfrm>
          <a:prstGeom prst="line">
            <a:avLst/>
          </a:prstGeom>
          <a:ln w="9525" cap="rnd">
            <a:solidFill>
              <a:srgbClr val="497FB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常规溶剂-2"/>
          <p:cNvSpPr/>
          <p:nvPr/>
        </p:nvSpPr>
        <p:spPr>
          <a:xfrm>
            <a:off x="3117850" y="3282950"/>
            <a:ext cx="254000" cy="165100"/>
          </a:xfrm>
          <a:prstGeom prst="ellipse">
            <a:avLst/>
          </a:prstGeom>
          <a:solidFill>
            <a:srgbClr val="D7E7F7"/>
          </a:solidFill>
          <a:ln w="7620" cap="rnd">
            <a:solidFill>
              <a:srgbClr val="A8C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常规溶剂-标签-2"/>
          <p:cNvSpPr txBox="1"/>
          <p:nvPr/>
        </p:nvSpPr>
        <p:spPr>
          <a:xfrm>
            <a:off x="3204368" y="3299618"/>
            <a:ext cx="106362" cy="1304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750">
                <a:solidFill>
                  <a:srgbClr val="497FB5"/>
                </a:solidFill>
                <a:latin typeface="Arial"/>
              </a:rPr>
              <a:t>S</a:t>
            </a:r>
          </a:p>
        </p:txBody>
      </p:sp>
      <p:cxnSp>
        <p:nvCxnSpPr>
          <p:cNvPr id="158" name="常规溶剂配位-2"/>
          <p:cNvCxnSpPr/>
          <p:nvPr/>
        </p:nvCxnSpPr>
        <p:spPr>
          <a:xfrm>
            <a:off x="3148838" y="3189478"/>
            <a:ext cx="50292" cy="92202"/>
          </a:xfrm>
          <a:prstGeom prst="line">
            <a:avLst/>
          </a:prstGeom>
          <a:ln w="9525" cap="rnd">
            <a:solidFill>
              <a:srgbClr val="497FB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常规溶剂-3"/>
          <p:cNvSpPr/>
          <p:nvPr/>
        </p:nvSpPr>
        <p:spPr>
          <a:xfrm>
            <a:off x="2711450" y="3181350"/>
            <a:ext cx="254000" cy="165100"/>
          </a:xfrm>
          <a:prstGeom prst="ellipse">
            <a:avLst/>
          </a:prstGeom>
          <a:solidFill>
            <a:srgbClr val="D7E7F7"/>
          </a:solidFill>
          <a:ln w="7620" cap="rnd">
            <a:solidFill>
              <a:srgbClr val="A8C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常规溶剂-标签-3"/>
          <p:cNvSpPr txBox="1"/>
          <p:nvPr/>
        </p:nvSpPr>
        <p:spPr>
          <a:xfrm>
            <a:off x="2797969" y="3198018"/>
            <a:ext cx="106362" cy="1304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750">
                <a:solidFill>
                  <a:srgbClr val="497FB5"/>
                </a:solidFill>
                <a:latin typeface="Arial"/>
              </a:rPr>
              <a:t>S</a:t>
            </a:r>
          </a:p>
        </p:txBody>
      </p:sp>
      <p:cxnSp>
        <p:nvCxnSpPr>
          <p:cNvPr id="161" name="常规溶剂配位-3"/>
          <p:cNvCxnSpPr/>
          <p:nvPr/>
        </p:nvCxnSpPr>
        <p:spPr>
          <a:xfrm flipH="1">
            <a:off x="2914650" y="3151886"/>
            <a:ext cx="83820" cy="58674"/>
          </a:xfrm>
          <a:prstGeom prst="line">
            <a:avLst/>
          </a:prstGeom>
          <a:ln w="9525" cap="rnd">
            <a:solidFill>
              <a:srgbClr val="497FB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传统Li离子"/>
          <p:cNvSpPr/>
          <p:nvPr/>
        </p:nvSpPr>
        <p:spPr>
          <a:xfrm>
            <a:off x="2965450" y="2959100"/>
            <a:ext cx="254000" cy="254000"/>
          </a:xfrm>
          <a:prstGeom prst="ellipse">
            <a:avLst/>
          </a:prstGeom>
          <a:solidFill>
            <a:srgbClr val="EBAE3E"/>
          </a:solidFill>
          <a:ln w="9525" cap="rnd">
            <a:solidFill>
              <a:srgbClr val="C2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传统Li离子-高光"/>
          <p:cNvSpPr/>
          <p:nvPr/>
        </p:nvSpPr>
        <p:spPr>
          <a:xfrm>
            <a:off x="3021330" y="3018790"/>
            <a:ext cx="78740" cy="58420"/>
          </a:xfrm>
          <a:prstGeom prst="ellipse">
            <a:avLst/>
          </a:prstGeom>
          <a:solidFill>
            <a:srgbClr val="FFE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传统Li离子-文字"/>
          <p:cNvSpPr txBox="1"/>
          <p:nvPr/>
        </p:nvSpPr>
        <p:spPr>
          <a:xfrm>
            <a:off x="3011487" y="3027743"/>
            <a:ext cx="187325" cy="135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780">
                <a:solidFill>
                  <a:srgbClr val="FFFFFF"/>
                </a:solidFill>
                <a:latin typeface="Arial"/>
              </a:rPr>
              <a:t>Li⁺</a:t>
            </a:r>
          </a:p>
        </p:txBody>
      </p:sp>
      <p:sp>
        <p:nvSpPr>
          <p:cNvPr id="165" name="传统体相瓶颈"/>
          <p:cNvSpPr txBox="1"/>
          <p:nvPr/>
        </p:nvSpPr>
        <p:spPr>
          <a:xfrm>
            <a:off x="2497137" y="3514248"/>
            <a:ext cx="1216025" cy="2000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150">
                <a:solidFill>
                  <a:srgbClr val="497FB5"/>
                </a:solidFill>
                <a:latin typeface="Microsoft YaHei"/>
                <a:ea typeface="Microsoft YaHei"/>
              </a:rPr>
              <a:t>强束缚</a:t>
            </a:r>
            <a:r>
              <a:rPr b="1" sz="1150">
                <a:solidFill>
                  <a:srgbClr val="497FB5"/>
                </a:solidFill>
                <a:latin typeface="Arial"/>
              </a:rPr>
              <a:t> / </a:t>
            </a:r>
            <a:r>
              <a:rPr b="1" sz="1150">
                <a:solidFill>
                  <a:srgbClr val="497FB5"/>
                </a:solidFill>
                <a:latin typeface="Microsoft YaHei"/>
                <a:ea typeface="Microsoft YaHei"/>
              </a:rPr>
              <a:t>交换受限</a:t>
            </a:r>
          </a:p>
        </p:txBody>
      </p:sp>
      <p:sp>
        <p:nvSpPr>
          <p:cNvPr id="166" name="MBA网络-左聚合物主链"/>
          <p:cNvSpPr/>
          <p:nvPr/>
        </p:nvSpPr>
        <p:spPr>
          <a:xfrm>
            <a:off x="8356599" y="2476500"/>
            <a:ext cx="69850" cy="1397000"/>
          </a:xfrm>
          <a:custGeom>
            <a:avLst/>
            <a:gdLst/>
            <a:ahLst/>
            <a:cxnLst/>
            <a:rect l="l" t="t" r="r" b="b"/>
            <a:pathLst>
              <a:path w="11" h="220">
                <a:moveTo>
                  <a:pt x="7" y="0"/>
                </a:moveTo>
                <a:lnTo>
                  <a:pt x="6" y="4"/>
                </a:lnTo>
                <a:lnTo>
                  <a:pt x="5" y="8"/>
                </a:lnTo>
                <a:lnTo>
                  <a:pt x="4" y="12"/>
                </a:lnTo>
                <a:lnTo>
                  <a:pt x="4" y="16"/>
                </a:lnTo>
                <a:lnTo>
                  <a:pt x="3" y="20"/>
                </a:lnTo>
                <a:lnTo>
                  <a:pt x="3" y="24"/>
                </a:lnTo>
                <a:lnTo>
                  <a:pt x="4" y="28"/>
                </a:lnTo>
                <a:lnTo>
                  <a:pt x="4" y="32"/>
                </a:lnTo>
                <a:lnTo>
                  <a:pt x="4" y="36"/>
                </a:lnTo>
                <a:lnTo>
                  <a:pt x="5" y="40"/>
                </a:lnTo>
                <a:lnTo>
                  <a:pt x="6" y="44"/>
                </a:lnTo>
                <a:lnTo>
                  <a:pt x="6" y="47"/>
                </a:lnTo>
                <a:lnTo>
                  <a:pt x="7" y="51"/>
                </a:lnTo>
                <a:lnTo>
                  <a:pt x="8" y="55"/>
                </a:lnTo>
                <a:lnTo>
                  <a:pt x="8" y="59"/>
                </a:lnTo>
                <a:lnTo>
                  <a:pt x="9" y="63"/>
                </a:lnTo>
                <a:lnTo>
                  <a:pt x="10" y="67"/>
                </a:lnTo>
                <a:lnTo>
                  <a:pt x="10" y="71"/>
                </a:lnTo>
                <a:lnTo>
                  <a:pt x="11" y="75"/>
                </a:lnTo>
                <a:lnTo>
                  <a:pt x="11" y="79"/>
                </a:lnTo>
                <a:lnTo>
                  <a:pt x="11" y="83"/>
                </a:lnTo>
                <a:lnTo>
                  <a:pt x="11" y="87"/>
                </a:lnTo>
                <a:lnTo>
                  <a:pt x="11" y="91"/>
                </a:lnTo>
                <a:lnTo>
                  <a:pt x="10" y="95"/>
                </a:lnTo>
                <a:lnTo>
                  <a:pt x="10" y="99"/>
                </a:lnTo>
                <a:lnTo>
                  <a:pt x="9" y="104"/>
                </a:lnTo>
                <a:lnTo>
                  <a:pt x="8" y="108"/>
                </a:lnTo>
                <a:lnTo>
                  <a:pt x="6" y="112"/>
                </a:lnTo>
                <a:lnTo>
                  <a:pt x="5" y="116"/>
                </a:lnTo>
                <a:lnTo>
                  <a:pt x="3" y="121"/>
                </a:lnTo>
                <a:lnTo>
                  <a:pt x="2" y="125"/>
                </a:lnTo>
                <a:lnTo>
                  <a:pt x="2" y="130"/>
                </a:lnTo>
                <a:lnTo>
                  <a:pt x="1" y="134"/>
                </a:lnTo>
                <a:lnTo>
                  <a:pt x="1" y="138"/>
                </a:lnTo>
                <a:lnTo>
                  <a:pt x="0" y="142"/>
                </a:lnTo>
                <a:lnTo>
                  <a:pt x="0" y="146"/>
                </a:lnTo>
                <a:lnTo>
                  <a:pt x="0" y="150"/>
                </a:lnTo>
                <a:lnTo>
                  <a:pt x="0" y="154"/>
                </a:lnTo>
                <a:lnTo>
                  <a:pt x="0" y="158"/>
                </a:lnTo>
                <a:lnTo>
                  <a:pt x="0" y="162"/>
                </a:lnTo>
                <a:lnTo>
                  <a:pt x="0" y="166"/>
                </a:lnTo>
                <a:lnTo>
                  <a:pt x="1" y="170"/>
                </a:lnTo>
                <a:lnTo>
                  <a:pt x="1" y="174"/>
                </a:lnTo>
                <a:lnTo>
                  <a:pt x="1" y="178"/>
                </a:lnTo>
                <a:lnTo>
                  <a:pt x="2" y="181"/>
                </a:lnTo>
                <a:lnTo>
                  <a:pt x="2" y="185"/>
                </a:lnTo>
                <a:lnTo>
                  <a:pt x="2" y="189"/>
                </a:lnTo>
                <a:lnTo>
                  <a:pt x="3" y="192"/>
                </a:lnTo>
                <a:lnTo>
                  <a:pt x="3" y="196"/>
                </a:lnTo>
                <a:lnTo>
                  <a:pt x="3" y="199"/>
                </a:lnTo>
                <a:lnTo>
                  <a:pt x="3" y="203"/>
                </a:lnTo>
                <a:lnTo>
                  <a:pt x="3" y="206"/>
                </a:lnTo>
                <a:lnTo>
                  <a:pt x="3" y="210"/>
                </a:lnTo>
                <a:lnTo>
                  <a:pt x="3" y="213"/>
                </a:lnTo>
                <a:lnTo>
                  <a:pt x="2" y="217"/>
                </a:lnTo>
                <a:lnTo>
                  <a:pt x="2" y="220"/>
                </a:lnTo>
              </a:path>
            </a:pathLst>
          </a:custGeom>
          <a:noFill/>
          <a:ln w="41275" cap="rnd">
            <a:solidFill>
              <a:srgbClr val="14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MBA网络-右聚合物主链"/>
          <p:cNvSpPr/>
          <p:nvPr/>
        </p:nvSpPr>
        <p:spPr>
          <a:xfrm>
            <a:off x="9842499" y="2482850"/>
            <a:ext cx="82550" cy="1377950"/>
          </a:xfrm>
          <a:custGeom>
            <a:avLst/>
            <a:gdLst/>
            <a:ahLst/>
            <a:cxnLst/>
            <a:rect l="l" t="t" r="r" b="b"/>
            <a:pathLst>
              <a:path w="13" h="217">
                <a:moveTo>
                  <a:pt x="1" y="0"/>
                </a:moveTo>
                <a:lnTo>
                  <a:pt x="3" y="4"/>
                </a:lnTo>
                <a:lnTo>
                  <a:pt x="4" y="8"/>
                </a:lnTo>
                <a:lnTo>
                  <a:pt x="5" y="12"/>
                </a:lnTo>
                <a:lnTo>
                  <a:pt x="5" y="16"/>
                </a:lnTo>
                <a:lnTo>
                  <a:pt x="6" y="19"/>
                </a:lnTo>
                <a:lnTo>
                  <a:pt x="6" y="23"/>
                </a:lnTo>
                <a:lnTo>
                  <a:pt x="6" y="27"/>
                </a:lnTo>
                <a:lnTo>
                  <a:pt x="6" y="31"/>
                </a:lnTo>
                <a:lnTo>
                  <a:pt x="6" y="35"/>
                </a:lnTo>
                <a:lnTo>
                  <a:pt x="5" y="39"/>
                </a:lnTo>
                <a:lnTo>
                  <a:pt x="5" y="43"/>
                </a:lnTo>
                <a:lnTo>
                  <a:pt x="4" y="47"/>
                </a:lnTo>
                <a:lnTo>
                  <a:pt x="3" y="51"/>
                </a:lnTo>
                <a:lnTo>
                  <a:pt x="3" y="55"/>
                </a:lnTo>
                <a:lnTo>
                  <a:pt x="2" y="59"/>
                </a:lnTo>
                <a:lnTo>
                  <a:pt x="2" y="63"/>
                </a:lnTo>
                <a:lnTo>
                  <a:pt x="1" y="67"/>
                </a:lnTo>
                <a:lnTo>
                  <a:pt x="1" y="71"/>
                </a:lnTo>
                <a:lnTo>
                  <a:pt x="0" y="75"/>
                </a:lnTo>
                <a:lnTo>
                  <a:pt x="0" y="79"/>
                </a:lnTo>
                <a:lnTo>
                  <a:pt x="0" y="84"/>
                </a:lnTo>
                <a:lnTo>
                  <a:pt x="0" y="88"/>
                </a:lnTo>
                <a:lnTo>
                  <a:pt x="1" y="92"/>
                </a:lnTo>
                <a:lnTo>
                  <a:pt x="2" y="96"/>
                </a:lnTo>
                <a:lnTo>
                  <a:pt x="2" y="100"/>
                </a:lnTo>
                <a:lnTo>
                  <a:pt x="4" y="104"/>
                </a:lnTo>
                <a:lnTo>
                  <a:pt x="5" y="108"/>
                </a:lnTo>
                <a:lnTo>
                  <a:pt x="7" y="112"/>
                </a:lnTo>
                <a:lnTo>
                  <a:pt x="9" y="116"/>
                </a:lnTo>
                <a:lnTo>
                  <a:pt x="10" y="121"/>
                </a:lnTo>
                <a:lnTo>
                  <a:pt x="11" y="125"/>
                </a:lnTo>
                <a:lnTo>
                  <a:pt x="12" y="129"/>
                </a:lnTo>
                <a:lnTo>
                  <a:pt x="12" y="133"/>
                </a:lnTo>
                <a:lnTo>
                  <a:pt x="13" y="137"/>
                </a:lnTo>
                <a:lnTo>
                  <a:pt x="13" y="141"/>
                </a:lnTo>
                <a:lnTo>
                  <a:pt x="13" y="145"/>
                </a:lnTo>
                <a:lnTo>
                  <a:pt x="13" y="149"/>
                </a:lnTo>
                <a:lnTo>
                  <a:pt x="13" y="153"/>
                </a:lnTo>
                <a:lnTo>
                  <a:pt x="12" y="157"/>
                </a:lnTo>
                <a:lnTo>
                  <a:pt x="12" y="161"/>
                </a:lnTo>
                <a:lnTo>
                  <a:pt x="11" y="165"/>
                </a:lnTo>
                <a:lnTo>
                  <a:pt x="11" y="169"/>
                </a:lnTo>
                <a:lnTo>
                  <a:pt x="10" y="173"/>
                </a:lnTo>
                <a:lnTo>
                  <a:pt x="10" y="177"/>
                </a:lnTo>
                <a:lnTo>
                  <a:pt x="9" y="180"/>
                </a:lnTo>
                <a:lnTo>
                  <a:pt x="9" y="184"/>
                </a:lnTo>
                <a:lnTo>
                  <a:pt x="8" y="187"/>
                </a:lnTo>
                <a:lnTo>
                  <a:pt x="8" y="191"/>
                </a:lnTo>
                <a:lnTo>
                  <a:pt x="7" y="194"/>
                </a:lnTo>
                <a:lnTo>
                  <a:pt x="7" y="198"/>
                </a:lnTo>
                <a:lnTo>
                  <a:pt x="7" y="201"/>
                </a:lnTo>
                <a:lnTo>
                  <a:pt x="7" y="204"/>
                </a:lnTo>
                <a:lnTo>
                  <a:pt x="7" y="208"/>
                </a:lnTo>
                <a:lnTo>
                  <a:pt x="7" y="211"/>
                </a:lnTo>
                <a:lnTo>
                  <a:pt x="7" y="214"/>
                </a:lnTo>
                <a:lnTo>
                  <a:pt x="8" y="217"/>
                </a:lnTo>
              </a:path>
            </a:pathLst>
          </a:custGeom>
          <a:noFill/>
          <a:ln w="41275" cap="rnd">
            <a:solidFill>
              <a:srgbClr val="14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MBA网络-下交联连接"/>
          <p:cNvSpPr/>
          <p:nvPr/>
        </p:nvSpPr>
        <p:spPr>
          <a:xfrm>
            <a:off x="8375649" y="3581400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240" h="9">
                <a:moveTo>
                  <a:pt x="0" y="9"/>
                </a:moveTo>
                <a:lnTo>
                  <a:pt x="4" y="8"/>
                </a:lnTo>
                <a:lnTo>
                  <a:pt x="9" y="7"/>
                </a:lnTo>
                <a:lnTo>
                  <a:pt x="13" y="6"/>
                </a:lnTo>
                <a:lnTo>
                  <a:pt x="18" y="6"/>
                </a:lnTo>
                <a:lnTo>
                  <a:pt x="22" y="5"/>
                </a:lnTo>
                <a:lnTo>
                  <a:pt x="26" y="5"/>
                </a:lnTo>
                <a:lnTo>
                  <a:pt x="31" y="5"/>
                </a:lnTo>
                <a:lnTo>
                  <a:pt x="35" y="5"/>
                </a:lnTo>
                <a:lnTo>
                  <a:pt x="39" y="5"/>
                </a:lnTo>
                <a:lnTo>
                  <a:pt x="44" y="6"/>
                </a:lnTo>
                <a:lnTo>
                  <a:pt x="48" y="6"/>
                </a:lnTo>
                <a:lnTo>
                  <a:pt x="53" y="6"/>
                </a:lnTo>
                <a:lnTo>
                  <a:pt x="57" y="7"/>
                </a:lnTo>
                <a:lnTo>
                  <a:pt x="61" y="7"/>
                </a:lnTo>
                <a:lnTo>
                  <a:pt x="66" y="8"/>
                </a:lnTo>
                <a:lnTo>
                  <a:pt x="70" y="8"/>
                </a:lnTo>
                <a:lnTo>
                  <a:pt x="74" y="8"/>
                </a:lnTo>
                <a:lnTo>
                  <a:pt x="79" y="9"/>
                </a:lnTo>
                <a:lnTo>
                  <a:pt x="83" y="9"/>
                </a:lnTo>
                <a:lnTo>
                  <a:pt x="87" y="9"/>
                </a:lnTo>
                <a:lnTo>
                  <a:pt x="91" y="9"/>
                </a:lnTo>
                <a:lnTo>
                  <a:pt x="96" y="9"/>
                </a:lnTo>
                <a:lnTo>
                  <a:pt x="100" y="9"/>
                </a:lnTo>
                <a:lnTo>
                  <a:pt x="104" y="8"/>
                </a:lnTo>
                <a:lnTo>
                  <a:pt x="108" y="7"/>
                </a:lnTo>
                <a:lnTo>
                  <a:pt x="113" y="6"/>
                </a:lnTo>
                <a:lnTo>
                  <a:pt x="117" y="5"/>
                </a:lnTo>
                <a:lnTo>
                  <a:pt x="121" y="4"/>
                </a:lnTo>
                <a:lnTo>
                  <a:pt x="126" y="3"/>
                </a:lnTo>
                <a:lnTo>
                  <a:pt x="131" y="2"/>
                </a:lnTo>
                <a:lnTo>
                  <a:pt x="135" y="1"/>
                </a:lnTo>
                <a:lnTo>
                  <a:pt x="140" y="0"/>
                </a:lnTo>
                <a:lnTo>
                  <a:pt x="145" y="0"/>
                </a:lnTo>
                <a:lnTo>
                  <a:pt x="150" y="0"/>
                </a:lnTo>
                <a:lnTo>
                  <a:pt x="155" y="0"/>
                </a:lnTo>
                <a:lnTo>
                  <a:pt x="159" y="0"/>
                </a:lnTo>
                <a:lnTo>
                  <a:pt x="164" y="0"/>
                </a:lnTo>
                <a:lnTo>
                  <a:pt x="168" y="1"/>
                </a:lnTo>
                <a:lnTo>
                  <a:pt x="173" y="1"/>
                </a:lnTo>
                <a:lnTo>
                  <a:pt x="178" y="2"/>
                </a:lnTo>
                <a:lnTo>
                  <a:pt x="182" y="3"/>
                </a:lnTo>
                <a:lnTo>
                  <a:pt x="187" y="3"/>
                </a:lnTo>
                <a:lnTo>
                  <a:pt x="191" y="4"/>
                </a:lnTo>
                <a:lnTo>
                  <a:pt x="195" y="5"/>
                </a:lnTo>
                <a:lnTo>
                  <a:pt x="199" y="6"/>
                </a:lnTo>
                <a:lnTo>
                  <a:pt x="204" y="6"/>
                </a:lnTo>
                <a:lnTo>
                  <a:pt x="208" y="7"/>
                </a:lnTo>
                <a:lnTo>
                  <a:pt x="212" y="7"/>
                </a:lnTo>
                <a:lnTo>
                  <a:pt x="215" y="8"/>
                </a:lnTo>
                <a:lnTo>
                  <a:pt x="219" y="8"/>
                </a:lnTo>
                <a:lnTo>
                  <a:pt x="223" y="8"/>
                </a:lnTo>
                <a:lnTo>
                  <a:pt x="227" y="8"/>
                </a:lnTo>
                <a:lnTo>
                  <a:pt x="230" y="7"/>
                </a:lnTo>
                <a:lnTo>
                  <a:pt x="234" y="7"/>
                </a:lnTo>
                <a:lnTo>
                  <a:pt x="237" y="6"/>
                </a:lnTo>
                <a:lnTo>
                  <a:pt x="240" y="5"/>
                </a:lnTo>
              </a:path>
            </a:pathLst>
          </a:custGeom>
          <a:noFill/>
          <a:ln w="34925" cap="rnd">
            <a:solidFill>
              <a:srgbClr val="14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9" name="MBA酰胺桥-左端"/>
          <p:cNvCxnSpPr/>
          <p:nvPr/>
        </p:nvCxnSpPr>
        <p:spPr>
          <a:xfrm>
            <a:off x="8401049" y="2609850"/>
            <a:ext cx="101600" cy="0"/>
          </a:xfrm>
          <a:prstGeom prst="line">
            <a:avLst/>
          </a:prstGeom>
          <a:ln w="19050" cap="rnd">
            <a:solidFill>
              <a:srgbClr val="148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MBA酰胺桥-右端"/>
          <p:cNvCxnSpPr/>
          <p:nvPr/>
        </p:nvCxnSpPr>
        <p:spPr>
          <a:xfrm>
            <a:off x="9747249" y="2609850"/>
            <a:ext cx="120650" cy="0"/>
          </a:xfrm>
          <a:prstGeom prst="line">
            <a:avLst/>
          </a:prstGeom>
          <a:ln w="19050" cap="rnd">
            <a:solidFill>
              <a:srgbClr val="148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MBA酰胺桥-左羰基碳"/>
          <p:cNvSpPr txBox="1"/>
          <p:nvPr/>
        </p:nvSpPr>
        <p:spPr>
          <a:xfrm>
            <a:off x="8510587" y="2523966"/>
            <a:ext cx="136525" cy="1826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087469"/>
                </a:solidFill>
                <a:latin typeface="Arial"/>
              </a:rPr>
              <a:t>C</a:t>
            </a:r>
          </a:p>
        </p:txBody>
      </p:sp>
      <p:sp>
        <p:nvSpPr>
          <p:cNvPr id="172" name="MBA酰胺桥-左酰胺"/>
          <p:cNvSpPr txBox="1"/>
          <p:nvPr/>
        </p:nvSpPr>
        <p:spPr>
          <a:xfrm>
            <a:off x="8689974" y="2523966"/>
            <a:ext cx="260350" cy="1826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087469"/>
                </a:solidFill>
                <a:latin typeface="Arial"/>
              </a:rPr>
              <a:t>NH</a:t>
            </a:r>
          </a:p>
        </p:txBody>
      </p:sp>
      <p:sp>
        <p:nvSpPr>
          <p:cNvPr id="173" name="MBA酰胺桥-亚甲基"/>
          <p:cNvSpPr txBox="1"/>
          <p:nvPr/>
        </p:nvSpPr>
        <p:spPr>
          <a:xfrm>
            <a:off x="8984456" y="2523966"/>
            <a:ext cx="306387" cy="1826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087469"/>
                </a:solidFill>
                <a:latin typeface="Arial"/>
              </a:rPr>
              <a:t>CH₂</a:t>
            </a:r>
          </a:p>
        </p:txBody>
      </p:sp>
      <p:sp>
        <p:nvSpPr>
          <p:cNvPr id="174" name="MBA酰胺桥-右酰胺"/>
          <p:cNvSpPr txBox="1"/>
          <p:nvPr/>
        </p:nvSpPr>
        <p:spPr>
          <a:xfrm>
            <a:off x="9324974" y="2523966"/>
            <a:ext cx="260350" cy="1826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087469"/>
                </a:solidFill>
                <a:latin typeface="Arial"/>
              </a:rPr>
              <a:t>NH</a:t>
            </a:r>
          </a:p>
        </p:txBody>
      </p:sp>
      <p:sp>
        <p:nvSpPr>
          <p:cNvPr id="175" name="MBA酰胺桥-右羰基碳"/>
          <p:cNvSpPr txBox="1"/>
          <p:nvPr/>
        </p:nvSpPr>
        <p:spPr>
          <a:xfrm>
            <a:off x="9628187" y="2523966"/>
            <a:ext cx="136525" cy="1826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087469"/>
                </a:solidFill>
                <a:latin typeface="Arial"/>
              </a:rPr>
              <a:t>C</a:t>
            </a:r>
          </a:p>
        </p:txBody>
      </p:sp>
      <p:cxnSp>
        <p:nvCxnSpPr>
          <p:cNvPr id="176" name="MBA酰胺桥-单键"/>
          <p:cNvCxnSpPr/>
          <p:nvPr/>
        </p:nvCxnSpPr>
        <p:spPr>
          <a:xfrm>
            <a:off x="8623299" y="2609850"/>
            <a:ext cx="82550" cy="0"/>
          </a:xfrm>
          <a:prstGeom prst="line">
            <a:avLst/>
          </a:prstGeom>
          <a:ln w="12700" cap="rnd">
            <a:solidFill>
              <a:srgbClr val="148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MBA酰胺桥-单键"/>
          <p:cNvCxnSpPr/>
          <p:nvPr/>
        </p:nvCxnSpPr>
        <p:spPr>
          <a:xfrm>
            <a:off x="8909049" y="2609850"/>
            <a:ext cx="95250" cy="0"/>
          </a:xfrm>
          <a:prstGeom prst="line">
            <a:avLst/>
          </a:prstGeom>
          <a:ln w="12700" cap="rnd">
            <a:solidFill>
              <a:srgbClr val="148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MBA酰胺桥-单键"/>
          <p:cNvCxnSpPr/>
          <p:nvPr/>
        </p:nvCxnSpPr>
        <p:spPr>
          <a:xfrm>
            <a:off x="9245599" y="2609850"/>
            <a:ext cx="95250" cy="0"/>
          </a:xfrm>
          <a:prstGeom prst="line">
            <a:avLst/>
          </a:prstGeom>
          <a:ln w="12700" cap="rnd">
            <a:solidFill>
              <a:srgbClr val="148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MBA酰胺桥-单键"/>
          <p:cNvCxnSpPr/>
          <p:nvPr/>
        </p:nvCxnSpPr>
        <p:spPr>
          <a:xfrm>
            <a:off x="9544049" y="2609850"/>
            <a:ext cx="82550" cy="0"/>
          </a:xfrm>
          <a:prstGeom prst="line">
            <a:avLst/>
          </a:prstGeom>
          <a:ln w="12700" cap="rnd">
            <a:solidFill>
              <a:srgbClr val="148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MBA羰基-左双键1"/>
          <p:cNvCxnSpPr/>
          <p:nvPr/>
        </p:nvCxnSpPr>
        <p:spPr>
          <a:xfrm flipV="1">
            <a:off x="8547099" y="2438400"/>
            <a:ext cx="0" cy="88900"/>
          </a:xfrm>
          <a:prstGeom prst="line">
            <a:avLst/>
          </a:prstGeom>
          <a:ln w="12700" cap="rnd">
            <a:solidFill>
              <a:srgbClr val="D676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MBA羰基-左双键2"/>
          <p:cNvCxnSpPr/>
          <p:nvPr/>
        </p:nvCxnSpPr>
        <p:spPr>
          <a:xfrm flipV="1">
            <a:off x="8585199" y="2438400"/>
            <a:ext cx="0" cy="88900"/>
          </a:xfrm>
          <a:prstGeom prst="line">
            <a:avLst/>
          </a:prstGeom>
          <a:ln w="12700" cap="rnd">
            <a:solidFill>
              <a:srgbClr val="D676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MBA羰基氧-左"/>
          <p:cNvSpPr txBox="1"/>
          <p:nvPr/>
        </p:nvSpPr>
        <p:spPr>
          <a:xfrm>
            <a:off x="8503443" y="2269966"/>
            <a:ext cx="150812" cy="1826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D67661"/>
                </a:solidFill>
                <a:latin typeface="Arial"/>
              </a:rPr>
              <a:t>O</a:t>
            </a:r>
          </a:p>
        </p:txBody>
      </p:sp>
      <p:cxnSp>
        <p:nvCxnSpPr>
          <p:cNvPr id="183" name="MBA羰基-右双键1"/>
          <p:cNvCxnSpPr/>
          <p:nvPr/>
        </p:nvCxnSpPr>
        <p:spPr>
          <a:xfrm flipV="1">
            <a:off x="9664699" y="2438400"/>
            <a:ext cx="0" cy="88900"/>
          </a:xfrm>
          <a:prstGeom prst="line">
            <a:avLst/>
          </a:prstGeom>
          <a:ln w="12700" cap="rnd">
            <a:solidFill>
              <a:srgbClr val="D676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MBA羰基-右双键2"/>
          <p:cNvCxnSpPr/>
          <p:nvPr/>
        </p:nvCxnSpPr>
        <p:spPr>
          <a:xfrm flipV="1">
            <a:off x="9702799" y="2438400"/>
            <a:ext cx="0" cy="88900"/>
          </a:xfrm>
          <a:prstGeom prst="line">
            <a:avLst/>
          </a:prstGeom>
          <a:ln w="12700" cap="rnd">
            <a:solidFill>
              <a:srgbClr val="D676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MBA羰基氧-右"/>
          <p:cNvSpPr txBox="1"/>
          <p:nvPr/>
        </p:nvSpPr>
        <p:spPr>
          <a:xfrm>
            <a:off x="9621043" y="2269966"/>
            <a:ext cx="150812" cy="1826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D67661"/>
                </a:solidFill>
                <a:latin typeface="Arial"/>
              </a:rPr>
              <a:t>O</a:t>
            </a:r>
          </a:p>
        </p:txBody>
      </p:sp>
      <p:sp>
        <p:nvSpPr>
          <p:cNvPr id="186" name="MBA交联节点"/>
          <p:cNvSpPr/>
          <p:nvPr/>
        </p:nvSpPr>
        <p:spPr>
          <a:xfrm>
            <a:off x="8353424" y="2562225"/>
            <a:ext cx="95250" cy="95250"/>
          </a:xfrm>
          <a:prstGeom prst="ellipse">
            <a:avLst/>
          </a:prstGeom>
          <a:solidFill>
            <a:srgbClr val="FFFFFF"/>
          </a:solidFill>
          <a:ln w="12700" cap="rnd">
            <a:solidFill>
              <a:srgbClr val="14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MBA交联节点"/>
          <p:cNvSpPr/>
          <p:nvPr/>
        </p:nvSpPr>
        <p:spPr>
          <a:xfrm>
            <a:off x="9813924" y="2562225"/>
            <a:ext cx="95250" cy="95250"/>
          </a:xfrm>
          <a:prstGeom prst="ellipse">
            <a:avLst/>
          </a:prstGeom>
          <a:solidFill>
            <a:srgbClr val="FFFFFF"/>
          </a:solidFill>
          <a:ln w="12700" cap="rnd">
            <a:solidFill>
              <a:srgbClr val="14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MBA交联节点"/>
          <p:cNvSpPr/>
          <p:nvPr/>
        </p:nvSpPr>
        <p:spPr>
          <a:xfrm>
            <a:off x="8328024" y="3590925"/>
            <a:ext cx="95250" cy="95250"/>
          </a:xfrm>
          <a:prstGeom prst="ellipse">
            <a:avLst/>
          </a:prstGeom>
          <a:solidFill>
            <a:srgbClr val="FFFFFF"/>
          </a:solidFill>
          <a:ln w="12700" cap="rnd">
            <a:solidFill>
              <a:srgbClr val="14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MBA交联节点"/>
          <p:cNvSpPr/>
          <p:nvPr/>
        </p:nvSpPr>
        <p:spPr>
          <a:xfrm>
            <a:off x="9852024" y="3565525"/>
            <a:ext cx="95250" cy="95250"/>
          </a:xfrm>
          <a:prstGeom prst="ellipse">
            <a:avLst/>
          </a:prstGeom>
          <a:solidFill>
            <a:srgbClr val="FFFFFF"/>
          </a:solidFill>
          <a:ln w="12700" cap="rnd">
            <a:solidFill>
              <a:srgbClr val="14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候选溶剂化鞘-非实测配位数"/>
          <p:cNvSpPr/>
          <p:nvPr/>
        </p:nvSpPr>
        <p:spPr>
          <a:xfrm>
            <a:off x="8623299" y="2667000"/>
            <a:ext cx="1003300" cy="1003300"/>
          </a:xfrm>
          <a:prstGeom prst="ellipse">
            <a:avLst/>
          </a:prstGeom>
          <a:solidFill>
            <a:srgbClr val="FFFFFF"/>
          </a:solidFill>
          <a:ln w="9525" cap="rnd">
            <a:solidFill>
              <a:srgbClr val="EAD0C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本体系候选配位-DMTFA-0"/>
          <p:cNvCxnSpPr/>
          <p:nvPr/>
        </p:nvCxnSpPr>
        <p:spPr>
          <a:xfrm flipH="1" flipV="1">
            <a:off x="8904922" y="3002407"/>
            <a:ext cx="120015" cy="90678"/>
          </a:xfrm>
          <a:prstGeom prst="line">
            <a:avLst/>
          </a:prstGeom>
          <a:ln w="11430" cap="rnd">
            <a:solidFill>
              <a:srgbClr val="D676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本体系配位物种-DMTFA-0"/>
          <p:cNvSpPr/>
          <p:nvPr/>
        </p:nvSpPr>
        <p:spPr>
          <a:xfrm>
            <a:off x="8572499" y="2857500"/>
            <a:ext cx="533400" cy="190500"/>
          </a:xfrm>
          <a:prstGeom prst="roundRect">
            <a:avLst>
              <a:gd name="adj" fmla="val 50000"/>
            </a:avLst>
          </a:prstGeom>
          <a:solidFill>
            <a:srgbClr val="F6DCD0"/>
          </a:solidFill>
          <a:ln w="9525" cap="rnd">
            <a:solidFill>
              <a:srgbClr val="D69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本体系配位物种-DMTFA-0-标签"/>
          <p:cNvSpPr txBox="1"/>
          <p:nvPr/>
        </p:nvSpPr>
        <p:spPr>
          <a:xfrm>
            <a:off x="8619430" y="2880963"/>
            <a:ext cx="464939" cy="1478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850">
                <a:solidFill>
                  <a:srgbClr val="D67661"/>
                </a:solidFill>
                <a:latin typeface="Arial"/>
              </a:rPr>
              <a:t>DMTFA</a:t>
            </a:r>
          </a:p>
        </p:txBody>
      </p:sp>
      <p:cxnSp>
        <p:nvCxnSpPr>
          <p:cNvPr id="194" name="本体系候选配位-DMTFA-1"/>
          <p:cNvCxnSpPr/>
          <p:nvPr/>
        </p:nvCxnSpPr>
        <p:spPr>
          <a:xfrm>
            <a:off x="9193847" y="3264217"/>
            <a:ext cx="82677" cy="114681"/>
          </a:xfrm>
          <a:prstGeom prst="line">
            <a:avLst/>
          </a:prstGeom>
          <a:ln w="11430" cap="rnd">
            <a:solidFill>
              <a:srgbClr val="D676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本体系配位物种-DMTFA-1"/>
          <p:cNvSpPr/>
          <p:nvPr/>
        </p:nvSpPr>
        <p:spPr>
          <a:xfrm>
            <a:off x="9055099" y="3346450"/>
            <a:ext cx="533400" cy="190500"/>
          </a:xfrm>
          <a:prstGeom prst="roundRect">
            <a:avLst>
              <a:gd name="adj" fmla="val 50000"/>
            </a:avLst>
          </a:prstGeom>
          <a:solidFill>
            <a:srgbClr val="F6DCD0"/>
          </a:solidFill>
          <a:ln w="9525" cap="rnd">
            <a:solidFill>
              <a:srgbClr val="D69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本体系配位物种-DMTFA-1-标签"/>
          <p:cNvSpPr txBox="1"/>
          <p:nvPr/>
        </p:nvSpPr>
        <p:spPr>
          <a:xfrm>
            <a:off x="9102030" y="3369913"/>
            <a:ext cx="464939" cy="1478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850">
                <a:solidFill>
                  <a:srgbClr val="D67661"/>
                </a:solidFill>
                <a:latin typeface="Arial"/>
              </a:rPr>
              <a:t>DMTFA</a:t>
            </a:r>
          </a:p>
        </p:txBody>
      </p:sp>
      <p:cxnSp>
        <p:nvCxnSpPr>
          <p:cNvPr id="197" name="本体系候选配位-DFOB⁻-2"/>
          <p:cNvCxnSpPr/>
          <p:nvPr/>
        </p:nvCxnSpPr>
        <p:spPr>
          <a:xfrm flipV="1">
            <a:off x="9258299" y="3026854"/>
            <a:ext cx="160020" cy="77343"/>
          </a:xfrm>
          <a:prstGeom prst="line">
            <a:avLst/>
          </a:prstGeom>
          <a:ln w="11430" cap="rnd">
            <a:solidFill>
              <a:srgbClr val="148F8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本体系配位物种-DFOB⁻-2"/>
          <p:cNvSpPr/>
          <p:nvPr/>
        </p:nvSpPr>
        <p:spPr>
          <a:xfrm>
            <a:off x="9264649" y="2886075"/>
            <a:ext cx="482600" cy="196850"/>
          </a:xfrm>
          <a:prstGeom prst="roundRect">
            <a:avLst>
              <a:gd name="adj" fmla="val 50000"/>
            </a:avLst>
          </a:prstGeom>
          <a:solidFill>
            <a:srgbClr val="62AD98"/>
          </a:solidFill>
          <a:ln w="9525" cap="rnd">
            <a:solidFill>
              <a:srgbClr val="4C9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本体系配位物种-DFOB⁻-2-标签"/>
          <p:cNvSpPr txBox="1"/>
          <p:nvPr/>
        </p:nvSpPr>
        <p:spPr>
          <a:xfrm>
            <a:off x="9302749" y="2912713"/>
            <a:ext cx="431800" cy="1478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850">
                <a:solidFill>
                  <a:srgbClr val="FFFFFF"/>
                </a:solidFill>
                <a:latin typeface="Arial"/>
              </a:rPr>
              <a:t>DFOB⁻</a:t>
            </a:r>
          </a:p>
        </p:txBody>
      </p:sp>
      <p:cxnSp>
        <p:nvCxnSpPr>
          <p:cNvPr id="200" name="本体系候选配位-PF₆⁻-3"/>
          <p:cNvCxnSpPr/>
          <p:nvPr/>
        </p:nvCxnSpPr>
        <p:spPr>
          <a:xfrm flipH="1">
            <a:off x="8890253" y="3257550"/>
            <a:ext cx="128016" cy="106680"/>
          </a:xfrm>
          <a:prstGeom prst="line">
            <a:avLst/>
          </a:prstGeom>
          <a:ln w="11430" cap="rnd">
            <a:solidFill>
              <a:srgbClr val="148F8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本体系配位物种-PF₆⁻-3"/>
          <p:cNvSpPr/>
          <p:nvPr/>
        </p:nvSpPr>
        <p:spPr>
          <a:xfrm>
            <a:off x="8616949" y="3327400"/>
            <a:ext cx="406400" cy="190500"/>
          </a:xfrm>
          <a:prstGeom prst="roundRect">
            <a:avLst>
              <a:gd name="adj" fmla="val 50000"/>
            </a:avLst>
          </a:prstGeom>
          <a:solidFill>
            <a:srgbClr val="A69DCB"/>
          </a:solidFill>
          <a:ln w="9525" cap="rnd">
            <a:solidFill>
              <a:srgbClr val="8F8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本体系配位物种-PF₆⁻-3-标签"/>
          <p:cNvSpPr txBox="1"/>
          <p:nvPr/>
        </p:nvSpPr>
        <p:spPr>
          <a:xfrm>
            <a:off x="8685212" y="3350863"/>
            <a:ext cx="295275" cy="1478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850">
                <a:solidFill>
                  <a:srgbClr val="FFFFFF"/>
                </a:solidFill>
                <a:latin typeface="Arial"/>
              </a:rPr>
              <a:t>PF₆⁻</a:t>
            </a:r>
          </a:p>
        </p:txBody>
      </p:sp>
      <p:sp>
        <p:nvSpPr>
          <p:cNvPr id="203" name="本体系Li离子"/>
          <p:cNvSpPr/>
          <p:nvPr/>
        </p:nvSpPr>
        <p:spPr>
          <a:xfrm>
            <a:off x="8997949" y="3041650"/>
            <a:ext cx="254000" cy="254000"/>
          </a:xfrm>
          <a:prstGeom prst="ellipse">
            <a:avLst/>
          </a:prstGeom>
          <a:solidFill>
            <a:srgbClr val="EBAE3E"/>
          </a:solidFill>
          <a:ln w="9525" cap="rnd">
            <a:solidFill>
              <a:srgbClr val="C2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本体系Li离子-高光"/>
          <p:cNvSpPr/>
          <p:nvPr/>
        </p:nvSpPr>
        <p:spPr>
          <a:xfrm>
            <a:off x="9053829" y="3101340"/>
            <a:ext cx="78740" cy="58420"/>
          </a:xfrm>
          <a:prstGeom prst="ellipse">
            <a:avLst/>
          </a:prstGeom>
          <a:solidFill>
            <a:srgbClr val="FFE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本体系Li离子-文字"/>
          <p:cNvSpPr txBox="1"/>
          <p:nvPr/>
        </p:nvSpPr>
        <p:spPr>
          <a:xfrm>
            <a:off x="9043987" y="3110293"/>
            <a:ext cx="187325" cy="135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780">
                <a:solidFill>
                  <a:srgbClr val="FFFFFF"/>
                </a:solidFill>
                <a:latin typeface="Arial"/>
              </a:rPr>
              <a:t>Li⁺</a:t>
            </a:r>
          </a:p>
        </p:txBody>
      </p:sp>
      <p:cxnSp>
        <p:nvCxnSpPr>
          <p:cNvPr id="206" name="MBA-DMTFA候选氢键"/>
          <p:cNvCxnSpPr/>
          <p:nvPr/>
        </p:nvCxnSpPr>
        <p:spPr>
          <a:xfrm>
            <a:off x="8839199" y="2711450"/>
            <a:ext cx="0" cy="127000"/>
          </a:xfrm>
          <a:prstGeom prst="line">
            <a:avLst/>
          </a:prstGeom>
          <a:ln w="11430" cap="rnd">
            <a:solidFill>
              <a:srgbClr val="D676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DMTFA候选氢键受体-氧位点"/>
          <p:cNvSpPr/>
          <p:nvPr/>
        </p:nvSpPr>
        <p:spPr>
          <a:xfrm>
            <a:off x="8813799" y="2819400"/>
            <a:ext cx="50800" cy="50800"/>
          </a:xfrm>
          <a:prstGeom prst="ellipse">
            <a:avLst/>
          </a:prstGeom>
          <a:solidFill>
            <a:srgbClr val="D67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MBA-DMTFA氢键-说明"/>
          <p:cNvSpPr txBox="1"/>
          <p:nvPr/>
        </p:nvSpPr>
        <p:spPr>
          <a:xfrm>
            <a:off x="8521699" y="2708910"/>
            <a:ext cx="241300" cy="1391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800">
                <a:solidFill>
                  <a:srgbClr val="D67661"/>
                </a:solidFill>
                <a:latin typeface="Microsoft YaHei"/>
                <a:ea typeface="Microsoft YaHei"/>
              </a:rPr>
              <a:t>氢键</a:t>
            </a:r>
          </a:p>
        </p:txBody>
      </p:sp>
      <p:sp>
        <p:nvSpPr>
          <p:cNvPr id="209" name="TTE稀释剂-外侧-0"/>
          <p:cNvSpPr/>
          <p:nvPr/>
        </p:nvSpPr>
        <p:spPr>
          <a:xfrm>
            <a:off x="8226424" y="2927350"/>
            <a:ext cx="412750" cy="177800"/>
          </a:xfrm>
          <a:prstGeom prst="roundRect">
            <a:avLst>
              <a:gd name="adj" fmla="val 50000"/>
            </a:avLst>
          </a:prstGeom>
          <a:solidFill>
            <a:srgbClr val="DCEFEF"/>
          </a:solidFill>
          <a:ln w="9525" cap="rnd">
            <a:solidFill>
              <a:srgbClr val="8EB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TE稀释剂-外侧-0-标签"/>
          <p:cNvSpPr txBox="1"/>
          <p:nvPr/>
        </p:nvSpPr>
        <p:spPr>
          <a:xfrm>
            <a:off x="8316887" y="2944463"/>
            <a:ext cx="257225" cy="1478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850">
                <a:solidFill>
                  <a:srgbClr val="527F83"/>
                </a:solidFill>
                <a:latin typeface="Arial"/>
              </a:rPr>
              <a:t>TTE</a:t>
            </a:r>
          </a:p>
        </p:txBody>
      </p:sp>
      <p:sp>
        <p:nvSpPr>
          <p:cNvPr id="211" name="TTE稀释剂-外侧-1"/>
          <p:cNvSpPr/>
          <p:nvPr/>
        </p:nvSpPr>
        <p:spPr>
          <a:xfrm>
            <a:off x="9718674" y="3244850"/>
            <a:ext cx="412750" cy="177800"/>
          </a:xfrm>
          <a:prstGeom prst="roundRect">
            <a:avLst>
              <a:gd name="adj" fmla="val 50000"/>
            </a:avLst>
          </a:prstGeom>
          <a:solidFill>
            <a:srgbClr val="DCEFEF"/>
          </a:solidFill>
          <a:ln w="9525" cap="rnd">
            <a:solidFill>
              <a:srgbClr val="8EB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TE稀释剂-外侧-1-标签"/>
          <p:cNvSpPr txBox="1"/>
          <p:nvPr/>
        </p:nvSpPr>
        <p:spPr>
          <a:xfrm>
            <a:off x="9809137" y="3261963"/>
            <a:ext cx="257225" cy="1478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850">
                <a:solidFill>
                  <a:srgbClr val="527F83"/>
                </a:solidFill>
                <a:latin typeface="Arial"/>
              </a:rPr>
              <a:t>TTE</a:t>
            </a:r>
          </a:p>
        </p:txBody>
      </p:sp>
      <p:sp>
        <p:nvSpPr>
          <p:cNvPr id="213" name="TTE稀释剂-外侧-2"/>
          <p:cNvSpPr/>
          <p:nvPr/>
        </p:nvSpPr>
        <p:spPr>
          <a:xfrm>
            <a:off x="8918574" y="3898900"/>
            <a:ext cx="412750" cy="177800"/>
          </a:xfrm>
          <a:prstGeom prst="roundRect">
            <a:avLst>
              <a:gd name="adj" fmla="val 50000"/>
            </a:avLst>
          </a:prstGeom>
          <a:solidFill>
            <a:srgbClr val="DCEFEF"/>
          </a:solidFill>
          <a:ln w="9525" cap="rnd">
            <a:solidFill>
              <a:srgbClr val="8EB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TE稀释剂-外侧-2-标签"/>
          <p:cNvSpPr txBox="1"/>
          <p:nvPr/>
        </p:nvSpPr>
        <p:spPr>
          <a:xfrm>
            <a:off x="9009037" y="3916013"/>
            <a:ext cx="257225" cy="1478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850">
                <a:solidFill>
                  <a:srgbClr val="527F83"/>
                </a:solidFill>
                <a:latin typeface="Arial"/>
              </a:rPr>
              <a:t>TTE</a:t>
            </a:r>
          </a:p>
        </p:txBody>
      </p:sp>
      <p:sp>
        <p:nvSpPr>
          <p:cNvPr id="215" name="候选溶剂化结构-说明"/>
          <p:cNvSpPr txBox="1"/>
          <p:nvPr/>
        </p:nvSpPr>
        <p:spPr>
          <a:xfrm>
            <a:off x="8415337" y="3647757"/>
            <a:ext cx="1444625" cy="1913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100">
                <a:solidFill>
                  <a:srgbClr val="087469"/>
                </a:solidFill>
                <a:latin typeface="Microsoft YaHei"/>
                <a:ea typeface="Microsoft YaHei"/>
              </a:rPr>
              <a:t>溶剂</a:t>
            </a:r>
            <a:r>
              <a:rPr b="1" sz="1100">
                <a:solidFill>
                  <a:srgbClr val="087469"/>
                </a:solidFill>
                <a:latin typeface="Arial"/>
              </a:rPr>
              <a:t> / </a:t>
            </a:r>
            <a:r>
              <a:rPr b="1" sz="1100">
                <a:solidFill>
                  <a:srgbClr val="087469"/>
                </a:solidFill>
                <a:latin typeface="Microsoft YaHei"/>
                <a:ea typeface="Microsoft YaHei"/>
              </a:rPr>
              <a:t>阴离子协同配位</a:t>
            </a:r>
          </a:p>
        </p:txBody>
      </p:sp>
      <p:sp>
        <p:nvSpPr>
          <p:cNvPr id="216" name="动态配位交换-示意"/>
          <p:cNvSpPr/>
          <p:nvPr/>
        </p:nvSpPr>
        <p:spPr>
          <a:xfrm>
            <a:off x="8699499" y="3162300"/>
            <a:ext cx="311150" cy="139700"/>
          </a:xfrm>
          <a:custGeom>
            <a:avLst/>
            <a:gdLst/>
            <a:ahLst/>
            <a:cxnLst/>
            <a:rect l="l" t="t" r="r" b="b"/>
            <a:pathLst>
              <a:path w="49" h="22">
                <a:moveTo>
                  <a:pt x="0" y="0"/>
                </a:moveTo>
                <a:lnTo>
                  <a:pt x="1" y="2"/>
                </a:lnTo>
                <a:lnTo>
                  <a:pt x="2" y="4"/>
                </a:lnTo>
                <a:lnTo>
                  <a:pt x="3" y="5"/>
                </a:lnTo>
                <a:lnTo>
                  <a:pt x="4" y="7"/>
                </a:lnTo>
                <a:lnTo>
                  <a:pt x="5" y="9"/>
                </a:lnTo>
                <a:lnTo>
                  <a:pt x="7" y="10"/>
                </a:lnTo>
                <a:lnTo>
                  <a:pt x="8" y="12"/>
                </a:lnTo>
                <a:lnTo>
                  <a:pt x="9" y="13"/>
                </a:lnTo>
                <a:lnTo>
                  <a:pt x="11" y="14"/>
                </a:lnTo>
                <a:lnTo>
                  <a:pt x="13" y="15"/>
                </a:lnTo>
                <a:lnTo>
                  <a:pt x="14" y="17"/>
                </a:lnTo>
                <a:lnTo>
                  <a:pt x="16" y="17"/>
                </a:lnTo>
                <a:lnTo>
                  <a:pt x="18" y="18"/>
                </a:lnTo>
                <a:lnTo>
                  <a:pt x="20" y="19"/>
                </a:lnTo>
                <a:lnTo>
                  <a:pt x="22" y="20"/>
                </a:lnTo>
                <a:lnTo>
                  <a:pt x="24" y="20"/>
                </a:lnTo>
                <a:lnTo>
                  <a:pt x="26" y="21"/>
                </a:lnTo>
                <a:lnTo>
                  <a:pt x="28" y="21"/>
                </a:lnTo>
                <a:lnTo>
                  <a:pt x="30" y="21"/>
                </a:lnTo>
                <a:lnTo>
                  <a:pt x="32" y="22"/>
                </a:lnTo>
                <a:lnTo>
                  <a:pt x="34" y="22"/>
                </a:lnTo>
                <a:lnTo>
                  <a:pt x="36" y="21"/>
                </a:lnTo>
                <a:lnTo>
                  <a:pt x="39" y="21"/>
                </a:lnTo>
                <a:lnTo>
                  <a:pt x="41" y="21"/>
                </a:lnTo>
                <a:lnTo>
                  <a:pt x="43" y="20"/>
                </a:lnTo>
                <a:lnTo>
                  <a:pt x="45" y="20"/>
                </a:lnTo>
                <a:lnTo>
                  <a:pt x="47" y="19"/>
                </a:lnTo>
                <a:lnTo>
                  <a:pt x="49" y="18"/>
                </a:lnTo>
              </a:path>
            </a:pathLst>
          </a:custGeom>
          <a:noFill/>
          <a:ln w="15875" cap="rnd">
            <a:solidFill>
              <a:srgbClr val="14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动态配位交换-示意-箭头"/>
          <p:cNvSpPr/>
          <p:nvPr/>
        </p:nvSpPr>
        <p:spPr>
          <a:xfrm>
            <a:off x="8947149" y="3270250"/>
            <a:ext cx="63500" cy="50800"/>
          </a:xfrm>
          <a:custGeom>
            <a:avLst/>
            <a:gdLst/>
            <a:ahLst/>
            <a:cxnLst/>
            <a:rect l="l" t="t" r="r" b="b"/>
            <a:pathLst>
              <a:path w="10" h="8">
                <a:moveTo>
                  <a:pt x="10" y="1"/>
                </a:moveTo>
                <a:lnTo>
                  <a:pt x="3" y="8"/>
                </a:lnTo>
                <a:lnTo>
                  <a:pt x="0" y="0"/>
                </a:lnTo>
                <a:close/>
              </a:path>
            </a:pathLst>
          </a:custGeom>
          <a:solidFill>
            <a:srgbClr val="14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传统-迁移受限箭头"/>
          <p:cNvSpPr/>
          <p:nvPr/>
        </p:nvSpPr>
        <p:spPr>
          <a:xfrm>
            <a:off x="996950" y="2933700"/>
            <a:ext cx="736600" cy="400050"/>
          </a:xfrm>
          <a:custGeom>
            <a:avLst/>
            <a:gdLst/>
            <a:ahLst/>
            <a:cxnLst/>
            <a:rect l="l" t="t" r="r" b="b"/>
            <a:pathLst>
              <a:path w="116" h="63">
                <a:moveTo>
                  <a:pt x="0" y="55"/>
                </a:moveTo>
                <a:lnTo>
                  <a:pt x="2" y="55"/>
                </a:lnTo>
                <a:lnTo>
                  <a:pt x="3" y="55"/>
                </a:lnTo>
                <a:lnTo>
                  <a:pt x="5" y="55"/>
                </a:lnTo>
                <a:lnTo>
                  <a:pt x="6" y="55"/>
                </a:lnTo>
                <a:lnTo>
                  <a:pt x="8" y="55"/>
                </a:lnTo>
                <a:lnTo>
                  <a:pt x="9" y="55"/>
                </a:lnTo>
                <a:lnTo>
                  <a:pt x="10" y="55"/>
                </a:lnTo>
                <a:lnTo>
                  <a:pt x="12" y="55"/>
                </a:lnTo>
                <a:lnTo>
                  <a:pt x="13" y="54"/>
                </a:lnTo>
                <a:lnTo>
                  <a:pt x="14" y="54"/>
                </a:lnTo>
                <a:lnTo>
                  <a:pt x="15" y="54"/>
                </a:lnTo>
                <a:lnTo>
                  <a:pt x="16" y="54"/>
                </a:lnTo>
                <a:lnTo>
                  <a:pt x="17" y="53"/>
                </a:lnTo>
                <a:lnTo>
                  <a:pt x="18" y="53"/>
                </a:lnTo>
                <a:lnTo>
                  <a:pt x="19" y="52"/>
                </a:lnTo>
                <a:lnTo>
                  <a:pt x="20" y="52"/>
                </a:lnTo>
                <a:lnTo>
                  <a:pt x="21" y="51"/>
                </a:lnTo>
                <a:lnTo>
                  <a:pt x="22" y="50"/>
                </a:lnTo>
                <a:lnTo>
                  <a:pt x="22" y="49"/>
                </a:lnTo>
                <a:lnTo>
                  <a:pt x="23" y="48"/>
                </a:lnTo>
                <a:lnTo>
                  <a:pt x="24" y="47"/>
                </a:lnTo>
                <a:lnTo>
                  <a:pt x="24" y="46"/>
                </a:lnTo>
                <a:lnTo>
                  <a:pt x="25" y="45"/>
                </a:lnTo>
                <a:lnTo>
                  <a:pt x="26" y="44"/>
                </a:lnTo>
                <a:lnTo>
                  <a:pt x="26" y="42"/>
                </a:lnTo>
                <a:lnTo>
                  <a:pt x="27" y="41"/>
                </a:lnTo>
                <a:lnTo>
                  <a:pt x="27" y="39"/>
                </a:lnTo>
                <a:lnTo>
                  <a:pt x="28" y="37"/>
                </a:lnTo>
                <a:lnTo>
                  <a:pt x="29" y="32"/>
                </a:lnTo>
                <a:lnTo>
                  <a:pt x="31" y="28"/>
                </a:lnTo>
                <a:lnTo>
                  <a:pt x="32" y="23"/>
                </a:lnTo>
                <a:lnTo>
                  <a:pt x="34" y="20"/>
                </a:lnTo>
                <a:lnTo>
                  <a:pt x="35" y="16"/>
                </a:lnTo>
                <a:lnTo>
                  <a:pt x="37" y="13"/>
                </a:lnTo>
                <a:lnTo>
                  <a:pt x="38" y="10"/>
                </a:lnTo>
                <a:lnTo>
                  <a:pt x="39" y="7"/>
                </a:lnTo>
                <a:lnTo>
                  <a:pt x="41" y="5"/>
                </a:lnTo>
                <a:lnTo>
                  <a:pt x="42" y="3"/>
                </a:lnTo>
                <a:lnTo>
                  <a:pt x="43" y="2"/>
                </a:lnTo>
                <a:lnTo>
                  <a:pt x="45" y="1"/>
                </a:lnTo>
                <a:lnTo>
                  <a:pt x="46" y="0"/>
                </a:lnTo>
                <a:lnTo>
                  <a:pt x="47" y="0"/>
                </a:lnTo>
                <a:lnTo>
                  <a:pt x="49" y="0"/>
                </a:lnTo>
                <a:lnTo>
                  <a:pt x="50" y="0"/>
                </a:lnTo>
                <a:lnTo>
                  <a:pt x="51" y="1"/>
                </a:lnTo>
                <a:lnTo>
                  <a:pt x="53" y="2"/>
                </a:lnTo>
                <a:lnTo>
                  <a:pt x="54" y="3"/>
                </a:lnTo>
                <a:lnTo>
                  <a:pt x="55" y="5"/>
                </a:lnTo>
                <a:lnTo>
                  <a:pt x="57" y="7"/>
                </a:lnTo>
                <a:lnTo>
                  <a:pt x="58" y="9"/>
                </a:lnTo>
                <a:lnTo>
                  <a:pt x="59" y="12"/>
                </a:lnTo>
                <a:lnTo>
                  <a:pt x="61" y="15"/>
                </a:lnTo>
                <a:lnTo>
                  <a:pt x="62" y="19"/>
                </a:lnTo>
                <a:lnTo>
                  <a:pt x="63" y="23"/>
                </a:lnTo>
                <a:lnTo>
                  <a:pt x="65" y="27"/>
                </a:lnTo>
                <a:lnTo>
                  <a:pt x="66" y="32"/>
                </a:lnTo>
                <a:lnTo>
                  <a:pt x="67" y="36"/>
                </a:lnTo>
                <a:lnTo>
                  <a:pt x="68" y="39"/>
                </a:lnTo>
                <a:lnTo>
                  <a:pt x="69" y="42"/>
                </a:lnTo>
                <a:lnTo>
                  <a:pt x="71" y="45"/>
                </a:lnTo>
                <a:lnTo>
                  <a:pt x="72" y="48"/>
                </a:lnTo>
                <a:lnTo>
                  <a:pt x="73" y="51"/>
                </a:lnTo>
                <a:lnTo>
                  <a:pt x="75" y="53"/>
                </a:lnTo>
                <a:lnTo>
                  <a:pt x="76" y="55"/>
                </a:lnTo>
                <a:lnTo>
                  <a:pt x="77" y="57"/>
                </a:lnTo>
                <a:lnTo>
                  <a:pt x="79" y="58"/>
                </a:lnTo>
                <a:lnTo>
                  <a:pt x="80" y="59"/>
                </a:lnTo>
                <a:lnTo>
                  <a:pt x="82" y="60"/>
                </a:lnTo>
                <a:lnTo>
                  <a:pt x="84" y="61"/>
                </a:lnTo>
                <a:lnTo>
                  <a:pt x="85" y="62"/>
                </a:lnTo>
                <a:lnTo>
                  <a:pt x="87" y="62"/>
                </a:lnTo>
                <a:lnTo>
                  <a:pt x="89" y="63"/>
                </a:lnTo>
                <a:lnTo>
                  <a:pt x="91" y="63"/>
                </a:lnTo>
                <a:lnTo>
                  <a:pt x="93" y="62"/>
                </a:lnTo>
                <a:lnTo>
                  <a:pt x="95" y="62"/>
                </a:lnTo>
                <a:lnTo>
                  <a:pt x="97" y="61"/>
                </a:lnTo>
                <a:lnTo>
                  <a:pt x="99" y="61"/>
                </a:lnTo>
                <a:lnTo>
                  <a:pt x="101" y="60"/>
                </a:lnTo>
                <a:lnTo>
                  <a:pt x="104" y="59"/>
                </a:lnTo>
                <a:lnTo>
                  <a:pt x="106" y="57"/>
                </a:lnTo>
                <a:lnTo>
                  <a:pt x="108" y="56"/>
                </a:lnTo>
                <a:lnTo>
                  <a:pt x="111" y="54"/>
                </a:lnTo>
                <a:lnTo>
                  <a:pt x="113" y="52"/>
                </a:lnTo>
                <a:lnTo>
                  <a:pt x="116" y="50"/>
                </a:lnTo>
              </a:path>
            </a:pathLst>
          </a:custGeom>
          <a:noFill/>
          <a:ln w="28575" cap="rnd">
            <a:solidFill>
              <a:srgbClr val="497F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传统-迁移受限箭头-箭头"/>
          <p:cNvSpPr/>
          <p:nvPr/>
        </p:nvSpPr>
        <p:spPr>
          <a:xfrm>
            <a:off x="1651000" y="3251200"/>
            <a:ext cx="82550" cy="63500"/>
          </a:xfrm>
          <a:custGeom>
            <a:avLst/>
            <a:gdLst/>
            <a:ahLst/>
            <a:cxnLst/>
            <a:rect l="l" t="t" r="r" b="b"/>
            <a:pathLst>
              <a:path w="13" h="10">
                <a:moveTo>
                  <a:pt x="13" y="0"/>
                </a:moveTo>
                <a:lnTo>
                  <a:pt x="5" y="10"/>
                </a:lnTo>
                <a:lnTo>
                  <a:pt x="0" y="1"/>
                </a:lnTo>
                <a:close/>
              </a:path>
            </a:pathLst>
          </a:custGeom>
          <a:solidFill>
            <a:srgbClr val="49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传统-传输标注"/>
          <p:cNvSpPr txBox="1"/>
          <p:nvPr/>
        </p:nvSpPr>
        <p:spPr>
          <a:xfrm>
            <a:off x="1085850" y="2600007"/>
            <a:ext cx="596900" cy="1913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100">
                <a:solidFill>
                  <a:srgbClr val="497FB5"/>
                </a:solidFill>
                <a:latin typeface="Microsoft YaHei"/>
                <a:ea typeface="Microsoft YaHei"/>
              </a:rPr>
              <a:t>迁移受限</a:t>
            </a:r>
          </a:p>
        </p:txBody>
      </p:sp>
      <p:sp>
        <p:nvSpPr>
          <p:cNvPr id="221" name="传统-脱溶剂化受阻箭头"/>
          <p:cNvSpPr/>
          <p:nvPr/>
        </p:nvSpPr>
        <p:spPr>
          <a:xfrm>
            <a:off x="4343400" y="2889250"/>
            <a:ext cx="908050" cy="444500"/>
          </a:xfrm>
          <a:custGeom>
            <a:avLst/>
            <a:gdLst/>
            <a:ahLst/>
            <a:cxnLst/>
            <a:rect l="l" t="t" r="r" b="b"/>
            <a:pathLst>
              <a:path w="143" h="70">
                <a:moveTo>
                  <a:pt x="0" y="63"/>
                </a:moveTo>
                <a:lnTo>
                  <a:pt x="2" y="63"/>
                </a:lnTo>
                <a:lnTo>
                  <a:pt x="5" y="63"/>
                </a:lnTo>
                <a:lnTo>
                  <a:pt x="7" y="63"/>
                </a:lnTo>
                <a:lnTo>
                  <a:pt x="9" y="63"/>
                </a:lnTo>
                <a:lnTo>
                  <a:pt x="11" y="63"/>
                </a:lnTo>
                <a:lnTo>
                  <a:pt x="12" y="63"/>
                </a:lnTo>
                <a:lnTo>
                  <a:pt x="14" y="63"/>
                </a:lnTo>
                <a:lnTo>
                  <a:pt x="16" y="63"/>
                </a:lnTo>
                <a:lnTo>
                  <a:pt x="18" y="63"/>
                </a:lnTo>
                <a:lnTo>
                  <a:pt x="19" y="62"/>
                </a:lnTo>
                <a:lnTo>
                  <a:pt x="21" y="62"/>
                </a:lnTo>
                <a:lnTo>
                  <a:pt x="22" y="61"/>
                </a:lnTo>
                <a:lnTo>
                  <a:pt x="23" y="61"/>
                </a:lnTo>
                <a:lnTo>
                  <a:pt x="25" y="60"/>
                </a:lnTo>
                <a:lnTo>
                  <a:pt x="26" y="59"/>
                </a:lnTo>
                <a:lnTo>
                  <a:pt x="27" y="58"/>
                </a:lnTo>
                <a:lnTo>
                  <a:pt x="28" y="57"/>
                </a:lnTo>
                <a:lnTo>
                  <a:pt x="29" y="56"/>
                </a:lnTo>
                <a:lnTo>
                  <a:pt x="30" y="54"/>
                </a:lnTo>
                <a:lnTo>
                  <a:pt x="31" y="53"/>
                </a:lnTo>
                <a:lnTo>
                  <a:pt x="32" y="51"/>
                </a:lnTo>
                <a:lnTo>
                  <a:pt x="33" y="50"/>
                </a:lnTo>
                <a:lnTo>
                  <a:pt x="34" y="48"/>
                </a:lnTo>
                <a:lnTo>
                  <a:pt x="35" y="45"/>
                </a:lnTo>
                <a:lnTo>
                  <a:pt x="36" y="43"/>
                </a:lnTo>
                <a:lnTo>
                  <a:pt x="36" y="41"/>
                </a:lnTo>
                <a:lnTo>
                  <a:pt x="37" y="38"/>
                </a:lnTo>
                <a:lnTo>
                  <a:pt x="38" y="35"/>
                </a:lnTo>
                <a:lnTo>
                  <a:pt x="39" y="30"/>
                </a:lnTo>
                <a:lnTo>
                  <a:pt x="41" y="25"/>
                </a:lnTo>
                <a:lnTo>
                  <a:pt x="42" y="21"/>
                </a:lnTo>
                <a:lnTo>
                  <a:pt x="44" y="17"/>
                </a:lnTo>
                <a:lnTo>
                  <a:pt x="45" y="14"/>
                </a:lnTo>
                <a:lnTo>
                  <a:pt x="46" y="11"/>
                </a:lnTo>
                <a:lnTo>
                  <a:pt x="48" y="8"/>
                </a:lnTo>
                <a:lnTo>
                  <a:pt x="49" y="6"/>
                </a:lnTo>
                <a:lnTo>
                  <a:pt x="51" y="4"/>
                </a:lnTo>
                <a:lnTo>
                  <a:pt x="52" y="2"/>
                </a:lnTo>
                <a:lnTo>
                  <a:pt x="53" y="1"/>
                </a:lnTo>
                <a:lnTo>
                  <a:pt x="55" y="0"/>
                </a:lnTo>
                <a:lnTo>
                  <a:pt x="56" y="0"/>
                </a:lnTo>
                <a:lnTo>
                  <a:pt x="58" y="0"/>
                </a:lnTo>
                <a:lnTo>
                  <a:pt x="59" y="0"/>
                </a:lnTo>
                <a:lnTo>
                  <a:pt x="60" y="1"/>
                </a:lnTo>
                <a:lnTo>
                  <a:pt x="62" y="2"/>
                </a:lnTo>
                <a:lnTo>
                  <a:pt x="63" y="3"/>
                </a:lnTo>
                <a:lnTo>
                  <a:pt x="64" y="5"/>
                </a:lnTo>
                <a:lnTo>
                  <a:pt x="66" y="7"/>
                </a:lnTo>
                <a:lnTo>
                  <a:pt x="67" y="10"/>
                </a:lnTo>
                <a:lnTo>
                  <a:pt x="68" y="13"/>
                </a:lnTo>
                <a:lnTo>
                  <a:pt x="69" y="16"/>
                </a:lnTo>
                <a:lnTo>
                  <a:pt x="70" y="20"/>
                </a:lnTo>
                <a:lnTo>
                  <a:pt x="72" y="24"/>
                </a:lnTo>
                <a:lnTo>
                  <a:pt x="73" y="28"/>
                </a:lnTo>
                <a:lnTo>
                  <a:pt x="74" y="33"/>
                </a:lnTo>
                <a:lnTo>
                  <a:pt x="75" y="38"/>
                </a:lnTo>
                <a:lnTo>
                  <a:pt x="76" y="42"/>
                </a:lnTo>
                <a:lnTo>
                  <a:pt x="77" y="46"/>
                </a:lnTo>
                <a:lnTo>
                  <a:pt x="78" y="49"/>
                </a:lnTo>
                <a:lnTo>
                  <a:pt x="80" y="52"/>
                </a:lnTo>
                <a:lnTo>
                  <a:pt x="81" y="55"/>
                </a:lnTo>
                <a:lnTo>
                  <a:pt x="83" y="58"/>
                </a:lnTo>
                <a:lnTo>
                  <a:pt x="85" y="60"/>
                </a:lnTo>
                <a:lnTo>
                  <a:pt x="87" y="62"/>
                </a:lnTo>
                <a:lnTo>
                  <a:pt x="89" y="64"/>
                </a:lnTo>
                <a:lnTo>
                  <a:pt x="91" y="66"/>
                </a:lnTo>
                <a:lnTo>
                  <a:pt x="93" y="67"/>
                </a:lnTo>
                <a:lnTo>
                  <a:pt x="96" y="68"/>
                </a:lnTo>
                <a:lnTo>
                  <a:pt x="98" y="69"/>
                </a:lnTo>
                <a:lnTo>
                  <a:pt x="101" y="69"/>
                </a:lnTo>
                <a:lnTo>
                  <a:pt x="103" y="70"/>
                </a:lnTo>
                <a:lnTo>
                  <a:pt x="106" y="70"/>
                </a:lnTo>
                <a:lnTo>
                  <a:pt x="109" y="70"/>
                </a:lnTo>
                <a:lnTo>
                  <a:pt x="112" y="70"/>
                </a:lnTo>
                <a:lnTo>
                  <a:pt x="115" y="69"/>
                </a:lnTo>
                <a:lnTo>
                  <a:pt x="118" y="68"/>
                </a:lnTo>
                <a:lnTo>
                  <a:pt x="121" y="68"/>
                </a:lnTo>
                <a:lnTo>
                  <a:pt x="124" y="66"/>
                </a:lnTo>
                <a:lnTo>
                  <a:pt x="127" y="65"/>
                </a:lnTo>
                <a:lnTo>
                  <a:pt x="130" y="64"/>
                </a:lnTo>
                <a:lnTo>
                  <a:pt x="133" y="62"/>
                </a:lnTo>
                <a:lnTo>
                  <a:pt x="137" y="60"/>
                </a:lnTo>
                <a:lnTo>
                  <a:pt x="140" y="58"/>
                </a:lnTo>
                <a:lnTo>
                  <a:pt x="143" y="56"/>
                </a:lnTo>
              </a:path>
            </a:pathLst>
          </a:custGeom>
          <a:noFill/>
          <a:ln w="28575" cap="rnd">
            <a:solidFill>
              <a:srgbClr val="497F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传统-脱溶剂化受阻箭头-箭头"/>
          <p:cNvSpPr/>
          <p:nvPr/>
        </p:nvSpPr>
        <p:spPr>
          <a:xfrm>
            <a:off x="5168900" y="3238500"/>
            <a:ext cx="82550" cy="63500"/>
          </a:xfrm>
          <a:custGeom>
            <a:avLst/>
            <a:gdLst/>
            <a:ahLst/>
            <a:cxnLst/>
            <a:rect l="l" t="t" r="r" b="b"/>
            <a:pathLst>
              <a:path w="13" h="10">
                <a:moveTo>
                  <a:pt x="13" y="1"/>
                </a:moveTo>
                <a:lnTo>
                  <a:pt x="4" y="10"/>
                </a:lnTo>
                <a:lnTo>
                  <a:pt x="0" y="0"/>
                </a:lnTo>
                <a:close/>
              </a:path>
            </a:pathLst>
          </a:custGeom>
          <a:solidFill>
            <a:srgbClr val="49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传统-脱溶剂化标注"/>
          <p:cNvSpPr txBox="1"/>
          <p:nvPr/>
        </p:nvSpPr>
        <p:spPr>
          <a:xfrm>
            <a:off x="4381500" y="2593816"/>
            <a:ext cx="838200" cy="1826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497FB5"/>
                </a:solidFill>
                <a:latin typeface="Microsoft YaHei"/>
                <a:ea typeface="Microsoft YaHei"/>
              </a:rPr>
              <a:t>脱溶剂化受阻</a:t>
            </a:r>
          </a:p>
        </p:txBody>
      </p:sp>
      <p:sp>
        <p:nvSpPr>
          <p:cNvPr id="224" name="设计-配位交换箭头"/>
          <p:cNvSpPr/>
          <p:nvPr/>
        </p:nvSpPr>
        <p:spPr>
          <a:xfrm>
            <a:off x="6953249" y="3181350"/>
            <a:ext cx="793750" cy="69850"/>
          </a:xfrm>
          <a:custGeom>
            <a:avLst/>
            <a:gdLst/>
            <a:ahLst/>
            <a:cxnLst/>
            <a:rect l="l" t="t" r="r" b="b"/>
            <a:pathLst>
              <a:path w="125" h="11">
                <a:moveTo>
                  <a:pt x="0" y="11"/>
                </a:moveTo>
                <a:lnTo>
                  <a:pt x="3" y="11"/>
                </a:lnTo>
                <a:lnTo>
                  <a:pt x="6" y="11"/>
                </a:lnTo>
                <a:lnTo>
                  <a:pt x="8" y="11"/>
                </a:lnTo>
                <a:lnTo>
                  <a:pt x="11" y="10"/>
                </a:lnTo>
                <a:lnTo>
                  <a:pt x="13" y="10"/>
                </a:lnTo>
                <a:lnTo>
                  <a:pt x="16" y="10"/>
                </a:lnTo>
                <a:lnTo>
                  <a:pt x="18" y="10"/>
                </a:lnTo>
                <a:lnTo>
                  <a:pt x="21" y="9"/>
                </a:lnTo>
                <a:lnTo>
                  <a:pt x="23" y="9"/>
                </a:lnTo>
                <a:lnTo>
                  <a:pt x="25" y="8"/>
                </a:lnTo>
                <a:lnTo>
                  <a:pt x="27" y="8"/>
                </a:lnTo>
                <a:lnTo>
                  <a:pt x="30" y="7"/>
                </a:lnTo>
                <a:lnTo>
                  <a:pt x="32" y="7"/>
                </a:lnTo>
                <a:lnTo>
                  <a:pt x="34" y="6"/>
                </a:lnTo>
                <a:lnTo>
                  <a:pt x="36" y="6"/>
                </a:lnTo>
                <a:lnTo>
                  <a:pt x="38" y="5"/>
                </a:lnTo>
                <a:lnTo>
                  <a:pt x="40" y="5"/>
                </a:lnTo>
                <a:lnTo>
                  <a:pt x="43" y="4"/>
                </a:lnTo>
                <a:lnTo>
                  <a:pt x="45" y="4"/>
                </a:lnTo>
                <a:lnTo>
                  <a:pt x="47" y="3"/>
                </a:lnTo>
                <a:lnTo>
                  <a:pt x="49" y="3"/>
                </a:lnTo>
                <a:lnTo>
                  <a:pt x="51" y="2"/>
                </a:lnTo>
                <a:lnTo>
                  <a:pt x="53" y="2"/>
                </a:lnTo>
                <a:lnTo>
                  <a:pt x="56" y="1"/>
                </a:lnTo>
                <a:lnTo>
                  <a:pt x="58" y="1"/>
                </a:lnTo>
                <a:lnTo>
                  <a:pt x="60" y="1"/>
                </a:lnTo>
                <a:lnTo>
                  <a:pt x="63" y="0"/>
                </a:lnTo>
                <a:lnTo>
                  <a:pt x="65" y="0"/>
                </a:lnTo>
                <a:lnTo>
                  <a:pt x="67" y="0"/>
                </a:lnTo>
                <a:lnTo>
                  <a:pt x="69" y="0"/>
                </a:lnTo>
                <a:lnTo>
                  <a:pt x="71" y="0"/>
                </a:lnTo>
                <a:lnTo>
                  <a:pt x="73" y="0"/>
                </a:lnTo>
                <a:lnTo>
                  <a:pt x="75" y="0"/>
                </a:lnTo>
                <a:lnTo>
                  <a:pt x="77" y="0"/>
                </a:lnTo>
                <a:lnTo>
                  <a:pt x="79" y="1"/>
                </a:lnTo>
                <a:lnTo>
                  <a:pt x="81" y="1"/>
                </a:lnTo>
                <a:lnTo>
                  <a:pt x="83" y="1"/>
                </a:lnTo>
                <a:lnTo>
                  <a:pt x="85" y="2"/>
                </a:lnTo>
                <a:lnTo>
                  <a:pt x="87" y="2"/>
                </a:lnTo>
                <a:lnTo>
                  <a:pt x="89" y="3"/>
                </a:lnTo>
                <a:lnTo>
                  <a:pt x="90" y="3"/>
                </a:lnTo>
                <a:lnTo>
                  <a:pt x="92" y="3"/>
                </a:lnTo>
                <a:lnTo>
                  <a:pt x="94" y="4"/>
                </a:lnTo>
                <a:lnTo>
                  <a:pt x="96" y="4"/>
                </a:lnTo>
                <a:lnTo>
                  <a:pt x="98" y="5"/>
                </a:lnTo>
                <a:lnTo>
                  <a:pt x="100" y="5"/>
                </a:lnTo>
                <a:lnTo>
                  <a:pt x="103" y="6"/>
                </a:lnTo>
                <a:lnTo>
                  <a:pt x="105" y="6"/>
                </a:lnTo>
                <a:lnTo>
                  <a:pt x="107" y="6"/>
                </a:lnTo>
                <a:lnTo>
                  <a:pt x="109" y="7"/>
                </a:lnTo>
                <a:lnTo>
                  <a:pt x="112" y="7"/>
                </a:lnTo>
                <a:lnTo>
                  <a:pt x="114" y="7"/>
                </a:lnTo>
                <a:lnTo>
                  <a:pt x="117" y="7"/>
                </a:lnTo>
                <a:lnTo>
                  <a:pt x="119" y="7"/>
                </a:lnTo>
                <a:lnTo>
                  <a:pt x="122" y="7"/>
                </a:lnTo>
                <a:lnTo>
                  <a:pt x="125" y="7"/>
                </a:lnTo>
              </a:path>
            </a:pathLst>
          </a:custGeom>
          <a:noFill/>
          <a:ln w="28575" cap="rnd">
            <a:solidFill>
              <a:srgbClr val="148F8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设计-配位交换箭头-箭头"/>
          <p:cNvSpPr/>
          <p:nvPr/>
        </p:nvSpPr>
        <p:spPr>
          <a:xfrm>
            <a:off x="7670799" y="3187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12" y="6"/>
                </a:move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4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设计-交换标注"/>
          <p:cNvSpPr txBox="1"/>
          <p:nvPr/>
        </p:nvSpPr>
        <p:spPr>
          <a:xfrm>
            <a:off x="6959599" y="2606516"/>
            <a:ext cx="838200" cy="1826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087469"/>
                </a:solidFill>
                <a:latin typeface="Microsoft YaHei"/>
                <a:ea typeface="Microsoft YaHei"/>
              </a:rPr>
              <a:t>促进动态交换</a:t>
            </a:r>
          </a:p>
        </p:txBody>
      </p:sp>
      <p:sp>
        <p:nvSpPr>
          <p:cNvPr id="227" name="设计-脱溶剂化调控箭头"/>
          <p:cNvSpPr/>
          <p:nvPr/>
        </p:nvSpPr>
        <p:spPr>
          <a:xfrm>
            <a:off x="10483849" y="3175000"/>
            <a:ext cx="781050" cy="76200"/>
          </a:xfrm>
          <a:custGeom>
            <a:avLst/>
            <a:gdLst/>
            <a:ahLst/>
            <a:cxnLst/>
            <a:rect l="l" t="t" r="r" b="b"/>
            <a:pathLst>
              <a:path w="123" h="12">
                <a:moveTo>
                  <a:pt x="0" y="12"/>
                </a:moveTo>
                <a:lnTo>
                  <a:pt x="2" y="12"/>
                </a:lnTo>
                <a:lnTo>
                  <a:pt x="5" y="12"/>
                </a:lnTo>
                <a:lnTo>
                  <a:pt x="7" y="12"/>
                </a:lnTo>
                <a:lnTo>
                  <a:pt x="9" y="11"/>
                </a:lnTo>
                <a:lnTo>
                  <a:pt x="11" y="11"/>
                </a:lnTo>
                <a:lnTo>
                  <a:pt x="13" y="11"/>
                </a:lnTo>
                <a:lnTo>
                  <a:pt x="15" y="10"/>
                </a:lnTo>
                <a:lnTo>
                  <a:pt x="17" y="10"/>
                </a:lnTo>
                <a:lnTo>
                  <a:pt x="18" y="9"/>
                </a:lnTo>
                <a:lnTo>
                  <a:pt x="20" y="9"/>
                </a:lnTo>
                <a:lnTo>
                  <a:pt x="22" y="8"/>
                </a:lnTo>
                <a:lnTo>
                  <a:pt x="24" y="7"/>
                </a:lnTo>
                <a:lnTo>
                  <a:pt x="26" y="7"/>
                </a:lnTo>
                <a:lnTo>
                  <a:pt x="27" y="6"/>
                </a:lnTo>
                <a:lnTo>
                  <a:pt x="29" y="5"/>
                </a:lnTo>
                <a:lnTo>
                  <a:pt x="31" y="5"/>
                </a:lnTo>
                <a:lnTo>
                  <a:pt x="32" y="4"/>
                </a:lnTo>
                <a:lnTo>
                  <a:pt x="34" y="3"/>
                </a:lnTo>
                <a:lnTo>
                  <a:pt x="36" y="3"/>
                </a:lnTo>
                <a:lnTo>
                  <a:pt x="38" y="2"/>
                </a:lnTo>
                <a:lnTo>
                  <a:pt x="39" y="2"/>
                </a:lnTo>
                <a:lnTo>
                  <a:pt x="41" y="1"/>
                </a:lnTo>
                <a:lnTo>
                  <a:pt x="43" y="1"/>
                </a:lnTo>
                <a:lnTo>
                  <a:pt x="45" y="1"/>
                </a:lnTo>
                <a:lnTo>
                  <a:pt x="47" y="0"/>
                </a:lnTo>
                <a:lnTo>
                  <a:pt x="49" y="0"/>
                </a:lnTo>
                <a:lnTo>
                  <a:pt x="51" y="0"/>
                </a:lnTo>
                <a:lnTo>
                  <a:pt x="53" y="0"/>
                </a:lnTo>
                <a:lnTo>
                  <a:pt x="56" y="0"/>
                </a:lnTo>
                <a:lnTo>
                  <a:pt x="58" y="0"/>
                </a:lnTo>
                <a:lnTo>
                  <a:pt x="61" y="0"/>
                </a:lnTo>
                <a:lnTo>
                  <a:pt x="64" y="1"/>
                </a:lnTo>
                <a:lnTo>
                  <a:pt x="66" y="1"/>
                </a:lnTo>
                <a:lnTo>
                  <a:pt x="69" y="1"/>
                </a:lnTo>
                <a:lnTo>
                  <a:pt x="71" y="2"/>
                </a:lnTo>
                <a:lnTo>
                  <a:pt x="74" y="2"/>
                </a:lnTo>
                <a:lnTo>
                  <a:pt x="76" y="3"/>
                </a:lnTo>
                <a:lnTo>
                  <a:pt x="79" y="3"/>
                </a:lnTo>
                <a:lnTo>
                  <a:pt x="81" y="4"/>
                </a:lnTo>
                <a:lnTo>
                  <a:pt x="83" y="4"/>
                </a:lnTo>
                <a:lnTo>
                  <a:pt x="86" y="5"/>
                </a:lnTo>
                <a:lnTo>
                  <a:pt x="88" y="6"/>
                </a:lnTo>
                <a:lnTo>
                  <a:pt x="90" y="6"/>
                </a:lnTo>
                <a:lnTo>
                  <a:pt x="93" y="7"/>
                </a:lnTo>
                <a:lnTo>
                  <a:pt x="95" y="7"/>
                </a:lnTo>
                <a:lnTo>
                  <a:pt x="97" y="8"/>
                </a:lnTo>
                <a:lnTo>
                  <a:pt x="100" y="8"/>
                </a:lnTo>
                <a:lnTo>
                  <a:pt x="102" y="9"/>
                </a:lnTo>
                <a:lnTo>
                  <a:pt x="105" y="9"/>
                </a:lnTo>
                <a:lnTo>
                  <a:pt x="107" y="9"/>
                </a:lnTo>
                <a:lnTo>
                  <a:pt x="110" y="9"/>
                </a:lnTo>
                <a:lnTo>
                  <a:pt x="112" y="9"/>
                </a:lnTo>
                <a:lnTo>
                  <a:pt x="115" y="9"/>
                </a:lnTo>
                <a:lnTo>
                  <a:pt x="118" y="9"/>
                </a:lnTo>
                <a:lnTo>
                  <a:pt x="120" y="9"/>
                </a:lnTo>
                <a:lnTo>
                  <a:pt x="123" y="9"/>
                </a:lnTo>
              </a:path>
            </a:pathLst>
          </a:custGeom>
          <a:noFill/>
          <a:ln w="28575" cap="rnd">
            <a:solidFill>
              <a:srgbClr val="D6766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设计-脱溶剂化调控箭头-箭头"/>
          <p:cNvSpPr/>
          <p:nvPr/>
        </p:nvSpPr>
        <p:spPr>
          <a:xfrm>
            <a:off x="11188699" y="31940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12" y="6"/>
                </a:move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D67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设计-脱溶剂化标注"/>
          <p:cNvSpPr txBox="1"/>
          <p:nvPr/>
        </p:nvSpPr>
        <p:spPr>
          <a:xfrm>
            <a:off x="10413999" y="2606516"/>
            <a:ext cx="838200" cy="1826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050">
                <a:solidFill>
                  <a:srgbClr val="D67661"/>
                </a:solidFill>
                <a:latin typeface="Microsoft YaHei"/>
                <a:ea typeface="Microsoft YaHei"/>
              </a:rPr>
              <a:t>脱溶剂化调控</a:t>
            </a:r>
          </a:p>
        </p:txBody>
      </p:sp>
      <p:sp>
        <p:nvSpPr>
          <p:cNvPr id="230" name="传统正极-副反应"/>
          <p:cNvSpPr txBox="1"/>
          <p:nvPr/>
        </p:nvSpPr>
        <p:spPr>
          <a:xfrm>
            <a:off x="1000125" y="3705066"/>
            <a:ext cx="704850" cy="1826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68798D"/>
                </a:solidFill>
                <a:latin typeface="Microsoft YaHei"/>
                <a:ea typeface="Microsoft YaHei"/>
              </a:rPr>
              <a:t>界面副反应</a:t>
            </a:r>
          </a:p>
        </p:txBody>
      </p:sp>
      <p:sp>
        <p:nvSpPr>
          <p:cNvPr id="231" name="传统负极-通量"/>
          <p:cNvSpPr txBox="1"/>
          <p:nvPr/>
        </p:nvSpPr>
        <p:spPr>
          <a:xfrm>
            <a:off x="4381500" y="3705066"/>
            <a:ext cx="838200" cy="1826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68798D"/>
                </a:solidFill>
                <a:latin typeface="Microsoft YaHei"/>
                <a:ea typeface="Microsoft YaHei"/>
              </a:rPr>
              <a:t>局部通量不均</a:t>
            </a:r>
          </a:p>
        </p:txBody>
      </p:sp>
      <p:sp>
        <p:nvSpPr>
          <p:cNvPr id="232" name="设计正极-成膜"/>
          <p:cNvSpPr txBox="1"/>
          <p:nvPr/>
        </p:nvSpPr>
        <p:spPr>
          <a:xfrm>
            <a:off x="6902449" y="3705066"/>
            <a:ext cx="838200" cy="1826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087469"/>
                </a:solidFill>
                <a:latin typeface="Microsoft YaHei"/>
                <a:ea typeface="Microsoft YaHei"/>
              </a:rPr>
              <a:t>界面成膜调控</a:t>
            </a:r>
          </a:p>
        </p:txBody>
      </p:sp>
      <p:sp>
        <p:nvSpPr>
          <p:cNvPr id="233" name="设计负极-通量"/>
          <p:cNvSpPr txBox="1"/>
          <p:nvPr/>
        </p:nvSpPr>
        <p:spPr>
          <a:xfrm>
            <a:off x="10433843" y="3711575"/>
            <a:ext cx="798512" cy="1739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000">
                <a:solidFill>
                  <a:srgbClr val="087469"/>
                </a:solidFill>
                <a:latin typeface="Microsoft YaHei"/>
                <a:ea typeface="Microsoft YaHei"/>
              </a:rPr>
              <a:t>均匀</a:t>
            </a:r>
            <a:r>
              <a:rPr b="0" sz="1000">
                <a:solidFill>
                  <a:srgbClr val="087469"/>
                </a:solidFill>
                <a:latin typeface="Arial"/>
              </a:rPr>
              <a:t> Li⁺ </a:t>
            </a:r>
            <a:r>
              <a:rPr b="0" sz="1000">
                <a:solidFill>
                  <a:srgbClr val="087469"/>
                </a:solidFill>
                <a:latin typeface="Microsoft YaHei"/>
                <a:ea typeface="Microsoft YaHei"/>
              </a:rPr>
              <a:t>通量</a:t>
            </a:r>
          </a:p>
        </p:txBody>
      </p:sp>
      <p:cxnSp>
        <p:nvCxnSpPr>
          <p:cNvPr id="234" name="传统总结分隔线"/>
          <p:cNvCxnSpPr/>
          <p:nvPr/>
        </p:nvCxnSpPr>
        <p:spPr>
          <a:xfrm>
            <a:off x="488950" y="4362450"/>
            <a:ext cx="5213350" cy="0"/>
          </a:xfrm>
          <a:prstGeom prst="line">
            <a:avLst/>
          </a:prstGeom>
          <a:ln w="7620" cap="rnd">
            <a:solidFill>
              <a:srgbClr val="DF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设计总结分隔线"/>
          <p:cNvCxnSpPr/>
          <p:nvPr/>
        </p:nvCxnSpPr>
        <p:spPr>
          <a:xfrm>
            <a:off x="6489699" y="4362450"/>
            <a:ext cx="5213350" cy="0"/>
          </a:xfrm>
          <a:prstGeom prst="line">
            <a:avLst/>
          </a:prstGeom>
          <a:ln w="7620" cap="rnd">
            <a:solidFill>
              <a:srgbClr val="DF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传统瓶颈总结"/>
          <p:cNvSpPr txBox="1"/>
          <p:nvPr/>
        </p:nvSpPr>
        <p:spPr>
          <a:xfrm>
            <a:off x="1760537" y="4409122"/>
            <a:ext cx="2689225" cy="2261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497FB5"/>
                </a:solidFill>
                <a:latin typeface="Microsoft YaHei"/>
                <a:ea typeface="Microsoft YaHei"/>
              </a:rPr>
              <a:t>配位束缚</a:t>
            </a:r>
            <a:r>
              <a:rPr b="1" sz="1300">
                <a:solidFill>
                  <a:srgbClr val="497FB5"/>
                </a:solidFill>
                <a:latin typeface="Arial"/>
              </a:rPr>
              <a:t> + </a:t>
            </a:r>
            <a:r>
              <a:rPr b="1" sz="1300">
                <a:solidFill>
                  <a:srgbClr val="497FB5"/>
                </a:solidFill>
                <a:latin typeface="Microsoft YaHei"/>
                <a:ea typeface="Microsoft YaHei"/>
              </a:rPr>
              <a:t>非均匀传输</a:t>
            </a:r>
            <a:r>
              <a:rPr b="1" sz="1300">
                <a:solidFill>
                  <a:srgbClr val="497FB5"/>
                </a:solidFill>
                <a:latin typeface="Arial"/>
              </a:rPr>
              <a:t> + </a:t>
            </a:r>
            <a:r>
              <a:rPr b="1" sz="1300">
                <a:solidFill>
                  <a:srgbClr val="497FB5"/>
                </a:solidFill>
                <a:latin typeface="Microsoft YaHei"/>
                <a:ea typeface="Microsoft YaHei"/>
              </a:rPr>
              <a:t>界面失稳</a:t>
            </a:r>
          </a:p>
        </p:txBody>
      </p:sp>
      <p:sp>
        <p:nvSpPr>
          <p:cNvPr id="237" name="设计目标总结"/>
          <p:cNvSpPr txBox="1"/>
          <p:nvPr/>
        </p:nvSpPr>
        <p:spPr>
          <a:xfrm>
            <a:off x="7793037" y="4409122"/>
            <a:ext cx="2689225" cy="2261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087469"/>
                </a:solidFill>
                <a:latin typeface="Microsoft YaHei"/>
                <a:ea typeface="Microsoft YaHei"/>
              </a:rPr>
              <a:t>锁液稳网</a:t>
            </a:r>
            <a:r>
              <a:rPr b="1" sz="1300">
                <a:solidFill>
                  <a:srgbClr val="087469"/>
                </a:solidFill>
                <a:latin typeface="Arial"/>
              </a:rPr>
              <a:t> + </a:t>
            </a:r>
            <a:r>
              <a:rPr b="1" sz="1300">
                <a:solidFill>
                  <a:srgbClr val="087469"/>
                </a:solidFill>
                <a:latin typeface="Microsoft YaHei"/>
                <a:ea typeface="Microsoft YaHei"/>
              </a:rPr>
              <a:t>动态配位</a:t>
            </a:r>
            <a:r>
              <a:rPr b="1" sz="1300">
                <a:solidFill>
                  <a:srgbClr val="087469"/>
                </a:solidFill>
                <a:latin typeface="Arial"/>
              </a:rPr>
              <a:t> + </a:t>
            </a:r>
            <a:r>
              <a:rPr b="1" sz="1300">
                <a:solidFill>
                  <a:srgbClr val="087469"/>
                </a:solidFill>
                <a:latin typeface="Microsoft YaHei"/>
                <a:ea typeface="Microsoft YaHei"/>
              </a:rPr>
              <a:t>双界面稳定</a:t>
            </a:r>
          </a:p>
        </p:txBody>
      </p:sp>
      <p:sp>
        <p:nvSpPr>
          <p:cNvPr id="238" name="对比转向圆底"/>
          <p:cNvSpPr/>
          <p:nvPr/>
        </p:nvSpPr>
        <p:spPr>
          <a:xfrm>
            <a:off x="5943600" y="2921000"/>
            <a:ext cx="304800" cy="304800"/>
          </a:xfrm>
          <a:prstGeom prst="ellipse">
            <a:avLst/>
          </a:prstGeom>
          <a:solidFill>
            <a:srgbClr val="E5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9" name="对比转向箭杆"/>
          <p:cNvCxnSpPr/>
          <p:nvPr/>
        </p:nvCxnSpPr>
        <p:spPr>
          <a:xfrm>
            <a:off x="6013450" y="3073400"/>
            <a:ext cx="146049" cy="0"/>
          </a:xfrm>
          <a:prstGeom prst="line">
            <a:avLst/>
          </a:prstGeom>
          <a:ln w="19050" cap="rnd">
            <a:solidFill>
              <a:srgbClr val="148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对比转向箭头"/>
          <p:cNvSpPr/>
          <p:nvPr/>
        </p:nvSpPr>
        <p:spPr>
          <a:xfrm>
            <a:off x="6115049" y="3041650"/>
            <a:ext cx="69850" cy="63500"/>
          </a:xfrm>
          <a:custGeom>
            <a:avLst/>
            <a:gdLst/>
            <a:ahLst/>
            <a:cxnLst/>
            <a:rect l="l" t="t" r="r" b="b"/>
            <a:pathLst>
              <a:path w="11" h="10">
                <a:moveTo>
                  <a:pt x="11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14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1" name="图例-MBA网络"/>
          <p:cNvCxnSpPr/>
          <p:nvPr/>
        </p:nvCxnSpPr>
        <p:spPr>
          <a:xfrm>
            <a:off x="482600" y="4978400"/>
            <a:ext cx="241300" cy="0"/>
          </a:xfrm>
          <a:prstGeom prst="line">
            <a:avLst/>
          </a:prstGeom>
          <a:ln w="31750" cap="rnd">
            <a:solidFill>
              <a:srgbClr val="148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图例-MBA文字"/>
          <p:cNvSpPr txBox="1"/>
          <p:nvPr/>
        </p:nvSpPr>
        <p:spPr>
          <a:xfrm>
            <a:off x="800100" y="4873148"/>
            <a:ext cx="701675" cy="2000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150">
                <a:solidFill>
                  <a:srgbClr val="68798D"/>
                </a:solidFill>
                <a:latin typeface="Arial"/>
              </a:rPr>
              <a:t>MBA </a:t>
            </a:r>
            <a:r>
              <a:rPr b="0" sz="1150">
                <a:solidFill>
                  <a:srgbClr val="68798D"/>
                </a:solidFill>
                <a:latin typeface="Microsoft YaHei"/>
                <a:ea typeface="Microsoft YaHei"/>
              </a:rPr>
              <a:t>网络</a:t>
            </a:r>
          </a:p>
        </p:txBody>
      </p:sp>
      <p:sp>
        <p:nvSpPr>
          <p:cNvPr id="243" name="图例-Li"/>
          <p:cNvSpPr/>
          <p:nvPr/>
        </p:nvSpPr>
        <p:spPr>
          <a:xfrm>
            <a:off x="1841500" y="4902200"/>
            <a:ext cx="152400" cy="152400"/>
          </a:xfrm>
          <a:prstGeom prst="ellipse">
            <a:avLst/>
          </a:prstGeom>
          <a:solidFill>
            <a:srgbClr val="EBAE3E"/>
          </a:solidFill>
          <a:ln w="9525" cap="rnd">
            <a:solidFill>
              <a:srgbClr val="C2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图例-Li-高光"/>
          <p:cNvSpPr/>
          <p:nvPr/>
        </p:nvSpPr>
        <p:spPr>
          <a:xfrm>
            <a:off x="1875028" y="4938014"/>
            <a:ext cx="47244" cy="35052"/>
          </a:xfrm>
          <a:prstGeom prst="ellipse">
            <a:avLst/>
          </a:prstGeom>
          <a:solidFill>
            <a:srgbClr val="FFE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图例-Li-文字"/>
          <p:cNvSpPr txBox="1"/>
          <p:nvPr/>
        </p:nvSpPr>
        <p:spPr>
          <a:xfrm>
            <a:off x="1866106" y="4943386"/>
            <a:ext cx="128587" cy="814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468">
                <a:solidFill>
                  <a:srgbClr val="FFFFFF"/>
                </a:solidFill>
                <a:latin typeface="Arial"/>
              </a:rPr>
              <a:t>Li⁺</a:t>
            </a:r>
          </a:p>
        </p:txBody>
      </p:sp>
      <p:sp>
        <p:nvSpPr>
          <p:cNvPr id="246" name="图例-Li文字"/>
          <p:cNvSpPr txBox="1"/>
          <p:nvPr/>
        </p:nvSpPr>
        <p:spPr>
          <a:xfrm>
            <a:off x="2044700" y="4873148"/>
            <a:ext cx="238125" cy="2000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150">
                <a:solidFill>
                  <a:srgbClr val="68798D"/>
                </a:solidFill>
                <a:latin typeface="Arial"/>
              </a:rPr>
              <a:t>Li⁺</a:t>
            </a:r>
          </a:p>
        </p:txBody>
      </p:sp>
      <p:sp>
        <p:nvSpPr>
          <p:cNvPr id="247" name="图例-DMTFA"/>
          <p:cNvSpPr/>
          <p:nvPr/>
        </p:nvSpPr>
        <p:spPr>
          <a:xfrm>
            <a:off x="2717800" y="4908550"/>
            <a:ext cx="317500" cy="139700"/>
          </a:xfrm>
          <a:prstGeom prst="ellipse">
            <a:avLst/>
          </a:prstGeom>
          <a:solidFill>
            <a:srgbClr val="F6DCD0"/>
          </a:solidFill>
          <a:ln w="7620" cap="rnd">
            <a:solidFill>
              <a:srgbClr val="D69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图例-DMTFA文字"/>
          <p:cNvSpPr txBox="1"/>
          <p:nvPr/>
        </p:nvSpPr>
        <p:spPr>
          <a:xfrm>
            <a:off x="3105150" y="4873148"/>
            <a:ext cx="549077" cy="2000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150">
                <a:solidFill>
                  <a:srgbClr val="68798D"/>
                </a:solidFill>
                <a:latin typeface="Arial"/>
              </a:rPr>
              <a:t>DMTFA</a:t>
            </a:r>
          </a:p>
        </p:txBody>
      </p:sp>
      <p:sp>
        <p:nvSpPr>
          <p:cNvPr id="249" name="图例-TTE"/>
          <p:cNvSpPr/>
          <p:nvPr/>
        </p:nvSpPr>
        <p:spPr>
          <a:xfrm>
            <a:off x="4298950" y="4908550"/>
            <a:ext cx="285750" cy="139700"/>
          </a:xfrm>
          <a:prstGeom prst="roundRect">
            <a:avLst>
              <a:gd name="adj" fmla="val 50000"/>
            </a:avLst>
          </a:prstGeom>
          <a:solidFill>
            <a:srgbClr val="DCEFEF"/>
          </a:solidFill>
          <a:ln w="7620" cap="rnd">
            <a:solidFill>
              <a:srgbClr val="8EB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图例-TTE文字"/>
          <p:cNvSpPr txBox="1"/>
          <p:nvPr/>
        </p:nvSpPr>
        <p:spPr>
          <a:xfrm>
            <a:off x="4667250" y="4873148"/>
            <a:ext cx="307925" cy="2000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150">
                <a:solidFill>
                  <a:srgbClr val="68798D"/>
                </a:solidFill>
                <a:latin typeface="Arial"/>
              </a:rPr>
              <a:t>TTE</a:t>
            </a:r>
          </a:p>
        </p:txBody>
      </p:sp>
      <p:sp>
        <p:nvSpPr>
          <p:cNvPr id="251" name="图例-PF6"/>
          <p:cNvSpPr/>
          <p:nvPr/>
        </p:nvSpPr>
        <p:spPr>
          <a:xfrm>
            <a:off x="5657850" y="4902200"/>
            <a:ext cx="152400" cy="152400"/>
          </a:xfrm>
          <a:prstGeom prst="ellipse">
            <a:avLst/>
          </a:prstGeom>
          <a:solidFill>
            <a:srgbClr val="A69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图例-DFOB"/>
          <p:cNvSpPr/>
          <p:nvPr/>
        </p:nvSpPr>
        <p:spPr>
          <a:xfrm>
            <a:off x="5854700" y="4902200"/>
            <a:ext cx="152400" cy="152400"/>
          </a:xfrm>
          <a:prstGeom prst="ellipse">
            <a:avLst/>
          </a:prstGeom>
          <a:solidFill>
            <a:srgbClr val="62A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图例-阴离子文字"/>
          <p:cNvSpPr txBox="1"/>
          <p:nvPr/>
        </p:nvSpPr>
        <p:spPr>
          <a:xfrm>
            <a:off x="6076950" y="4873148"/>
            <a:ext cx="976312" cy="2000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150">
                <a:solidFill>
                  <a:srgbClr val="68798D"/>
                </a:solidFill>
                <a:latin typeface="Arial"/>
              </a:rPr>
              <a:t>PF₆⁻ / DFOB⁻</a:t>
            </a:r>
          </a:p>
        </p:txBody>
      </p:sp>
      <p:sp>
        <p:nvSpPr>
          <p:cNvPr id="254" name="图例-LiF"/>
          <p:cNvSpPr/>
          <p:nvPr/>
        </p:nvSpPr>
        <p:spPr>
          <a:xfrm>
            <a:off x="8045449" y="4908550"/>
            <a:ext cx="139700" cy="139700"/>
          </a:xfrm>
          <a:prstGeom prst="roundRect">
            <a:avLst>
              <a:gd name="adj" fmla="val 13636"/>
            </a:avLst>
          </a:prstGeom>
          <a:solidFill>
            <a:srgbClr val="E9B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图例-BO"/>
          <p:cNvSpPr/>
          <p:nvPr/>
        </p:nvSpPr>
        <p:spPr>
          <a:xfrm>
            <a:off x="8229599" y="4908550"/>
            <a:ext cx="139700" cy="139700"/>
          </a:xfrm>
          <a:prstGeom prst="roundRect">
            <a:avLst>
              <a:gd name="adj" fmla="val 13636"/>
            </a:avLst>
          </a:prstGeom>
          <a:solidFill>
            <a:srgbClr val="7DC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图例-界面组分文字"/>
          <p:cNvSpPr txBox="1"/>
          <p:nvPr/>
        </p:nvSpPr>
        <p:spPr>
          <a:xfrm>
            <a:off x="8445499" y="4873148"/>
            <a:ext cx="1887537" cy="2000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150">
                <a:solidFill>
                  <a:srgbClr val="68798D"/>
                </a:solidFill>
                <a:latin typeface="Arial"/>
              </a:rPr>
              <a:t>LiF / B–O </a:t>
            </a:r>
            <a:r>
              <a:rPr b="0" sz="1150">
                <a:solidFill>
                  <a:srgbClr val="68798D"/>
                </a:solidFill>
                <a:latin typeface="Microsoft YaHei"/>
                <a:ea typeface="Microsoft YaHei"/>
              </a:rPr>
              <a:t>成膜组分（预期）</a:t>
            </a:r>
          </a:p>
        </p:txBody>
      </p:sp>
      <p:sp>
        <p:nvSpPr>
          <p:cNvPr id="257" name="设计抓手-1-卡片"/>
          <p:cNvSpPr/>
          <p:nvPr/>
        </p:nvSpPr>
        <p:spPr>
          <a:xfrm>
            <a:off x="317500" y="5232400"/>
            <a:ext cx="3742266" cy="1085850"/>
          </a:xfrm>
          <a:prstGeom prst="roundRect">
            <a:avLst>
              <a:gd name="adj" fmla="val 9356"/>
            </a:avLst>
          </a:prstGeom>
          <a:solidFill>
            <a:srgbClr val="FFFFFF"/>
          </a:solidFill>
          <a:ln w="9525" cap="rnd"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设计抓手-1-强调线"/>
          <p:cNvSpPr/>
          <p:nvPr/>
        </p:nvSpPr>
        <p:spPr>
          <a:xfrm>
            <a:off x="317500" y="5346700"/>
            <a:ext cx="31750" cy="838200"/>
          </a:xfrm>
          <a:prstGeom prst="roundRect">
            <a:avLst>
              <a:gd name="adj" fmla="val 40000"/>
            </a:avLst>
          </a:prstGeom>
          <a:solidFill>
            <a:srgbClr val="148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设计抓手-1-编号"/>
          <p:cNvSpPr/>
          <p:nvPr/>
        </p:nvSpPr>
        <p:spPr>
          <a:xfrm>
            <a:off x="482600" y="5346700"/>
            <a:ext cx="266700" cy="190500"/>
          </a:xfrm>
          <a:prstGeom prst="roundRect">
            <a:avLst>
              <a:gd name="adj" fmla="val 50000"/>
            </a:avLst>
          </a:prstGeom>
          <a:solidFill>
            <a:srgbClr val="E7F5F1"/>
          </a:solidFill>
          <a:ln w="9525" cap="rnd">
            <a:solidFill>
              <a:srgbClr val="E7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设计抓手-1-编号-标签"/>
          <p:cNvSpPr txBox="1"/>
          <p:nvPr/>
        </p:nvSpPr>
        <p:spPr>
          <a:xfrm>
            <a:off x="525462" y="5361717"/>
            <a:ext cx="206375" cy="165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950">
                <a:solidFill>
                  <a:srgbClr val="148F84"/>
                </a:solidFill>
                <a:latin typeface="Arial"/>
              </a:rPr>
              <a:t>01</a:t>
            </a:r>
          </a:p>
        </p:txBody>
      </p:sp>
      <p:sp>
        <p:nvSpPr>
          <p:cNvPr id="261" name="设计抓手-1-标题"/>
          <p:cNvSpPr txBox="1"/>
          <p:nvPr/>
        </p:nvSpPr>
        <p:spPr>
          <a:xfrm>
            <a:off x="838200" y="5323046"/>
            <a:ext cx="1976437" cy="252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450">
                <a:solidFill>
                  <a:srgbClr val="148F84"/>
                </a:solidFill>
                <a:latin typeface="Arial"/>
              </a:rPr>
              <a:t>MBA</a:t>
            </a:r>
            <a:r>
              <a:rPr b="1" sz="1450">
                <a:solidFill>
                  <a:srgbClr val="148F84"/>
                </a:solidFill>
                <a:latin typeface="Microsoft YaHei"/>
                <a:ea typeface="Microsoft YaHei"/>
              </a:rPr>
              <a:t>：交联锁液与相容</a:t>
            </a:r>
          </a:p>
        </p:txBody>
      </p:sp>
      <p:sp>
        <p:nvSpPr>
          <p:cNvPr id="262" name="设计抓手-1-化学依据"/>
          <p:cNvSpPr txBox="1"/>
          <p:nvPr/>
        </p:nvSpPr>
        <p:spPr>
          <a:xfrm>
            <a:off x="469900" y="5673090"/>
            <a:ext cx="2944812" cy="2087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68798D"/>
                </a:solidFill>
                <a:latin typeface="Arial"/>
              </a:rPr>
              <a:t>CH₂=CH–CO–NH–CH₂–NH–CO–CH=CH₂</a:t>
            </a:r>
          </a:p>
        </p:txBody>
      </p:sp>
      <p:sp>
        <p:nvSpPr>
          <p:cNvPr id="263" name="设计抓手-1-作用目标"/>
          <p:cNvSpPr txBox="1"/>
          <p:nvPr/>
        </p:nvSpPr>
        <p:spPr>
          <a:xfrm>
            <a:off x="469900" y="5971381"/>
            <a:ext cx="2433637" cy="2174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250">
                <a:solidFill>
                  <a:srgbClr val="172B46"/>
                </a:solidFill>
                <a:latin typeface="Microsoft YaHei"/>
                <a:ea typeface="Microsoft YaHei"/>
              </a:rPr>
              <a:t>双键交联；</a:t>
            </a:r>
            <a:r>
              <a:rPr b="1" sz="1250">
                <a:solidFill>
                  <a:srgbClr val="172B46"/>
                </a:solidFill>
                <a:latin typeface="Arial"/>
              </a:rPr>
              <a:t>N–H···O=C </a:t>
            </a:r>
            <a:r>
              <a:rPr b="1" sz="1250">
                <a:solidFill>
                  <a:srgbClr val="172B46"/>
                </a:solidFill>
                <a:latin typeface="Microsoft YaHei"/>
                <a:ea typeface="Microsoft YaHei"/>
              </a:rPr>
              <a:t>辅助相容</a:t>
            </a:r>
          </a:p>
        </p:txBody>
      </p:sp>
      <p:sp>
        <p:nvSpPr>
          <p:cNvPr id="264" name="设计抓手-2-卡片"/>
          <p:cNvSpPr/>
          <p:nvPr/>
        </p:nvSpPr>
        <p:spPr>
          <a:xfrm>
            <a:off x="4224866" y="5232400"/>
            <a:ext cx="3742266" cy="1085850"/>
          </a:xfrm>
          <a:prstGeom prst="roundRect">
            <a:avLst>
              <a:gd name="adj" fmla="val 9356"/>
            </a:avLst>
          </a:prstGeom>
          <a:solidFill>
            <a:srgbClr val="FFFFFF"/>
          </a:solidFill>
          <a:ln w="9525" cap="rnd"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设计抓手-2-强调线"/>
          <p:cNvSpPr/>
          <p:nvPr/>
        </p:nvSpPr>
        <p:spPr>
          <a:xfrm>
            <a:off x="4224866" y="5346700"/>
            <a:ext cx="31750" cy="838200"/>
          </a:xfrm>
          <a:prstGeom prst="roundRect">
            <a:avLst>
              <a:gd name="adj" fmla="val 40000"/>
            </a:avLst>
          </a:prstGeom>
          <a:solidFill>
            <a:srgbClr val="D67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设计抓手-2-编号"/>
          <p:cNvSpPr/>
          <p:nvPr/>
        </p:nvSpPr>
        <p:spPr>
          <a:xfrm>
            <a:off x="4389966" y="5346700"/>
            <a:ext cx="266700" cy="190500"/>
          </a:xfrm>
          <a:prstGeom prst="roundRect">
            <a:avLst>
              <a:gd name="adj" fmla="val 50000"/>
            </a:avLst>
          </a:prstGeom>
          <a:solidFill>
            <a:srgbClr val="FCF0EB"/>
          </a:solidFill>
          <a:ln w="9525" cap="rnd">
            <a:solidFill>
              <a:srgbClr val="FC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设计抓手-2-编号-标签"/>
          <p:cNvSpPr txBox="1"/>
          <p:nvPr/>
        </p:nvSpPr>
        <p:spPr>
          <a:xfrm>
            <a:off x="4432829" y="5361717"/>
            <a:ext cx="206375" cy="165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950">
                <a:solidFill>
                  <a:srgbClr val="D67661"/>
                </a:solidFill>
                <a:latin typeface="Arial"/>
              </a:rPr>
              <a:t>02</a:t>
            </a:r>
          </a:p>
        </p:txBody>
      </p:sp>
      <p:sp>
        <p:nvSpPr>
          <p:cNvPr id="268" name="设计抓手-2-标题"/>
          <p:cNvSpPr txBox="1"/>
          <p:nvPr/>
        </p:nvSpPr>
        <p:spPr>
          <a:xfrm>
            <a:off x="4745566" y="5323046"/>
            <a:ext cx="2314327" cy="252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450">
                <a:solidFill>
                  <a:srgbClr val="D67661"/>
                </a:solidFill>
                <a:latin typeface="Arial"/>
              </a:rPr>
              <a:t>DMTFA/TTE</a:t>
            </a:r>
            <a:r>
              <a:rPr b="1" sz="1450">
                <a:solidFill>
                  <a:srgbClr val="D67661"/>
                </a:solidFill>
                <a:latin typeface="Microsoft YaHei"/>
                <a:ea typeface="Microsoft YaHei"/>
              </a:rPr>
              <a:t>：溶剂化调控</a:t>
            </a:r>
          </a:p>
        </p:txBody>
      </p:sp>
      <p:sp>
        <p:nvSpPr>
          <p:cNvPr id="269" name="设计抓手-2-化学依据"/>
          <p:cNvSpPr txBox="1"/>
          <p:nvPr/>
        </p:nvSpPr>
        <p:spPr>
          <a:xfrm>
            <a:off x="4377266" y="5673090"/>
            <a:ext cx="2303189" cy="2087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68798D"/>
                </a:solidFill>
                <a:latin typeface="Arial"/>
              </a:rPr>
              <a:t>DMTFA (CF₃CON(CH₃)₂) + TTE</a:t>
            </a:r>
          </a:p>
        </p:txBody>
      </p:sp>
      <p:sp>
        <p:nvSpPr>
          <p:cNvPr id="270" name="设计抓手-2-作用目标"/>
          <p:cNvSpPr txBox="1"/>
          <p:nvPr/>
        </p:nvSpPr>
        <p:spPr>
          <a:xfrm>
            <a:off x="4377266" y="5971381"/>
            <a:ext cx="2452687" cy="2174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250">
                <a:solidFill>
                  <a:srgbClr val="172B46"/>
                </a:solidFill>
                <a:latin typeface="Microsoft YaHei"/>
                <a:ea typeface="Microsoft YaHei"/>
              </a:rPr>
              <a:t>调节配位平衡，促进</a:t>
            </a:r>
            <a:r>
              <a:rPr b="1" sz="1250">
                <a:solidFill>
                  <a:srgbClr val="172B46"/>
                </a:solidFill>
                <a:latin typeface="Arial"/>
              </a:rPr>
              <a:t> Li⁺ </a:t>
            </a:r>
            <a:r>
              <a:rPr b="1" sz="1250">
                <a:solidFill>
                  <a:srgbClr val="172B46"/>
                </a:solidFill>
                <a:latin typeface="Microsoft YaHei"/>
                <a:ea typeface="Microsoft YaHei"/>
              </a:rPr>
              <a:t>动态交换</a:t>
            </a:r>
          </a:p>
        </p:txBody>
      </p:sp>
      <p:sp>
        <p:nvSpPr>
          <p:cNvPr id="271" name="设计抓手-3-卡片"/>
          <p:cNvSpPr/>
          <p:nvPr/>
        </p:nvSpPr>
        <p:spPr>
          <a:xfrm>
            <a:off x="8132233" y="5232400"/>
            <a:ext cx="3742266" cy="1085850"/>
          </a:xfrm>
          <a:prstGeom prst="roundRect">
            <a:avLst>
              <a:gd name="adj" fmla="val 9356"/>
            </a:avLst>
          </a:prstGeom>
          <a:solidFill>
            <a:srgbClr val="FFFFFF"/>
          </a:solidFill>
          <a:ln w="9525" cap="rnd"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设计抓手-3-强调线"/>
          <p:cNvSpPr/>
          <p:nvPr/>
        </p:nvSpPr>
        <p:spPr>
          <a:xfrm>
            <a:off x="8132233" y="5346700"/>
            <a:ext cx="31750" cy="838200"/>
          </a:xfrm>
          <a:prstGeom prst="roundRect">
            <a:avLst>
              <a:gd name="adj" fmla="val 40000"/>
            </a:avLst>
          </a:prstGeom>
          <a:solidFill>
            <a:srgbClr val="49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设计抓手-3-编号"/>
          <p:cNvSpPr/>
          <p:nvPr/>
        </p:nvSpPr>
        <p:spPr>
          <a:xfrm>
            <a:off x="8297333" y="5346700"/>
            <a:ext cx="266700" cy="190500"/>
          </a:xfrm>
          <a:prstGeom prst="roundRect">
            <a:avLst>
              <a:gd name="adj" fmla="val 50000"/>
            </a:avLst>
          </a:prstGeom>
          <a:solidFill>
            <a:srgbClr val="EFF5FB"/>
          </a:solidFill>
          <a:ln w="9525" cap="rnd">
            <a:solidFill>
              <a:srgbClr val="EF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设计抓手-3-编号-标签"/>
          <p:cNvSpPr txBox="1"/>
          <p:nvPr/>
        </p:nvSpPr>
        <p:spPr>
          <a:xfrm>
            <a:off x="8340195" y="5361717"/>
            <a:ext cx="206375" cy="165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950">
                <a:solidFill>
                  <a:srgbClr val="497FB5"/>
                </a:solidFill>
                <a:latin typeface="Arial"/>
              </a:rPr>
              <a:t>03</a:t>
            </a:r>
          </a:p>
        </p:txBody>
      </p:sp>
      <p:sp>
        <p:nvSpPr>
          <p:cNvPr id="275" name="设计抓手-3-标题"/>
          <p:cNvSpPr txBox="1"/>
          <p:nvPr/>
        </p:nvSpPr>
        <p:spPr>
          <a:xfrm>
            <a:off x="8652933" y="5323046"/>
            <a:ext cx="2266950" cy="252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450">
                <a:solidFill>
                  <a:srgbClr val="497FB5"/>
                </a:solidFill>
                <a:latin typeface="Arial"/>
              </a:rPr>
              <a:t>LiDFOB</a:t>
            </a:r>
            <a:r>
              <a:rPr b="1" sz="1450">
                <a:solidFill>
                  <a:srgbClr val="497FB5"/>
                </a:solidFill>
                <a:latin typeface="Microsoft YaHei"/>
                <a:ea typeface="Microsoft YaHei"/>
              </a:rPr>
              <a:t>：双界面成膜调控</a:t>
            </a:r>
          </a:p>
        </p:txBody>
      </p:sp>
      <p:sp>
        <p:nvSpPr>
          <p:cNvPr id="276" name="设计抓手-3-化学依据"/>
          <p:cNvSpPr txBox="1"/>
          <p:nvPr/>
        </p:nvSpPr>
        <p:spPr>
          <a:xfrm>
            <a:off x="8284633" y="5673090"/>
            <a:ext cx="2019300" cy="2087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68798D"/>
                </a:solidFill>
                <a:latin typeface="Microsoft YaHei"/>
                <a:ea typeface="Microsoft YaHei"/>
              </a:rPr>
              <a:t>阴离子参与溶剂化与界面反应</a:t>
            </a:r>
          </a:p>
        </p:txBody>
      </p:sp>
      <p:sp>
        <p:nvSpPr>
          <p:cNvPr id="277" name="设计抓手-3-作用目标"/>
          <p:cNvSpPr txBox="1"/>
          <p:nvPr/>
        </p:nvSpPr>
        <p:spPr>
          <a:xfrm>
            <a:off x="8284633" y="5971381"/>
            <a:ext cx="2659062" cy="2174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250">
                <a:solidFill>
                  <a:srgbClr val="172B46"/>
                </a:solidFill>
                <a:latin typeface="Microsoft YaHei"/>
                <a:ea typeface="Microsoft YaHei"/>
              </a:rPr>
              <a:t>预期构筑</a:t>
            </a:r>
            <a:r>
              <a:rPr b="1" sz="1250">
                <a:solidFill>
                  <a:srgbClr val="172B46"/>
                </a:solidFill>
                <a:latin typeface="Arial"/>
              </a:rPr>
              <a:t> LiF / B–O </a:t>
            </a:r>
            <a:r>
              <a:rPr b="1" sz="1250">
                <a:solidFill>
                  <a:srgbClr val="172B46"/>
                </a:solidFill>
                <a:latin typeface="Microsoft YaHei"/>
                <a:ea typeface="Microsoft YaHei"/>
              </a:rPr>
              <a:t>富集</a:t>
            </a:r>
            <a:r>
              <a:rPr b="1" sz="1250">
                <a:solidFill>
                  <a:srgbClr val="172B46"/>
                </a:solidFill>
                <a:latin typeface="Arial"/>
              </a:rPr>
              <a:t> SEI / CEI</a:t>
            </a:r>
          </a:p>
        </p:txBody>
      </p:sp>
      <p:sp>
        <p:nvSpPr>
          <p:cNvPr id="278" name="科学边界说明"/>
          <p:cNvSpPr txBox="1"/>
          <p:nvPr/>
        </p:nvSpPr>
        <p:spPr>
          <a:xfrm>
            <a:off x="311150" y="6486366"/>
            <a:ext cx="6292849" cy="1826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68798D"/>
                </a:solidFill>
                <a:latin typeface="Microsoft YaHei"/>
                <a:ea typeface="Microsoft YaHei"/>
              </a:rPr>
              <a:t>注：图示为设计机理假设，非实测配位数、能垒或界面组成；需结合光谱</a:t>
            </a:r>
            <a:r>
              <a:rPr b="0" sz="1050">
                <a:solidFill>
                  <a:srgbClr val="68798D"/>
                </a:solidFill>
                <a:latin typeface="Arial"/>
              </a:rPr>
              <a:t>/</a:t>
            </a:r>
            <a:r>
              <a:rPr b="0" sz="1050">
                <a:solidFill>
                  <a:srgbClr val="68798D"/>
                </a:solidFill>
                <a:latin typeface="Microsoft YaHei"/>
                <a:ea typeface="Microsoft YaHei"/>
              </a:rPr>
              <a:t>模拟、传输测试及</a:t>
            </a:r>
            <a:r>
              <a:rPr b="0" sz="1050">
                <a:solidFill>
                  <a:srgbClr val="68798D"/>
                </a:solidFill>
                <a:latin typeface="Arial"/>
              </a:rPr>
              <a:t> XPS </a:t>
            </a:r>
            <a:r>
              <a:rPr b="0" sz="1050">
                <a:solidFill>
                  <a:srgbClr val="68798D"/>
                </a:solidFill>
                <a:latin typeface="Microsoft YaHei"/>
                <a:ea typeface="Microsoft YaHei"/>
              </a:rPr>
              <a:t>等验证。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体系设计思路：网络—溶剂化—界面协同调控</dc:title>
  <dc:subject>MBA / LiPF6–LiDFOB / DMTFA:TTE — proposed GPE design</dc:subject>
  <dc:creator>Original schematic for the research project</dc:creator>
  <cp:keywords>MBA, GPE, DMTFA, TTE, LiDFOB, design hypothesis, editable vector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